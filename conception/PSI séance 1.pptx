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7"/>
  </p:notesMasterIdLst>
  <p:sldIdLst>
    <p:sldId id="324" r:id="rId2"/>
    <p:sldId id="347" r:id="rId3"/>
    <p:sldId id="348" r:id="rId4"/>
    <p:sldId id="454" r:id="rId5"/>
    <p:sldId id="455" r:id="rId6"/>
    <p:sldId id="456" r:id="rId7"/>
    <p:sldId id="457" r:id="rId8"/>
    <p:sldId id="349" r:id="rId9"/>
    <p:sldId id="350" r:id="rId10"/>
    <p:sldId id="351" r:id="rId11"/>
    <p:sldId id="352" r:id="rId12"/>
    <p:sldId id="353" r:id="rId13"/>
    <p:sldId id="354" r:id="rId14"/>
    <p:sldId id="355" r:id="rId15"/>
    <p:sldId id="356" r:id="rId16"/>
    <p:sldId id="357" r:id="rId17"/>
    <p:sldId id="358" r:id="rId18"/>
    <p:sldId id="359" r:id="rId19"/>
    <p:sldId id="360" r:id="rId20"/>
    <p:sldId id="361" r:id="rId21"/>
    <p:sldId id="362" r:id="rId22"/>
    <p:sldId id="363" r:id="rId23"/>
    <p:sldId id="364" r:id="rId24"/>
    <p:sldId id="365" r:id="rId25"/>
    <p:sldId id="366" r:id="rId26"/>
    <p:sldId id="367" r:id="rId27"/>
    <p:sldId id="368" r:id="rId28"/>
    <p:sldId id="369" r:id="rId29"/>
    <p:sldId id="370" r:id="rId30"/>
    <p:sldId id="371" r:id="rId31"/>
    <p:sldId id="372" r:id="rId32"/>
    <p:sldId id="373" r:id="rId33"/>
    <p:sldId id="374" r:id="rId34"/>
    <p:sldId id="375" r:id="rId35"/>
    <p:sldId id="376" r:id="rId36"/>
    <p:sldId id="377" r:id="rId37"/>
    <p:sldId id="378" r:id="rId38"/>
    <p:sldId id="379" r:id="rId39"/>
    <p:sldId id="380" r:id="rId40"/>
    <p:sldId id="381" r:id="rId41"/>
    <p:sldId id="382" r:id="rId42"/>
    <p:sldId id="383" r:id="rId43"/>
    <p:sldId id="384" r:id="rId44"/>
    <p:sldId id="385" r:id="rId45"/>
    <p:sldId id="386" r:id="rId46"/>
    <p:sldId id="387" r:id="rId47"/>
    <p:sldId id="388" r:id="rId48"/>
    <p:sldId id="389" r:id="rId49"/>
    <p:sldId id="390" r:id="rId50"/>
    <p:sldId id="391" r:id="rId51"/>
    <p:sldId id="392" r:id="rId52"/>
    <p:sldId id="393" r:id="rId53"/>
    <p:sldId id="394" r:id="rId54"/>
    <p:sldId id="395" r:id="rId55"/>
    <p:sldId id="396" r:id="rId56"/>
    <p:sldId id="397" r:id="rId57"/>
    <p:sldId id="398" r:id="rId58"/>
    <p:sldId id="399" r:id="rId59"/>
    <p:sldId id="438" r:id="rId60"/>
    <p:sldId id="439" r:id="rId61"/>
    <p:sldId id="442" r:id="rId62"/>
    <p:sldId id="440" r:id="rId63"/>
    <p:sldId id="441" r:id="rId64"/>
    <p:sldId id="443" r:id="rId65"/>
    <p:sldId id="444" r:id="rId66"/>
    <p:sldId id="445" r:id="rId67"/>
    <p:sldId id="446" r:id="rId68"/>
    <p:sldId id="401" r:id="rId69"/>
    <p:sldId id="447" r:id="rId70"/>
    <p:sldId id="448" r:id="rId71"/>
    <p:sldId id="449" r:id="rId72"/>
    <p:sldId id="450" r:id="rId73"/>
    <p:sldId id="451" r:id="rId74"/>
    <p:sldId id="452" r:id="rId75"/>
    <p:sldId id="453"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Style léger 3 - Accentuation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70484" autoAdjust="0"/>
  </p:normalViewPr>
  <p:slideViewPr>
    <p:cSldViewPr snapToGrid="0">
      <p:cViewPr varScale="1">
        <p:scale>
          <a:sx n="80" d="100"/>
          <a:sy n="80" d="100"/>
        </p:scale>
        <p:origin x="196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6129BA-965D-394C-AA2C-4D8E72726BF6}" type="datetimeFigureOut">
              <a:rPr lang="fr-FR" smtClean="0"/>
              <a:t>12/12/2025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3E1B75-4A72-7C43-A05C-64CF18E2A08C}" type="slidenum">
              <a:rPr lang="fr-FR" smtClean="0"/>
              <a:t>‹N°›</a:t>
            </a:fld>
            <a:endParaRPr lang="fr-FR"/>
          </a:p>
        </p:txBody>
      </p:sp>
    </p:spTree>
    <p:extLst>
      <p:ext uri="{BB962C8B-B14F-4D97-AF65-F5344CB8AC3E}">
        <p14:creationId xmlns:p14="http://schemas.microsoft.com/office/powerpoint/2010/main" val="3651901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1</a:t>
            </a:fld>
            <a:endParaRPr lang="fr-FR"/>
          </a:p>
        </p:txBody>
      </p:sp>
    </p:spTree>
    <p:extLst>
      <p:ext uri="{BB962C8B-B14F-4D97-AF65-F5344CB8AC3E}">
        <p14:creationId xmlns:p14="http://schemas.microsoft.com/office/powerpoint/2010/main" val="538890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2</a:t>
            </a:fld>
            <a:endParaRPr lang="fr-FR"/>
          </a:p>
        </p:txBody>
      </p:sp>
    </p:spTree>
    <p:extLst>
      <p:ext uri="{BB962C8B-B14F-4D97-AF65-F5344CB8AC3E}">
        <p14:creationId xmlns:p14="http://schemas.microsoft.com/office/powerpoint/2010/main" val="2710308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3</a:t>
            </a:fld>
            <a:endParaRPr lang="fr-FR"/>
          </a:p>
        </p:txBody>
      </p:sp>
    </p:spTree>
    <p:extLst>
      <p:ext uri="{BB962C8B-B14F-4D97-AF65-F5344CB8AC3E}">
        <p14:creationId xmlns:p14="http://schemas.microsoft.com/office/powerpoint/2010/main" val="2368186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MA" i="1" dirty="0"/>
              <a:t>Le cycle en cascade repose sur une approche séquentielle et linéaire du projet. Cela signifie que le projet est découpé en plusieurs phases successives — analyse, conception, développement, tests et livraison — et qu’il est impératif de terminer complètement une phase avant de passer à la suivante. Cette logique impose une documentation très détaillée dès le début du projet.</a:t>
            </a:r>
            <a:endParaRPr lang="fr-MA" dirty="0"/>
          </a:p>
          <a:p>
            <a:r>
              <a:rPr lang="fr-MA" i="1" dirty="0"/>
              <a:t>Parmi les principaux avantages de cette méthodologie, on peut citer une structure claire et facilement compréhensible. Le projet est prévisible, bien planifié, et donc relativement simple à gérer, notamment pour des équipes débutantes. La documentation produite est complète, ce qui facilite le suivi, la maintenance et la conformité aux normes.</a:t>
            </a:r>
            <a:endParaRPr lang="fr-MA" dirty="0"/>
          </a:p>
          <a:p>
            <a:r>
              <a:rPr lang="fr-MA" i="1" dirty="0"/>
              <a:t>Cependant, le cycle en cascade présente aussi plusieurs limites. Il est peu flexible face aux changements, ce qui pose problème lorsque les besoins évoluent en cours de projet. Il existe également un risque de décalage entre le produit final et les besoins réels des utilisateurs, car les tests interviennent tardivement dans le cycle.</a:t>
            </a:r>
            <a:endParaRPr lang="fr-MA" dirty="0"/>
          </a:p>
          <a:p>
            <a:r>
              <a:rPr lang="fr-MA" i="1" dirty="0"/>
              <a:t>Cette méthodologie est donc particulièrement adaptée aux projets dont les exigences sont stables et clairement définies dès le départ, aux environnements fortement réglementés, ainsi qu’aux équipes ayant peu d’expérience ou travaillant sur des projets à faible incertitude.</a:t>
            </a:r>
            <a:r>
              <a:rPr lang="fr-MA" dirty="0"/>
              <a:t> »</a:t>
            </a:r>
          </a:p>
          <a:p>
            <a:endParaRPr lang="fr-FR" dirty="0"/>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4</a:t>
            </a:fld>
            <a:endParaRPr lang="fr-FR"/>
          </a:p>
        </p:txBody>
      </p:sp>
    </p:spTree>
    <p:extLst>
      <p:ext uri="{BB962C8B-B14F-4D97-AF65-F5344CB8AC3E}">
        <p14:creationId xmlns:p14="http://schemas.microsoft.com/office/powerpoint/2010/main" val="1726717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MA" i="1" dirty="0"/>
              <a:t>Le cycle en V conserve une organisation séquentielle du projet, mais il introduit une logique essentielle : à chaque phase de développement correspond une phase de test. L’objectif principal est d’intégrer la validation et la vérification tout au long du cycle de vie du projet, et non uniquement à la fin.</a:t>
            </a:r>
            <a:endParaRPr lang="fr-MA" dirty="0"/>
          </a:p>
          <a:p>
            <a:r>
              <a:rPr lang="fr-MA" i="1" dirty="0"/>
              <a:t>Concrètement, la partie descendante du V correspond aux phases de définition et de construction du système : l’analyse des besoins, la conception, puis le codage. En parallèle, la partie remontante est dédiée aux tests : les tests unitaires valident le code, les tests d’intégration vérifient l’interaction entre les composants, et les tests de validation s’assurent que le produit final répond bien aux exigences initiales.</a:t>
            </a:r>
            <a:endParaRPr lang="fr-MA" dirty="0"/>
          </a:p>
          <a:p>
            <a:r>
              <a:rPr lang="fr-MA" i="1" dirty="0"/>
              <a:t>Parmi les avantages majeurs du cycle en V, on peut citer la détection précoce des erreurs, grâce à la planification des tests dès les premières phases du projet. Il permet également une excellente traçabilité entre les exigences formulées au départ et les tests réalisés, ce qui renforce la qualité globale du produit.</a:t>
            </a:r>
            <a:endParaRPr lang="fr-MA" dirty="0"/>
          </a:p>
          <a:p>
            <a:r>
              <a:rPr lang="fr-MA" i="1" dirty="0"/>
              <a:t>Cette méthodologie est particulièrement adaptée aux projets complexes, critiques ou réglementés, dans lesquels la qualité, la fiabilité et la conformité aux exigences sont des priorités absolues.</a:t>
            </a:r>
            <a:endParaRPr lang="fr-MA" dirty="0"/>
          </a:p>
          <a:p>
            <a:endParaRPr lang="fr-FR" dirty="0"/>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5</a:t>
            </a:fld>
            <a:endParaRPr lang="fr-FR"/>
          </a:p>
        </p:txBody>
      </p:sp>
    </p:spTree>
    <p:extLst>
      <p:ext uri="{BB962C8B-B14F-4D97-AF65-F5344CB8AC3E}">
        <p14:creationId xmlns:p14="http://schemas.microsoft.com/office/powerpoint/2010/main" val="629920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MA" i="1" dirty="0"/>
              <a:t>La méthode MERISE repose sur un principe fondamental : la séparation claire entre les données, les traitements et l’organisation. Pour cela, elle s’appuie sur plusieurs niveaux d’abstraction, permettant de passer progressivement d’une vision métier à une implémentation technique.</a:t>
            </a:r>
            <a:endParaRPr lang="fr-MA" dirty="0"/>
          </a:p>
          <a:p>
            <a:r>
              <a:rPr lang="fr-MA" i="1" dirty="0"/>
              <a:t>Le premier niveau est le niveau conceptuel. Il permet de représenter les besoins de manière indépendante de toute contrainte technique, à travers notamment le modèle conceptuel de données, le MCD, et le modèle conceptuel des traitements, le MCT.</a:t>
            </a:r>
            <a:endParaRPr lang="fr-MA" dirty="0"/>
          </a:p>
          <a:p>
            <a:r>
              <a:rPr lang="fr-MA" i="1" dirty="0"/>
              <a:t>Le deuxième niveau est le niveau logique ou organisationnel. À ce stade, on commence à tenir compte des choix organisationnels et des règles de gestion. On utilise alors le modèle logique de données, le MLD, ainsi que le modèle organisationnel des traitements, le MOT.</a:t>
            </a:r>
            <a:endParaRPr lang="fr-MA" dirty="0"/>
          </a:p>
          <a:p>
            <a:r>
              <a:rPr lang="fr-MA" i="1" dirty="0"/>
              <a:t>Enfin, le niveau physique correspond à la traduction technique du système. Le modèle physique de données, le MPD, décrit concrètement l’implémentation dans une base de données ou un environnement informatique donné.</a:t>
            </a:r>
            <a:endParaRPr lang="fr-MA" dirty="0"/>
          </a:p>
          <a:p>
            <a:endParaRPr lang="fr-FR" dirty="0"/>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6</a:t>
            </a:fld>
            <a:endParaRPr lang="fr-FR"/>
          </a:p>
        </p:txBody>
      </p:sp>
    </p:spTree>
    <p:extLst>
      <p:ext uri="{BB962C8B-B14F-4D97-AF65-F5344CB8AC3E}">
        <p14:creationId xmlns:p14="http://schemas.microsoft.com/office/powerpoint/2010/main" val="1739003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MA" i="1" dirty="0"/>
              <a:t>« Après les méthodologies traditionnelles, nous passons maintenant aux méthodologies agiles, et plus précisément à la méthode Scrum, qui est aujourd’hui l’un des cadres agiles les plus utilisés dans la gestion de projets informatiques.</a:t>
            </a:r>
            <a:endParaRPr lang="fr-MA" dirty="0"/>
          </a:p>
          <a:p>
            <a:r>
              <a:rPr lang="fr-MA" i="1" dirty="0"/>
              <a:t>Scrum repose sur une logique itérative et incrémentale. Le projet est découpé en cycles courts appelés sprints, généralement de deux à quatre semaines, au cours desquels l’équipe produit une version fonctionnelle du produit.</a:t>
            </a:r>
            <a:endParaRPr lang="fr-MA" dirty="0"/>
          </a:p>
          <a:p>
            <a:r>
              <a:rPr lang="fr-MA" i="1" dirty="0"/>
              <a:t>Scrum définit trois rôles essentiels. Le Product </a:t>
            </a:r>
            <a:r>
              <a:rPr lang="fr-MA" i="1" dirty="0" err="1"/>
              <a:t>Owner</a:t>
            </a:r>
            <a:r>
              <a:rPr lang="fr-MA" i="1" dirty="0"/>
              <a:t> est responsable de la vision du produit : il identifie et priorise les fonctionnalités à développer en fonction de la valeur métier. Le Scrum Master, quant à lui, veille au bon déroulement du processus Scrum et facilite le travail de l’équipe en supprimant les obstacles. Enfin, l’équipe de développement est chargée de concevoir, développer et tester le produit.</a:t>
            </a:r>
            <a:endParaRPr lang="fr-MA" dirty="0"/>
          </a:p>
          <a:p>
            <a:r>
              <a:rPr lang="fr-MA" i="1" dirty="0"/>
              <a:t>Le fonctionnement de Scrum s’appuie sur plusieurs cérémonies. Le Sprint Planning marque le début du sprint et permet de planifier le travail à réaliser. Le Daily Scrum est une réunion courte et quotidienne destinée à synchroniser l’équipe. À la fin du sprint, le Sprint </a:t>
            </a:r>
            <a:r>
              <a:rPr lang="fr-MA" i="1" dirty="0" err="1"/>
              <a:t>Review</a:t>
            </a:r>
            <a:r>
              <a:rPr lang="fr-MA" i="1" dirty="0"/>
              <a:t> permet de présenter le produit réalisé, tandis que la Sprint </a:t>
            </a:r>
            <a:r>
              <a:rPr lang="fr-MA" i="1" dirty="0" err="1"/>
              <a:t>Retrospective</a:t>
            </a:r>
            <a:r>
              <a:rPr lang="fr-MA" i="1" dirty="0"/>
              <a:t> est consacrée à l’amélioration continue du processus de travail.</a:t>
            </a:r>
            <a:endParaRPr lang="fr-MA" dirty="0"/>
          </a:p>
          <a:p>
            <a:r>
              <a:rPr lang="fr-MA" i="1" dirty="0"/>
              <a:t>Enfin, Scrum utilise des artefacts clés. Le Product </a:t>
            </a:r>
            <a:r>
              <a:rPr lang="fr-MA" i="1" dirty="0" err="1"/>
              <a:t>Backlog</a:t>
            </a:r>
            <a:r>
              <a:rPr lang="fr-MA" i="1" dirty="0"/>
              <a:t> est la liste priorisée des fonctionnalités du produit. Le Sprint </a:t>
            </a:r>
            <a:r>
              <a:rPr lang="fr-MA" i="1" dirty="0" err="1"/>
              <a:t>Backlog</a:t>
            </a:r>
            <a:r>
              <a:rPr lang="fr-MA" i="1" dirty="0"/>
              <a:t> regroupe les tâches sélectionnées pour le sprint en cours. L’</a:t>
            </a:r>
            <a:r>
              <a:rPr lang="fr-MA" i="1" dirty="0" err="1"/>
              <a:t>Increment</a:t>
            </a:r>
            <a:r>
              <a:rPr lang="fr-MA" i="1" dirty="0"/>
              <a:t> correspond à une version du produit potentiellement livrable à la fin de chaque sprint.</a:t>
            </a:r>
            <a:r>
              <a:rPr lang="fr-MA" dirty="0"/>
              <a:t> »</a:t>
            </a:r>
          </a:p>
          <a:p>
            <a:endParaRPr lang="fr-FR" dirty="0"/>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7</a:t>
            </a:fld>
            <a:endParaRPr lang="fr-FR"/>
          </a:p>
        </p:txBody>
      </p:sp>
    </p:spTree>
    <p:extLst>
      <p:ext uri="{BB962C8B-B14F-4D97-AF65-F5344CB8AC3E}">
        <p14:creationId xmlns:p14="http://schemas.microsoft.com/office/powerpoint/2010/main" val="3721758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8</a:t>
            </a:fld>
            <a:endParaRPr lang="fr-FR"/>
          </a:p>
        </p:txBody>
      </p:sp>
    </p:spTree>
    <p:extLst>
      <p:ext uri="{BB962C8B-B14F-4D97-AF65-F5344CB8AC3E}">
        <p14:creationId xmlns:p14="http://schemas.microsoft.com/office/powerpoint/2010/main" val="2636360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9</a:t>
            </a:fld>
            <a:endParaRPr lang="fr-FR"/>
          </a:p>
        </p:txBody>
      </p:sp>
    </p:spTree>
    <p:extLst>
      <p:ext uri="{BB962C8B-B14F-4D97-AF65-F5344CB8AC3E}">
        <p14:creationId xmlns:p14="http://schemas.microsoft.com/office/powerpoint/2010/main" val="8533375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10</a:t>
            </a:fld>
            <a:endParaRPr lang="fr-FR"/>
          </a:p>
        </p:txBody>
      </p:sp>
    </p:spTree>
    <p:extLst>
      <p:ext uri="{BB962C8B-B14F-4D97-AF65-F5344CB8AC3E}">
        <p14:creationId xmlns:p14="http://schemas.microsoft.com/office/powerpoint/2010/main" val="17412960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11</a:t>
            </a:fld>
            <a:endParaRPr lang="fr-FR"/>
          </a:p>
        </p:txBody>
      </p:sp>
    </p:spTree>
    <p:extLst>
      <p:ext uri="{BB962C8B-B14F-4D97-AF65-F5344CB8AC3E}">
        <p14:creationId xmlns:p14="http://schemas.microsoft.com/office/powerpoint/2010/main" val="4282702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12</a:t>
            </a:fld>
            <a:endParaRPr lang="fr-FR"/>
          </a:p>
        </p:txBody>
      </p:sp>
    </p:spTree>
    <p:extLst>
      <p:ext uri="{BB962C8B-B14F-4D97-AF65-F5344CB8AC3E}">
        <p14:creationId xmlns:p14="http://schemas.microsoft.com/office/powerpoint/2010/main" val="1693071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13</a:t>
            </a:fld>
            <a:endParaRPr lang="fr-FR"/>
          </a:p>
        </p:txBody>
      </p:sp>
    </p:spTree>
    <p:extLst>
      <p:ext uri="{BB962C8B-B14F-4D97-AF65-F5344CB8AC3E}">
        <p14:creationId xmlns:p14="http://schemas.microsoft.com/office/powerpoint/2010/main" val="3171260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14</a:t>
            </a:fld>
            <a:endParaRPr lang="fr-FR"/>
          </a:p>
        </p:txBody>
      </p:sp>
    </p:spTree>
    <p:extLst>
      <p:ext uri="{BB962C8B-B14F-4D97-AF65-F5344CB8AC3E}">
        <p14:creationId xmlns:p14="http://schemas.microsoft.com/office/powerpoint/2010/main" val="420300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15</a:t>
            </a:fld>
            <a:endParaRPr lang="fr-FR"/>
          </a:p>
        </p:txBody>
      </p:sp>
    </p:spTree>
    <p:extLst>
      <p:ext uri="{BB962C8B-B14F-4D97-AF65-F5344CB8AC3E}">
        <p14:creationId xmlns:p14="http://schemas.microsoft.com/office/powerpoint/2010/main" val="132593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17</a:t>
            </a:fld>
            <a:endParaRPr lang="fr-FR"/>
          </a:p>
        </p:txBody>
      </p:sp>
    </p:spTree>
    <p:extLst>
      <p:ext uri="{BB962C8B-B14F-4D97-AF65-F5344CB8AC3E}">
        <p14:creationId xmlns:p14="http://schemas.microsoft.com/office/powerpoint/2010/main" val="795630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18</a:t>
            </a:fld>
            <a:endParaRPr lang="fr-FR"/>
          </a:p>
        </p:txBody>
      </p:sp>
    </p:spTree>
    <p:extLst>
      <p:ext uri="{BB962C8B-B14F-4D97-AF65-F5344CB8AC3E}">
        <p14:creationId xmlns:p14="http://schemas.microsoft.com/office/powerpoint/2010/main" val="39207740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19</a:t>
            </a:fld>
            <a:endParaRPr lang="fr-FR"/>
          </a:p>
        </p:txBody>
      </p:sp>
    </p:spTree>
    <p:extLst>
      <p:ext uri="{BB962C8B-B14F-4D97-AF65-F5344CB8AC3E}">
        <p14:creationId xmlns:p14="http://schemas.microsoft.com/office/powerpoint/2010/main" val="3713587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20</a:t>
            </a:fld>
            <a:endParaRPr lang="fr-FR"/>
          </a:p>
        </p:txBody>
      </p:sp>
    </p:spTree>
    <p:extLst>
      <p:ext uri="{BB962C8B-B14F-4D97-AF65-F5344CB8AC3E}">
        <p14:creationId xmlns:p14="http://schemas.microsoft.com/office/powerpoint/2010/main" val="631258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21</a:t>
            </a:fld>
            <a:endParaRPr lang="fr-FR"/>
          </a:p>
        </p:txBody>
      </p:sp>
    </p:spTree>
    <p:extLst>
      <p:ext uri="{BB962C8B-B14F-4D97-AF65-F5344CB8AC3E}">
        <p14:creationId xmlns:p14="http://schemas.microsoft.com/office/powerpoint/2010/main" val="17844547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22</a:t>
            </a:fld>
            <a:endParaRPr lang="fr-FR"/>
          </a:p>
        </p:txBody>
      </p:sp>
    </p:spTree>
    <p:extLst>
      <p:ext uri="{BB962C8B-B14F-4D97-AF65-F5344CB8AC3E}">
        <p14:creationId xmlns:p14="http://schemas.microsoft.com/office/powerpoint/2010/main" val="8265338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23</a:t>
            </a:fld>
            <a:endParaRPr lang="fr-FR"/>
          </a:p>
        </p:txBody>
      </p:sp>
    </p:spTree>
    <p:extLst>
      <p:ext uri="{BB962C8B-B14F-4D97-AF65-F5344CB8AC3E}">
        <p14:creationId xmlns:p14="http://schemas.microsoft.com/office/powerpoint/2010/main" val="16150265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24</a:t>
            </a:fld>
            <a:endParaRPr lang="fr-FR"/>
          </a:p>
        </p:txBody>
      </p:sp>
    </p:spTree>
    <p:extLst>
      <p:ext uri="{BB962C8B-B14F-4D97-AF65-F5344CB8AC3E}">
        <p14:creationId xmlns:p14="http://schemas.microsoft.com/office/powerpoint/2010/main" val="1316192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25</a:t>
            </a:fld>
            <a:endParaRPr lang="fr-FR"/>
          </a:p>
        </p:txBody>
      </p:sp>
    </p:spTree>
    <p:extLst>
      <p:ext uri="{BB962C8B-B14F-4D97-AF65-F5344CB8AC3E}">
        <p14:creationId xmlns:p14="http://schemas.microsoft.com/office/powerpoint/2010/main" val="36450894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26</a:t>
            </a:fld>
            <a:endParaRPr lang="fr-FR"/>
          </a:p>
        </p:txBody>
      </p:sp>
    </p:spTree>
    <p:extLst>
      <p:ext uri="{BB962C8B-B14F-4D97-AF65-F5344CB8AC3E}">
        <p14:creationId xmlns:p14="http://schemas.microsoft.com/office/powerpoint/2010/main" val="11188787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27</a:t>
            </a:fld>
            <a:endParaRPr lang="fr-FR"/>
          </a:p>
        </p:txBody>
      </p:sp>
    </p:spTree>
    <p:extLst>
      <p:ext uri="{BB962C8B-B14F-4D97-AF65-F5344CB8AC3E}">
        <p14:creationId xmlns:p14="http://schemas.microsoft.com/office/powerpoint/2010/main" val="29703959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28</a:t>
            </a:fld>
            <a:endParaRPr lang="fr-FR"/>
          </a:p>
        </p:txBody>
      </p:sp>
    </p:spTree>
    <p:extLst>
      <p:ext uri="{BB962C8B-B14F-4D97-AF65-F5344CB8AC3E}">
        <p14:creationId xmlns:p14="http://schemas.microsoft.com/office/powerpoint/2010/main" val="19173566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29</a:t>
            </a:fld>
            <a:endParaRPr lang="fr-FR"/>
          </a:p>
        </p:txBody>
      </p:sp>
    </p:spTree>
    <p:extLst>
      <p:ext uri="{BB962C8B-B14F-4D97-AF65-F5344CB8AC3E}">
        <p14:creationId xmlns:p14="http://schemas.microsoft.com/office/powerpoint/2010/main" val="16707427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30</a:t>
            </a:fld>
            <a:endParaRPr lang="fr-FR"/>
          </a:p>
        </p:txBody>
      </p:sp>
    </p:spTree>
    <p:extLst>
      <p:ext uri="{BB962C8B-B14F-4D97-AF65-F5344CB8AC3E}">
        <p14:creationId xmlns:p14="http://schemas.microsoft.com/office/powerpoint/2010/main" val="28614592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31</a:t>
            </a:fld>
            <a:endParaRPr lang="fr-FR"/>
          </a:p>
        </p:txBody>
      </p:sp>
    </p:spTree>
    <p:extLst>
      <p:ext uri="{BB962C8B-B14F-4D97-AF65-F5344CB8AC3E}">
        <p14:creationId xmlns:p14="http://schemas.microsoft.com/office/powerpoint/2010/main" val="37339998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32</a:t>
            </a:fld>
            <a:endParaRPr lang="fr-FR"/>
          </a:p>
        </p:txBody>
      </p:sp>
    </p:spTree>
    <p:extLst>
      <p:ext uri="{BB962C8B-B14F-4D97-AF65-F5344CB8AC3E}">
        <p14:creationId xmlns:p14="http://schemas.microsoft.com/office/powerpoint/2010/main" val="24231821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33</a:t>
            </a:fld>
            <a:endParaRPr lang="fr-FR"/>
          </a:p>
        </p:txBody>
      </p:sp>
    </p:spTree>
    <p:extLst>
      <p:ext uri="{BB962C8B-B14F-4D97-AF65-F5344CB8AC3E}">
        <p14:creationId xmlns:p14="http://schemas.microsoft.com/office/powerpoint/2010/main" val="186507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34</a:t>
            </a:fld>
            <a:endParaRPr lang="fr-FR"/>
          </a:p>
        </p:txBody>
      </p:sp>
    </p:spTree>
    <p:extLst>
      <p:ext uri="{BB962C8B-B14F-4D97-AF65-F5344CB8AC3E}">
        <p14:creationId xmlns:p14="http://schemas.microsoft.com/office/powerpoint/2010/main" val="35022663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35</a:t>
            </a:fld>
            <a:endParaRPr lang="fr-FR"/>
          </a:p>
        </p:txBody>
      </p:sp>
    </p:spTree>
    <p:extLst>
      <p:ext uri="{BB962C8B-B14F-4D97-AF65-F5344CB8AC3E}">
        <p14:creationId xmlns:p14="http://schemas.microsoft.com/office/powerpoint/2010/main" val="2282680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36</a:t>
            </a:fld>
            <a:endParaRPr lang="fr-FR"/>
          </a:p>
        </p:txBody>
      </p:sp>
    </p:spTree>
    <p:extLst>
      <p:ext uri="{BB962C8B-B14F-4D97-AF65-F5344CB8AC3E}">
        <p14:creationId xmlns:p14="http://schemas.microsoft.com/office/powerpoint/2010/main" val="26486660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37</a:t>
            </a:fld>
            <a:endParaRPr lang="fr-FR"/>
          </a:p>
        </p:txBody>
      </p:sp>
    </p:spTree>
    <p:extLst>
      <p:ext uri="{BB962C8B-B14F-4D97-AF65-F5344CB8AC3E}">
        <p14:creationId xmlns:p14="http://schemas.microsoft.com/office/powerpoint/2010/main" val="19494597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38</a:t>
            </a:fld>
            <a:endParaRPr lang="fr-FR"/>
          </a:p>
        </p:txBody>
      </p:sp>
    </p:spTree>
    <p:extLst>
      <p:ext uri="{BB962C8B-B14F-4D97-AF65-F5344CB8AC3E}">
        <p14:creationId xmlns:p14="http://schemas.microsoft.com/office/powerpoint/2010/main" val="12911187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39</a:t>
            </a:fld>
            <a:endParaRPr lang="fr-FR"/>
          </a:p>
        </p:txBody>
      </p:sp>
    </p:spTree>
    <p:extLst>
      <p:ext uri="{BB962C8B-B14F-4D97-AF65-F5344CB8AC3E}">
        <p14:creationId xmlns:p14="http://schemas.microsoft.com/office/powerpoint/2010/main" val="30876783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40</a:t>
            </a:fld>
            <a:endParaRPr lang="fr-FR"/>
          </a:p>
        </p:txBody>
      </p:sp>
    </p:spTree>
    <p:extLst>
      <p:ext uri="{BB962C8B-B14F-4D97-AF65-F5344CB8AC3E}">
        <p14:creationId xmlns:p14="http://schemas.microsoft.com/office/powerpoint/2010/main" val="26850958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41</a:t>
            </a:fld>
            <a:endParaRPr lang="fr-FR"/>
          </a:p>
        </p:txBody>
      </p:sp>
    </p:spTree>
    <p:extLst>
      <p:ext uri="{BB962C8B-B14F-4D97-AF65-F5344CB8AC3E}">
        <p14:creationId xmlns:p14="http://schemas.microsoft.com/office/powerpoint/2010/main" val="9897661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42</a:t>
            </a:fld>
            <a:endParaRPr lang="fr-FR"/>
          </a:p>
        </p:txBody>
      </p:sp>
    </p:spTree>
    <p:extLst>
      <p:ext uri="{BB962C8B-B14F-4D97-AF65-F5344CB8AC3E}">
        <p14:creationId xmlns:p14="http://schemas.microsoft.com/office/powerpoint/2010/main" val="40499605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43</a:t>
            </a:fld>
            <a:endParaRPr lang="fr-FR"/>
          </a:p>
        </p:txBody>
      </p:sp>
    </p:spTree>
    <p:extLst>
      <p:ext uri="{BB962C8B-B14F-4D97-AF65-F5344CB8AC3E}">
        <p14:creationId xmlns:p14="http://schemas.microsoft.com/office/powerpoint/2010/main" val="25484786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44</a:t>
            </a:fld>
            <a:endParaRPr lang="fr-FR"/>
          </a:p>
        </p:txBody>
      </p:sp>
    </p:spTree>
    <p:extLst>
      <p:ext uri="{BB962C8B-B14F-4D97-AF65-F5344CB8AC3E}">
        <p14:creationId xmlns:p14="http://schemas.microsoft.com/office/powerpoint/2010/main" val="18913719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45</a:t>
            </a:fld>
            <a:endParaRPr lang="fr-FR"/>
          </a:p>
        </p:txBody>
      </p:sp>
    </p:spTree>
    <p:extLst>
      <p:ext uri="{BB962C8B-B14F-4D97-AF65-F5344CB8AC3E}">
        <p14:creationId xmlns:p14="http://schemas.microsoft.com/office/powerpoint/2010/main" val="33011071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46</a:t>
            </a:fld>
            <a:endParaRPr lang="fr-FR"/>
          </a:p>
        </p:txBody>
      </p:sp>
    </p:spTree>
    <p:extLst>
      <p:ext uri="{BB962C8B-B14F-4D97-AF65-F5344CB8AC3E}">
        <p14:creationId xmlns:p14="http://schemas.microsoft.com/office/powerpoint/2010/main" val="20291783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47</a:t>
            </a:fld>
            <a:endParaRPr lang="fr-FR"/>
          </a:p>
        </p:txBody>
      </p:sp>
    </p:spTree>
    <p:extLst>
      <p:ext uri="{BB962C8B-B14F-4D97-AF65-F5344CB8AC3E}">
        <p14:creationId xmlns:p14="http://schemas.microsoft.com/office/powerpoint/2010/main" val="20630339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48</a:t>
            </a:fld>
            <a:endParaRPr lang="fr-FR"/>
          </a:p>
        </p:txBody>
      </p:sp>
    </p:spTree>
    <p:extLst>
      <p:ext uri="{BB962C8B-B14F-4D97-AF65-F5344CB8AC3E}">
        <p14:creationId xmlns:p14="http://schemas.microsoft.com/office/powerpoint/2010/main" val="45088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49</a:t>
            </a:fld>
            <a:endParaRPr lang="fr-FR"/>
          </a:p>
        </p:txBody>
      </p:sp>
    </p:spTree>
    <p:extLst>
      <p:ext uri="{BB962C8B-B14F-4D97-AF65-F5344CB8AC3E}">
        <p14:creationId xmlns:p14="http://schemas.microsoft.com/office/powerpoint/2010/main" val="15593351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50</a:t>
            </a:fld>
            <a:endParaRPr lang="fr-FR"/>
          </a:p>
        </p:txBody>
      </p:sp>
    </p:spTree>
    <p:extLst>
      <p:ext uri="{BB962C8B-B14F-4D97-AF65-F5344CB8AC3E}">
        <p14:creationId xmlns:p14="http://schemas.microsoft.com/office/powerpoint/2010/main" val="1473205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51</a:t>
            </a:fld>
            <a:endParaRPr lang="fr-FR"/>
          </a:p>
        </p:txBody>
      </p:sp>
    </p:spTree>
    <p:extLst>
      <p:ext uri="{BB962C8B-B14F-4D97-AF65-F5344CB8AC3E}">
        <p14:creationId xmlns:p14="http://schemas.microsoft.com/office/powerpoint/2010/main" val="1319117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52</a:t>
            </a:fld>
            <a:endParaRPr lang="fr-FR"/>
          </a:p>
        </p:txBody>
      </p:sp>
    </p:spTree>
    <p:extLst>
      <p:ext uri="{BB962C8B-B14F-4D97-AF65-F5344CB8AC3E}">
        <p14:creationId xmlns:p14="http://schemas.microsoft.com/office/powerpoint/2010/main" val="2529929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53</a:t>
            </a:fld>
            <a:endParaRPr lang="fr-FR"/>
          </a:p>
        </p:txBody>
      </p:sp>
    </p:spTree>
    <p:extLst>
      <p:ext uri="{BB962C8B-B14F-4D97-AF65-F5344CB8AC3E}">
        <p14:creationId xmlns:p14="http://schemas.microsoft.com/office/powerpoint/2010/main" val="29346018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54</a:t>
            </a:fld>
            <a:endParaRPr lang="fr-FR"/>
          </a:p>
        </p:txBody>
      </p:sp>
    </p:spTree>
    <p:extLst>
      <p:ext uri="{BB962C8B-B14F-4D97-AF65-F5344CB8AC3E}">
        <p14:creationId xmlns:p14="http://schemas.microsoft.com/office/powerpoint/2010/main" val="26857959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55</a:t>
            </a:fld>
            <a:endParaRPr lang="fr-FR"/>
          </a:p>
        </p:txBody>
      </p:sp>
    </p:spTree>
    <p:extLst>
      <p:ext uri="{BB962C8B-B14F-4D97-AF65-F5344CB8AC3E}">
        <p14:creationId xmlns:p14="http://schemas.microsoft.com/office/powerpoint/2010/main" val="22586026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56</a:t>
            </a:fld>
            <a:endParaRPr lang="fr-FR"/>
          </a:p>
        </p:txBody>
      </p:sp>
    </p:spTree>
    <p:extLst>
      <p:ext uri="{BB962C8B-B14F-4D97-AF65-F5344CB8AC3E}">
        <p14:creationId xmlns:p14="http://schemas.microsoft.com/office/powerpoint/2010/main" val="92754021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57</a:t>
            </a:fld>
            <a:endParaRPr lang="fr-FR"/>
          </a:p>
        </p:txBody>
      </p:sp>
    </p:spTree>
    <p:extLst>
      <p:ext uri="{BB962C8B-B14F-4D97-AF65-F5344CB8AC3E}">
        <p14:creationId xmlns:p14="http://schemas.microsoft.com/office/powerpoint/2010/main" val="12670314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58</a:t>
            </a:fld>
            <a:endParaRPr lang="fr-FR"/>
          </a:p>
        </p:txBody>
      </p:sp>
    </p:spTree>
    <p:extLst>
      <p:ext uri="{BB962C8B-B14F-4D97-AF65-F5344CB8AC3E}">
        <p14:creationId xmlns:p14="http://schemas.microsoft.com/office/powerpoint/2010/main" val="25981269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44CD2-7D60-B113-64A3-EFDB7FF2CC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5EBA758-2005-5336-BF23-3E1A330D8F7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6E5981C-4BFB-828C-28BE-F7F775805D2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5BE9CA3-969B-B8AE-1B56-94525FD34D09}"/>
              </a:ext>
            </a:extLst>
          </p:cNvPr>
          <p:cNvSpPr>
            <a:spLocks noGrp="1"/>
          </p:cNvSpPr>
          <p:nvPr>
            <p:ph type="sldNum" sz="quarter" idx="5"/>
          </p:nvPr>
        </p:nvSpPr>
        <p:spPr/>
        <p:txBody>
          <a:bodyPr/>
          <a:lstStyle/>
          <a:p>
            <a:fld id="{863E1B75-4A72-7C43-A05C-64CF18E2A08C}" type="slidenum">
              <a:rPr lang="fr-FR" smtClean="0"/>
              <a:t>59</a:t>
            </a:fld>
            <a:endParaRPr lang="fr-FR"/>
          </a:p>
        </p:txBody>
      </p:sp>
    </p:spTree>
    <p:extLst>
      <p:ext uri="{BB962C8B-B14F-4D97-AF65-F5344CB8AC3E}">
        <p14:creationId xmlns:p14="http://schemas.microsoft.com/office/powerpoint/2010/main" val="31404020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02C0A-DFEE-AA67-9472-9A4FB3C3032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CE9A878-A78D-0D3C-0FDB-75D2662F393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246EACF-C761-B090-DC7E-F2094587E27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8A183EE-8614-A6EA-EE58-DCFB099C095B}"/>
              </a:ext>
            </a:extLst>
          </p:cNvPr>
          <p:cNvSpPr>
            <a:spLocks noGrp="1"/>
          </p:cNvSpPr>
          <p:nvPr>
            <p:ph type="sldNum" sz="quarter" idx="5"/>
          </p:nvPr>
        </p:nvSpPr>
        <p:spPr/>
        <p:txBody>
          <a:bodyPr/>
          <a:lstStyle/>
          <a:p>
            <a:fld id="{863E1B75-4A72-7C43-A05C-64CF18E2A08C}" type="slidenum">
              <a:rPr lang="fr-FR" smtClean="0"/>
              <a:t>60</a:t>
            </a:fld>
            <a:endParaRPr lang="fr-FR"/>
          </a:p>
        </p:txBody>
      </p:sp>
    </p:spTree>
    <p:extLst>
      <p:ext uri="{BB962C8B-B14F-4D97-AF65-F5344CB8AC3E}">
        <p14:creationId xmlns:p14="http://schemas.microsoft.com/office/powerpoint/2010/main" val="38712702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647EC-253E-CA4D-80F9-68902B1C9FD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BC8C6C-F146-DAFB-3AFB-CA0F7762B18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6128994-6BB9-4640-ED5E-3118CFDDF96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27A65AC-2976-78B2-8ADF-08477C5F09CE}"/>
              </a:ext>
            </a:extLst>
          </p:cNvPr>
          <p:cNvSpPr>
            <a:spLocks noGrp="1"/>
          </p:cNvSpPr>
          <p:nvPr>
            <p:ph type="sldNum" sz="quarter" idx="5"/>
          </p:nvPr>
        </p:nvSpPr>
        <p:spPr/>
        <p:txBody>
          <a:bodyPr/>
          <a:lstStyle/>
          <a:p>
            <a:fld id="{863E1B75-4A72-7C43-A05C-64CF18E2A08C}" type="slidenum">
              <a:rPr lang="fr-FR" smtClean="0"/>
              <a:t>61</a:t>
            </a:fld>
            <a:endParaRPr lang="fr-FR"/>
          </a:p>
        </p:txBody>
      </p:sp>
    </p:spTree>
    <p:extLst>
      <p:ext uri="{BB962C8B-B14F-4D97-AF65-F5344CB8AC3E}">
        <p14:creationId xmlns:p14="http://schemas.microsoft.com/office/powerpoint/2010/main" val="22706892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58A89-DC51-7D3B-9C1B-6DFC37AE5ED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FFF575F-1DFD-BF59-90FA-8B3235CFD45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C61681A-8187-D622-73FA-D391D440D09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F4CE164-BC01-ADC3-B85E-159D50A6DE6B}"/>
              </a:ext>
            </a:extLst>
          </p:cNvPr>
          <p:cNvSpPr>
            <a:spLocks noGrp="1"/>
          </p:cNvSpPr>
          <p:nvPr>
            <p:ph type="sldNum" sz="quarter" idx="5"/>
          </p:nvPr>
        </p:nvSpPr>
        <p:spPr/>
        <p:txBody>
          <a:bodyPr/>
          <a:lstStyle/>
          <a:p>
            <a:fld id="{863E1B75-4A72-7C43-A05C-64CF18E2A08C}" type="slidenum">
              <a:rPr lang="fr-FR" smtClean="0"/>
              <a:t>62</a:t>
            </a:fld>
            <a:endParaRPr lang="fr-FR"/>
          </a:p>
        </p:txBody>
      </p:sp>
    </p:spTree>
    <p:extLst>
      <p:ext uri="{BB962C8B-B14F-4D97-AF65-F5344CB8AC3E}">
        <p14:creationId xmlns:p14="http://schemas.microsoft.com/office/powerpoint/2010/main" val="17879137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B4B5F-C952-D37B-2467-A274AA65CD1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212A7DC-402E-6482-930B-123DD4542F3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BE977C1-DF6E-B100-7CE3-06518BF6373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1F82B1A-C0EB-4484-215F-CBEC242EBFC8}"/>
              </a:ext>
            </a:extLst>
          </p:cNvPr>
          <p:cNvSpPr>
            <a:spLocks noGrp="1"/>
          </p:cNvSpPr>
          <p:nvPr>
            <p:ph type="sldNum" sz="quarter" idx="5"/>
          </p:nvPr>
        </p:nvSpPr>
        <p:spPr/>
        <p:txBody>
          <a:bodyPr/>
          <a:lstStyle/>
          <a:p>
            <a:fld id="{863E1B75-4A72-7C43-A05C-64CF18E2A08C}" type="slidenum">
              <a:rPr lang="fr-FR" smtClean="0"/>
              <a:t>63</a:t>
            </a:fld>
            <a:endParaRPr lang="fr-FR"/>
          </a:p>
        </p:txBody>
      </p:sp>
    </p:spTree>
    <p:extLst>
      <p:ext uri="{BB962C8B-B14F-4D97-AF65-F5344CB8AC3E}">
        <p14:creationId xmlns:p14="http://schemas.microsoft.com/office/powerpoint/2010/main" val="18919714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11EFB-91E7-5AEF-B3A3-2C05C1A6A91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56C11A6-283F-8769-EC70-C68078CC28C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33256CC-56E9-12F3-41BC-7BCB5527183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2712455-07A9-584D-05EB-94485DC36A9B}"/>
              </a:ext>
            </a:extLst>
          </p:cNvPr>
          <p:cNvSpPr>
            <a:spLocks noGrp="1"/>
          </p:cNvSpPr>
          <p:nvPr>
            <p:ph type="sldNum" sz="quarter" idx="5"/>
          </p:nvPr>
        </p:nvSpPr>
        <p:spPr/>
        <p:txBody>
          <a:bodyPr/>
          <a:lstStyle/>
          <a:p>
            <a:fld id="{863E1B75-4A72-7C43-A05C-64CF18E2A08C}" type="slidenum">
              <a:rPr lang="fr-FR" smtClean="0"/>
              <a:t>64</a:t>
            </a:fld>
            <a:endParaRPr lang="fr-FR"/>
          </a:p>
        </p:txBody>
      </p:sp>
    </p:spTree>
    <p:extLst>
      <p:ext uri="{BB962C8B-B14F-4D97-AF65-F5344CB8AC3E}">
        <p14:creationId xmlns:p14="http://schemas.microsoft.com/office/powerpoint/2010/main" val="425017021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04610-D421-64D7-A8F5-55F73717D3D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30AD569-9FA0-EE71-4E37-DAAAB9C0611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7F97EA0-ED77-BF99-7BB3-A4F5CD41161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E192FA64-B44A-F422-CAF8-4986E61A6673}"/>
              </a:ext>
            </a:extLst>
          </p:cNvPr>
          <p:cNvSpPr>
            <a:spLocks noGrp="1"/>
          </p:cNvSpPr>
          <p:nvPr>
            <p:ph type="sldNum" sz="quarter" idx="5"/>
          </p:nvPr>
        </p:nvSpPr>
        <p:spPr/>
        <p:txBody>
          <a:bodyPr/>
          <a:lstStyle/>
          <a:p>
            <a:fld id="{863E1B75-4A72-7C43-A05C-64CF18E2A08C}" type="slidenum">
              <a:rPr lang="fr-FR" smtClean="0"/>
              <a:t>65</a:t>
            </a:fld>
            <a:endParaRPr lang="fr-FR"/>
          </a:p>
        </p:txBody>
      </p:sp>
    </p:spTree>
    <p:extLst>
      <p:ext uri="{BB962C8B-B14F-4D97-AF65-F5344CB8AC3E}">
        <p14:creationId xmlns:p14="http://schemas.microsoft.com/office/powerpoint/2010/main" val="23940763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F231A-5A42-C3C5-BCA1-D5E0DF0358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D2A6488-431A-6D78-9485-33B230347BC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FF13ED1-2A42-2FF7-FA64-2B661932B4C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E18F283-043A-814A-F2B0-13618695D784}"/>
              </a:ext>
            </a:extLst>
          </p:cNvPr>
          <p:cNvSpPr>
            <a:spLocks noGrp="1"/>
          </p:cNvSpPr>
          <p:nvPr>
            <p:ph type="sldNum" sz="quarter" idx="5"/>
          </p:nvPr>
        </p:nvSpPr>
        <p:spPr/>
        <p:txBody>
          <a:bodyPr/>
          <a:lstStyle/>
          <a:p>
            <a:fld id="{863E1B75-4A72-7C43-A05C-64CF18E2A08C}" type="slidenum">
              <a:rPr lang="fr-FR" smtClean="0"/>
              <a:t>66</a:t>
            </a:fld>
            <a:endParaRPr lang="fr-FR"/>
          </a:p>
        </p:txBody>
      </p:sp>
    </p:spTree>
    <p:extLst>
      <p:ext uri="{BB962C8B-B14F-4D97-AF65-F5344CB8AC3E}">
        <p14:creationId xmlns:p14="http://schemas.microsoft.com/office/powerpoint/2010/main" val="40183945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99CD7-122F-F8EC-9325-3F80FC15953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6DDF70B-C440-D82F-04A6-AE18719C2AE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AC84ADA-DE79-221B-17A5-67811F18CBB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98C5586-7625-9800-AFDB-E00C2B333CD0}"/>
              </a:ext>
            </a:extLst>
          </p:cNvPr>
          <p:cNvSpPr>
            <a:spLocks noGrp="1"/>
          </p:cNvSpPr>
          <p:nvPr>
            <p:ph type="sldNum" sz="quarter" idx="5"/>
          </p:nvPr>
        </p:nvSpPr>
        <p:spPr/>
        <p:txBody>
          <a:bodyPr/>
          <a:lstStyle/>
          <a:p>
            <a:fld id="{863E1B75-4A72-7C43-A05C-64CF18E2A08C}" type="slidenum">
              <a:rPr lang="fr-FR" smtClean="0"/>
              <a:t>67</a:t>
            </a:fld>
            <a:endParaRPr lang="fr-FR"/>
          </a:p>
        </p:txBody>
      </p:sp>
    </p:spTree>
    <p:extLst>
      <p:ext uri="{BB962C8B-B14F-4D97-AF65-F5344CB8AC3E}">
        <p14:creationId xmlns:p14="http://schemas.microsoft.com/office/powerpoint/2010/main" val="196678428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68</a:t>
            </a:fld>
            <a:endParaRPr lang="fr-FR"/>
          </a:p>
        </p:txBody>
      </p:sp>
    </p:spTree>
    <p:extLst>
      <p:ext uri="{BB962C8B-B14F-4D97-AF65-F5344CB8AC3E}">
        <p14:creationId xmlns:p14="http://schemas.microsoft.com/office/powerpoint/2010/main" val="20196051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A1BA8-034F-6C87-58B5-2A5E1E9854A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F34BDDC-09D6-4346-1F5D-3DAA9C0CA78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A92D470-6E0B-82F9-7253-0EC9EC0C87A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A0B9948-B677-943B-5DDE-1A4A1E02D454}"/>
              </a:ext>
            </a:extLst>
          </p:cNvPr>
          <p:cNvSpPr>
            <a:spLocks noGrp="1"/>
          </p:cNvSpPr>
          <p:nvPr>
            <p:ph type="sldNum" sz="quarter" idx="5"/>
          </p:nvPr>
        </p:nvSpPr>
        <p:spPr/>
        <p:txBody>
          <a:bodyPr/>
          <a:lstStyle/>
          <a:p>
            <a:fld id="{863E1B75-4A72-7C43-A05C-64CF18E2A08C}" type="slidenum">
              <a:rPr lang="fr-FR" smtClean="0"/>
              <a:t>69</a:t>
            </a:fld>
            <a:endParaRPr lang="fr-FR"/>
          </a:p>
        </p:txBody>
      </p:sp>
    </p:spTree>
    <p:extLst>
      <p:ext uri="{BB962C8B-B14F-4D97-AF65-F5344CB8AC3E}">
        <p14:creationId xmlns:p14="http://schemas.microsoft.com/office/powerpoint/2010/main" val="20166616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70</a:t>
            </a:fld>
            <a:endParaRPr lang="fr-FR"/>
          </a:p>
        </p:txBody>
      </p:sp>
    </p:spTree>
    <p:extLst>
      <p:ext uri="{BB962C8B-B14F-4D97-AF65-F5344CB8AC3E}">
        <p14:creationId xmlns:p14="http://schemas.microsoft.com/office/powerpoint/2010/main" val="371376745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71</a:t>
            </a:fld>
            <a:endParaRPr lang="fr-FR"/>
          </a:p>
        </p:txBody>
      </p:sp>
    </p:spTree>
    <p:extLst>
      <p:ext uri="{BB962C8B-B14F-4D97-AF65-F5344CB8AC3E}">
        <p14:creationId xmlns:p14="http://schemas.microsoft.com/office/powerpoint/2010/main" val="45618348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72</a:t>
            </a:fld>
            <a:endParaRPr lang="fr-FR"/>
          </a:p>
        </p:txBody>
      </p:sp>
    </p:spTree>
    <p:extLst>
      <p:ext uri="{BB962C8B-B14F-4D97-AF65-F5344CB8AC3E}">
        <p14:creationId xmlns:p14="http://schemas.microsoft.com/office/powerpoint/2010/main" val="23320035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863E1B75-4A72-7C43-A05C-64CF18E2A08C}" type="slidenum">
              <a:rPr lang="fr-FR" smtClean="0"/>
              <a:t>73</a:t>
            </a:fld>
            <a:endParaRPr lang="fr-FR"/>
          </a:p>
        </p:txBody>
      </p:sp>
    </p:spTree>
    <p:extLst>
      <p:ext uri="{BB962C8B-B14F-4D97-AF65-F5344CB8AC3E}">
        <p14:creationId xmlns:p14="http://schemas.microsoft.com/office/powerpoint/2010/main" val="396075416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DDF02-049C-9A88-5FBA-F9196CD2111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40AABCB-ACDB-C453-4E76-68C0CD29167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47C99DF-1E41-F0B3-D565-BF43CCD6F6B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2FD8628-B6E7-46F9-4665-5D115E798135}"/>
              </a:ext>
            </a:extLst>
          </p:cNvPr>
          <p:cNvSpPr>
            <a:spLocks noGrp="1"/>
          </p:cNvSpPr>
          <p:nvPr>
            <p:ph type="sldNum" sz="quarter" idx="5"/>
          </p:nvPr>
        </p:nvSpPr>
        <p:spPr/>
        <p:txBody>
          <a:bodyPr/>
          <a:lstStyle/>
          <a:p>
            <a:fld id="{863E1B75-4A72-7C43-A05C-64CF18E2A08C}" type="slidenum">
              <a:rPr lang="fr-FR" smtClean="0"/>
              <a:t>74</a:t>
            </a:fld>
            <a:endParaRPr lang="fr-FR"/>
          </a:p>
        </p:txBody>
      </p:sp>
    </p:spTree>
    <p:extLst>
      <p:ext uri="{BB962C8B-B14F-4D97-AF65-F5344CB8AC3E}">
        <p14:creationId xmlns:p14="http://schemas.microsoft.com/office/powerpoint/2010/main" val="26088327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22BE3-0AA0-4032-CC30-755715D3C39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7F33341-8DB9-D44C-5557-159A1D28F3C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7889D8E-64BB-AB80-8D35-3F06BEA389F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6F33781-E8A6-B159-4ADE-4CCE9AA05372}"/>
              </a:ext>
            </a:extLst>
          </p:cNvPr>
          <p:cNvSpPr>
            <a:spLocks noGrp="1"/>
          </p:cNvSpPr>
          <p:nvPr>
            <p:ph type="sldNum" sz="quarter" idx="5"/>
          </p:nvPr>
        </p:nvSpPr>
        <p:spPr/>
        <p:txBody>
          <a:bodyPr/>
          <a:lstStyle/>
          <a:p>
            <a:fld id="{863E1B75-4A72-7C43-A05C-64CF18E2A08C}" type="slidenum">
              <a:rPr lang="fr-FR" smtClean="0"/>
              <a:t>75</a:t>
            </a:fld>
            <a:endParaRPr lang="fr-FR"/>
          </a:p>
        </p:txBody>
      </p:sp>
    </p:spTree>
    <p:extLst>
      <p:ext uri="{BB962C8B-B14F-4D97-AF65-F5344CB8AC3E}">
        <p14:creationId xmlns:p14="http://schemas.microsoft.com/office/powerpoint/2010/main" val="2525875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C1F41394-6E52-4C44-8B2A-EA00A9307176}" type="datetimeFigureOut">
              <a:rPr lang="fr-FR" smtClean="0"/>
              <a:t>12/12/2025</a:t>
            </a:fld>
            <a:endParaRPr lang="fr-F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fr-F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B0FBC693-1DED-224C-BB4C-79088F2AA503}" type="slidenum">
              <a:rPr lang="fr-FR" smtClean="0"/>
              <a:t>‹N°›</a:t>
            </a:fld>
            <a:endParaRPr lang="fr-F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rgbClr val="00756C"/>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rgbClr val="00756C"/>
            </a:solidFill>
            <a:ln w="0">
              <a:noFill/>
              <a:prstDash val="solid"/>
              <a:round/>
              <a:headEnd/>
              <a:tailEnd/>
            </a:ln>
          </p:spPr>
          <p:txBody>
            <a:bodyPr/>
            <a:lstStyle/>
            <a:p>
              <a:endParaRPr lang="fr-FR" dirty="0"/>
            </a:p>
          </p:txBody>
        </p:sp>
      </p:grpSp>
    </p:spTree>
    <p:extLst>
      <p:ext uri="{BB962C8B-B14F-4D97-AF65-F5344CB8AC3E}">
        <p14:creationId xmlns:p14="http://schemas.microsoft.com/office/powerpoint/2010/main" val="1649503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C1F41394-6E52-4C44-8B2A-EA00A9307176}" type="datetimeFigureOut">
              <a:rPr lang="fr-FR" smtClean="0"/>
              <a:t>12/12/2025</a:t>
            </a:fld>
            <a:endParaRPr lang="fr-F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fr-F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B0FBC693-1DED-224C-BB4C-79088F2AA503}" type="slidenum">
              <a:rPr lang="fr-FR" smtClean="0"/>
              <a:t>‹N°›</a:t>
            </a:fld>
            <a:endParaRPr lang="fr-FR"/>
          </a:p>
        </p:txBody>
      </p:sp>
      <p:grpSp>
        <p:nvGrpSpPr>
          <p:cNvPr id="18" name="Group 17">
            <a:extLst>
              <a:ext uri="{FF2B5EF4-FFF2-40B4-BE49-F238E27FC236}">
                <a16:creationId xmlns:a16="http://schemas.microsoft.com/office/drawing/2014/main" id="{F5BDD980-8595-5F0D-C92B-594B62C2CF76}"/>
              </a:ext>
            </a:extLst>
          </p:cNvPr>
          <p:cNvGrpSpPr/>
          <p:nvPr/>
        </p:nvGrpSpPr>
        <p:grpSpPr>
          <a:xfrm>
            <a:off x="764510" y="743025"/>
            <a:ext cx="10662465" cy="5351115"/>
            <a:chOff x="764510" y="743025"/>
            <a:chExt cx="10662465" cy="5351115"/>
          </a:xfrm>
        </p:grpSpPr>
        <p:pic>
          <p:nvPicPr>
            <p:cNvPr id="16" name="Picture 15">
              <a:extLst>
                <a:ext uri="{FF2B5EF4-FFF2-40B4-BE49-F238E27FC236}">
                  <a16:creationId xmlns:a16="http://schemas.microsoft.com/office/drawing/2014/main" id="{7E031243-F8A9-F687-CD7B-2D6AF4A6D128}"/>
                </a:ext>
              </a:extLst>
            </p:cNvPr>
            <p:cNvPicPr>
              <a:picLocks noChangeAspect="1"/>
            </p:cNvPicPr>
            <p:nvPr/>
          </p:nvPicPr>
          <p:blipFill>
            <a:blip r:embed="rId2"/>
            <a:stretch>
              <a:fillRect/>
            </a:stretch>
          </p:blipFill>
          <p:spPr>
            <a:xfrm>
              <a:off x="7210575" y="1611040"/>
              <a:ext cx="4216400" cy="4483100"/>
            </a:xfrm>
            <a:prstGeom prst="rect">
              <a:avLst/>
            </a:prstGeom>
          </p:spPr>
        </p:pic>
        <p:pic>
          <p:nvPicPr>
            <p:cNvPr id="17" name="Picture 16">
              <a:extLst>
                <a:ext uri="{FF2B5EF4-FFF2-40B4-BE49-F238E27FC236}">
                  <a16:creationId xmlns:a16="http://schemas.microsoft.com/office/drawing/2014/main" id="{6099C880-5395-BE60-B2F5-93B802160C14}"/>
                </a:ext>
              </a:extLst>
            </p:cNvPr>
            <p:cNvPicPr>
              <a:picLocks noChangeAspect="1"/>
            </p:cNvPicPr>
            <p:nvPr/>
          </p:nvPicPr>
          <p:blipFill>
            <a:blip r:embed="rId2"/>
            <a:stretch>
              <a:fillRect/>
            </a:stretch>
          </p:blipFill>
          <p:spPr>
            <a:xfrm rot="10800000">
              <a:off x="764510" y="743025"/>
              <a:ext cx="4216400" cy="4483100"/>
            </a:xfrm>
            <a:prstGeom prst="rect">
              <a:avLst/>
            </a:prstGeom>
          </p:spPr>
        </p:pic>
      </p:grpSp>
    </p:spTree>
    <p:extLst>
      <p:ext uri="{BB962C8B-B14F-4D97-AF65-F5344CB8AC3E}">
        <p14:creationId xmlns:p14="http://schemas.microsoft.com/office/powerpoint/2010/main" val="2277451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F41394-6E52-4C44-8B2A-EA00A9307176}" type="datetimeFigureOut">
              <a:rPr lang="fr-FR" smtClean="0"/>
              <a:t>12/12/2025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FBC693-1DED-224C-BB4C-79088F2AA503}" type="slidenum">
              <a:rPr lang="fr-FR" smtClean="0"/>
              <a:t>‹N°›</a:t>
            </a:fld>
            <a:endParaRPr lang="fr-FR"/>
          </a:p>
        </p:txBody>
      </p:sp>
    </p:spTree>
    <p:extLst>
      <p:ext uri="{BB962C8B-B14F-4D97-AF65-F5344CB8AC3E}">
        <p14:creationId xmlns:p14="http://schemas.microsoft.com/office/powerpoint/2010/main" val="1566921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C1F41394-6E52-4C44-8B2A-EA00A9307176}" type="datetimeFigureOut">
              <a:rPr lang="fr-FR" smtClean="0"/>
              <a:t>12/12/2025</a:t>
            </a:fld>
            <a:endParaRPr lang="fr-F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fr-F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B0FBC693-1DED-224C-BB4C-79088F2AA503}" type="slidenum">
              <a:rPr lang="fr-FR" smtClean="0"/>
              <a:t>‹N°›</a:t>
            </a:fld>
            <a:endParaRPr lang="fr-F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rgbClr val="00756C"/>
          </a:solidFill>
          <a:ln w="0">
            <a:noFill/>
            <a:prstDash val="solid"/>
            <a:round/>
            <a:headEnd/>
            <a:tailEnd/>
          </a:ln>
        </p:spPr>
      </p:sp>
    </p:spTree>
    <p:extLst>
      <p:ext uri="{BB962C8B-B14F-4D97-AF65-F5344CB8AC3E}">
        <p14:creationId xmlns:p14="http://schemas.microsoft.com/office/powerpoint/2010/main" val="722494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C1F41394-6E52-4C44-8B2A-EA00A9307176}" type="datetimeFigureOut">
              <a:rPr lang="fr-FR" smtClean="0"/>
              <a:t>12/12/2025</a:t>
            </a:fld>
            <a:endParaRPr lang="fr-F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fr-F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B0FBC693-1DED-224C-BB4C-79088F2AA503}" type="slidenum">
              <a:rPr lang="fr-FR" smtClean="0"/>
              <a:t>‹N°›</a:t>
            </a:fld>
            <a:endParaRPr lang="fr-FR"/>
          </a:p>
        </p:txBody>
      </p:sp>
      <p:pic>
        <p:nvPicPr>
          <p:cNvPr id="11" name="Picture 10">
            <a:extLst>
              <a:ext uri="{FF2B5EF4-FFF2-40B4-BE49-F238E27FC236}">
                <a16:creationId xmlns:a16="http://schemas.microsoft.com/office/drawing/2014/main" id="{73E31110-5E22-A209-4D02-8C30F899450E}"/>
              </a:ext>
            </a:extLst>
          </p:cNvPr>
          <p:cNvPicPr>
            <a:picLocks noChangeAspect="1"/>
          </p:cNvPicPr>
          <p:nvPr/>
        </p:nvPicPr>
        <p:blipFill>
          <a:blip r:embed="rId2"/>
          <a:stretch>
            <a:fillRect/>
          </a:stretch>
        </p:blipFill>
        <p:spPr>
          <a:xfrm>
            <a:off x="7210575" y="1611040"/>
            <a:ext cx="4216400" cy="4483100"/>
          </a:xfrm>
          <a:prstGeom prst="rect">
            <a:avLst/>
          </a:prstGeom>
        </p:spPr>
      </p:pic>
    </p:spTree>
    <p:extLst>
      <p:ext uri="{BB962C8B-B14F-4D97-AF65-F5344CB8AC3E}">
        <p14:creationId xmlns:p14="http://schemas.microsoft.com/office/powerpoint/2010/main" val="2627984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8908" y="0"/>
            <a:ext cx="10559569" cy="1327481"/>
          </a:xfrm>
        </p:spPr>
        <p:txBody>
          <a:bodyPr anchor="b">
            <a:normAutofit/>
          </a:bodyPr>
          <a:lstStyle>
            <a:lvl1pPr algn="l">
              <a:defRPr sz="6600" b="1" cap="all" baseline="0">
                <a:solidFill>
                  <a:schemeClr val="tx2"/>
                </a:solidFill>
              </a:defRPr>
            </a:lvl1pPr>
          </a:lstStyle>
          <a:p>
            <a:r>
              <a:rPr lang="en-US" dirty="0"/>
              <a:t>TITLE</a:t>
            </a:r>
          </a:p>
        </p:txBody>
      </p:sp>
      <p:sp>
        <p:nvSpPr>
          <p:cNvPr id="3" name="Text Placeholder 2"/>
          <p:cNvSpPr>
            <a:spLocks noGrp="1"/>
          </p:cNvSpPr>
          <p:nvPr>
            <p:ph type="body" idx="1"/>
          </p:nvPr>
        </p:nvSpPr>
        <p:spPr>
          <a:xfrm>
            <a:off x="738907" y="1976137"/>
            <a:ext cx="10559570" cy="4174141"/>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C1F41394-6E52-4C44-8B2A-EA00A9307176}" type="datetimeFigureOut">
              <a:rPr lang="fr-FR" smtClean="0"/>
              <a:t>12/12/2025</a:t>
            </a:fld>
            <a:endParaRPr lang="fr-F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fr-F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B0FBC693-1DED-224C-BB4C-79088F2AA503}" type="slidenum">
              <a:rPr lang="fr-FR" smtClean="0"/>
              <a:t>‹N°›</a:t>
            </a:fld>
            <a:endParaRPr lang="fr-FR"/>
          </a:p>
        </p:txBody>
      </p:sp>
      <p:grpSp>
        <p:nvGrpSpPr>
          <p:cNvPr id="10" name="Group 9">
            <a:extLst>
              <a:ext uri="{FF2B5EF4-FFF2-40B4-BE49-F238E27FC236}">
                <a16:creationId xmlns:a16="http://schemas.microsoft.com/office/drawing/2014/main" id="{CBF6A167-A840-BB5E-8776-A6160A36F6C5}"/>
              </a:ext>
            </a:extLst>
          </p:cNvPr>
          <p:cNvGrpSpPr/>
          <p:nvPr/>
        </p:nvGrpSpPr>
        <p:grpSpPr>
          <a:xfrm>
            <a:off x="-2" y="1245116"/>
            <a:ext cx="12192001" cy="480983"/>
            <a:chOff x="-2" y="1245116"/>
            <a:chExt cx="12192001" cy="480983"/>
          </a:xfrm>
        </p:grpSpPr>
        <p:pic>
          <p:nvPicPr>
            <p:cNvPr id="8" name="Picture 7">
              <a:extLst>
                <a:ext uri="{FF2B5EF4-FFF2-40B4-BE49-F238E27FC236}">
                  <a16:creationId xmlns:a16="http://schemas.microsoft.com/office/drawing/2014/main" id="{0FCC2F66-95B1-EE4D-01B4-2DE71C3C2544}"/>
                </a:ext>
              </a:extLst>
            </p:cNvPr>
            <p:cNvPicPr>
              <a:picLocks noChangeAspect="1"/>
            </p:cNvPicPr>
            <p:nvPr/>
          </p:nvPicPr>
          <p:blipFill>
            <a:blip r:embed="rId2"/>
            <a:srcRect b="18969"/>
            <a:stretch/>
          </p:blipFill>
          <p:spPr>
            <a:xfrm rot="5400000">
              <a:off x="3899361" y="-2654247"/>
              <a:ext cx="480983" cy="8279709"/>
            </a:xfrm>
            <a:prstGeom prst="rect">
              <a:avLst/>
            </a:prstGeom>
          </p:spPr>
        </p:pic>
        <p:pic>
          <p:nvPicPr>
            <p:cNvPr id="9" name="Picture 8">
              <a:extLst>
                <a:ext uri="{FF2B5EF4-FFF2-40B4-BE49-F238E27FC236}">
                  <a16:creationId xmlns:a16="http://schemas.microsoft.com/office/drawing/2014/main" id="{04D88D50-59EC-67D0-3994-83E0E3C789B1}"/>
                </a:ext>
              </a:extLst>
            </p:cNvPr>
            <p:cNvPicPr>
              <a:picLocks noChangeAspect="1"/>
            </p:cNvPicPr>
            <p:nvPr/>
          </p:nvPicPr>
          <p:blipFill>
            <a:blip r:embed="rId2"/>
            <a:srcRect t="61712"/>
            <a:stretch/>
          </p:blipFill>
          <p:spPr>
            <a:xfrm rot="5400000">
              <a:off x="9995363" y="-470538"/>
              <a:ext cx="480981" cy="3912291"/>
            </a:xfrm>
            <a:prstGeom prst="rect">
              <a:avLst/>
            </a:prstGeom>
          </p:spPr>
        </p:pic>
      </p:grpSp>
    </p:spTree>
    <p:extLst>
      <p:ext uri="{BB962C8B-B14F-4D97-AF65-F5344CB8AC3E}">
        <p14:creationId xmlns:p14="http://schemas.microsoft.com/office/powerpoint/2010/main" val="1885253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1F41394-6E52-4C44-8B2A-EA00A9307176}" type="datetimeFigureOut">
              <a:rPr lang="fr-FR" smtClean="0"/>
              <a:t>12/12/2025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B0FBC693-1DED-224C-BB4C-79088F2AA503}" type="slidenum">
              <a:rPr lang="fr-FR" smtClean="0"/>
              <a:t>‹N°›</a:t>
            </a:fld>
            <a:endParaRPr lang="fr-FR"/>
          </a:p>
        </p:txBody>
      </p:sp>
    </p:spTree>
    <p:extLst>
      <p:ext uri="{BB962C8B-B14F-4D97-AF65-F5344CB8AC3E}">
        <p14:creationId xmlns:p14="http://schemas.microsoft.com/office/powerpoint/2010/main" val="3213377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F41394-6E52-4C44-8B2A-EA00A9307176}" type="datetimeFigureOut">
              <a:rPr lang="fr-FR" smtClean="0"/>
              <a:t>12/12/2025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B0FBC693-1DED-224C-BB4C-79088F2AA503}" type="slidenum">
              <a:rPr lang="fr-FR" smtClean="0"/>
              <a:t>‹N°›</a:t>
            </a:fld>
            <a:endParaRPr lang="fr-FR"/>
          </a:p>
        </p:txBody>
      </p:sp>
    </p:spTree>
    <p:extLst>
      <p:ext uri="{BB962C8B-B14F-4D97-AF65-F5344CB8AC3E}">
        <p14:creationId xmlns:p14="http://schemas.microsoft.com/office/powerpoint/2010/main" val="3162837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1F41394-6E52-4C44-8B2A-EA00A9307176}" type="datetimeFigureOut">
              <a:rPr lang="fr-FR" smtClean="0"/>
              <a:t>12/12/2025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B0FBC693-1DED-224C-BB4C-79088F2AA503}" type="slidenum">
              <a:rPr lang="fr-FR" smtClean="0"/>
              <a:t>‹N°›</a:t>
            </a:fld>
            <a:endParaRPr lang="fr-FR"/>
          </a:p>
        </p:txBody>
      </p:sp>
    </p:spTree>
    <p:extLst>
      <p:ext uri="{BB962C8B-B14F-4D97-AF65-F5344CB8AC3E}">
        <p14:creationId xmlns:p14="http://schemas.microsoft.com/office/powerpoint/2010/main" val="932468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F41394-6E52-4C44-8B2A-EA00A9307176}" type="datetimeFigureOut">
              <a:rPr lang="fr-FR" smtClean="0"/>
              <a:t>12/12/2025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B0FBC693-1DED-224C-BB4C-79088F2AA503}" type="slidenum">
              <a:rPr lang="fr-FR" smtClean="0"/>
              <a:t>‹N°›</a:t>
            </a:fld>
            <a:endParaRPr lang="fr-FR"/>
          </a:p>
        </p:txBody>
      </p:sp>
    </p:spTree>
    <p:extLst>
      <p:ext uri="{BB962C8B-B14F-4D97-AF65-F5344CB8AC3E}">
        <p14:creationId xmlns:p14="http://schemas.microsoft.com/office/powerpoint/2010/main" val="2518913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rgbClr val="00756C"/>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bg1"/>
                </a:solidFill>
              </a:defRPr>
            </a:lvl1pPr>
          </a:lstStyle>
          <a:p>
            <a:fld id="{C1F41394-6E52-4C44-8B2A-EA00A9307176}" type="datetimeFigureOut">
              <a:rPr lang="fr-FR" smtClean="0"/>
              <a:t>12/12/2025</a:t>
            </a:fld>
            <a:endParaRPr lang="fr-F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bg1"/>
                </a:solidFill>
              </a:defRPr>
            </a:lvl1pPr>
          </a:lstStyle>
          <a:p>
            <a:endParaRPr lang="fr-F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0FBC693-1DED-224C-BB4C-79088F2AA503}" type="slidenum">
              <a:rPr lang="fr-FR" smtClean="0"/>
              <a:t>‹N°›</a:t>
            </a:fld>
            <a:endParaRPr lang="fr-FR"/>
          </a:p>
        </p:txBody>
      </p:sp>
      <p:pic>
        <p:nvPicPr>
          <p:cNvPr id="10" name="Picture 9">
            <a:extLst>
              <a:ext uri="{FF2B5EF4-FFF2-40B4-BE49-F238E27FC236}">
                <a16:creationId xmlns:a16="http://schemas.microsoft.com/office/drawing/2014/main" id="{1C3C08A0-FB37-441A-01A3-5F44D53DCBC5}"/>
              </a:ext>
            </a:extLst>
          </p:cNvPr>
          <p:cNvPicPr>
            <a:picLocks noChangeAspect="1"/>
          </p:cNvPicPr>
          <p:nvPr/>
        </p:nvPicPr>
        <p:blipFill>
          <a:blip r:embed="rId2"/>
          <a:stretch>
            <a:fillRect/>
          </a:stretch>
        </p:blipFill>
        <p:spPr>
          <a:xfrm>
            <a:off x="5303520" y="0"/>
            <a:ext cx="322822" cy="6858000"/>
          </a:xfrm>
          <a:prstGeom prst="rect">
            <a:avLst/>
          </a:prstGeom>
        </p:spPr>
      </p:pic>
    </p:spTree>
    <p:extLst>
      <p:ext uri="{BB962C8B-B14F-4D97-AF65-F5344CB8AC3E}">
        <p14:creationId xmlns:p14="http://schemas.microsoft.com/office/powerpoint/2010/main" val="799542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Content with Caption">
    <p:spTree>
      <p:nvGrpSpPr>
        <p:cNvPr id="1" name=""/>
        <p:cNvGrpSpPr/>
        <p:nvPr/>
      </p:nvGrpSpPr>
      <p:grpSpPr>
        <a:xfrm>
          <a:off x="0" y="0"/>
          <a:ext cx="0" cy="0"/>
          <a:chOff x="0" y="0"/>
          <a:chExt cx="0" cy="0"/>
        </a:xfrm>
      </p:grpSpPr>
      <p:sp>
        <p:nvSpPr>
          <p:cNvPr id="8" name="Rectangle 7" title="Background Shape"/>
          <p:cNvSpPr/>
          <p:nvPr/>
        </p:nvSpPr>
        <p:spPr>
          <a:xfrm rot="16200000">
            <a:off x="5313123" y="-5338175"/>
            <a:ext cx="1553227" cy="12204526"/>
          </a:xfrm>
          <a:prstGeom prst="rect">
            <a:avLst/>
          </a:prstGeom>
          <a:solidFill>
            <a:srgbClr val="00756C"/>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Date Placeholder 4"/>
          <p:cNvSpPr>
            <a:spLocks noGrp="1"/>
          </p:cNvSpPr>
          <p:nvPr>
            <p:ph type="dt" sz="half" idx="10"/>
          </p:nvPr>
        </p:nvSpPr>
        <p:spPr>
          <a:xfrm>
            <a:off x="723900" y="6453386"/>
            <a:ext cx="1204572" cy="404614"/>
          </a:xfrm>
        </p:spPr>
        <p:txBody>
          <a:bodyPr/>
          <a:lstStyle>
            <a:lvl1pPr>
              <a:defRPr>
                <a:solidFill>
                  <a:schemeClr val="bg1"/>
                </a:solidFill>
              </a:defRPr>
            </a:lvl1pPr>
          </a:lstStyle>
          <a:p>
            <a:fld id="{C1F41394-6E52-4C44-8B2A-EA00A9307176}" type="datetimeFigureOut">
              <a:rPr lang="fr-FR" smtClean="0"/>
              <a:t>12/12/2025</a:t>
            </a:fld>
            <a:endParaRPr lang="fr-F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bg1"/>
                </a:solidFill>
              </a:defRPr>
            </a:lvl1pPr>
          </a:lstStyle>
          <a:p>
            <a:endParaRPr lang="fr-F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0FBC693-1DED-224C-BB4C-79088F2AA503}" type="slidenum">
              <a:rPr lang="fr-FR" smtClean="0"/>
              <a:t>‹N°›</a:t>
            </a:fld>
            <a:endParaRPr lang="fr-FR"/>
          </a:p>
        </p:txBody>
      </p:sp>
      <p:grpSp>
        <p:nvGrpSpPr>
          <p:cNvPr id="11" name="Group 10">
            <a:extLst>
              <a:ext uri="{FF2B5EF4-FFF2-40B4-BE49-F238E27FC236}">
                <a16:creationId xmlns:a16="http://schemas.microsoft.com/office/drawing/2014/main" id="{72FC23FC-2ADB-CC4E-734B-5ACE884BA63E}"/>
              </a:ext>
            </a:extLst>
          </p:cNvPr>
          <p:cNvGrpSpPr/>
          <p:nvPr/>
        </p:nvGrpSpPr>
        <p:grpSpPr>
          <a:xfrm>
            <a:off x="8350" y="1540836"/>
            <a:ext cx="12192001" cy="480983"/>
            <a:chOff x="-2" y="1245116"/>
            <a:chExt cx="12192001" cy="480983"/>
          </a:xfrm>
        </p:grpSpPr>
        <p:pic>
          <p:nvPicPr>
            <p:cNvPr id="12" name="Picture 11">
              <a:extLst>
                <a:ext uri="{FF2B5EF4-FFF2-40B4-BE49-F238E27FC236}">
                  <a16:creationId xmlns:a16="http://schemas.microsoft.com/office/drawing/2014/main" id="{B45FA1D7-0382-923F-A9B6-D950D5D0BF26}"/>
                </a:ext>
              </a:extLst>
            </p:cNvPr>
            <p:cNvPicPr>
              <a:picLocks noChangeAspect="1"/>
            </p:cNvPicPr>
            <p:nvPr/>
          </p:nvPicPr>
          <p:blipFill>
            <a:blip r:embed="rId2"/>
            <a:srcRect b="18969"/>
            <a:stretch/>
          </p:blipFill>
          <p:spPr>
            <a:xfrm rot="5400000">
              <a:off x="3899361" y="-2654247"/>
              <a:ext cx="480983" cy="8279709"/>
            </a:xfrm>
            <a:prstGeom prst="rect">
              <a:avLst/>
            </a:prstGeom>
          </p:spPr>
        </p:pic>
        <p:pic>
          <p:nvPicPr>
            <p:cNvPr id="13" name="Picture 12">
              <a:extLst>
                <a:ext uri="{FF2B5EF4-FFF2-40B4-BE49-F238E27FC236}">
                  <a16:creationId xmlns:a16="http://schemas.microsoft.com/office/drawing/2014/main" id="{FE0CF778-68EF-044D-79D8-DF712D24686E}"/>
                </a:ext>
              </a:extLst>
            </p:cNvPr>
            <p:cNvPicPr>
              <a:picLocks noChangeAspect="1"/>
            </p:cNvPicPr>
            <p:nvPr/>
          </p:nvPicPr>
          <p:blipFill>
            <a:blip r:embed="rId2"/>
            <a:srcRect t="61712"/>
            <a:stretch/>
          </p:blipFill>
          <p:spPr>
            <a:xfrm rot="5400000">
              <a:off x="9995363" y="-470538"/>
              <a:ext cx="480981" cy="3912291"/>
            </a:xfrm>
            <a:prstGeom prst="rect">
              <a:avLst/>
            </a:prstGeom>
          </p:spPr>
        </p:pic>
      </p:grpSp>
      <p:sp>
        <p:nvSpPr>
          <p:cNvPr id="15" name="Content Placeholder 14">
            <a:extLst>
              <a:ext uri="{FF2B5EF4-FFF2-40B4-BE49-F238E27FC236}">
                <a16:creationId xmlns:a16="http://schemas.microsoft.com/office/drawing/2014/main" id="{B476460F-8CB4-5A0D-D606-37007FB3B549}"/>
              </a:ext>
            </a:extLst>
          </p:cNvPr>
          <p:cNvSpPr>
            <a:spLocks noGrp="1"/>
          </p:cNvSpPr>
          <p:nvPr>
            <p:ph sz="quarter" idx="13"/>
          </p:nvPr>
        </p:nvSpPr>
        <p:spPr>
          <a:xfrm>
            <a:off x="723900" y="2354263"/>
            <a:ext cx="10755313" cy="3646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16" name="Title 15">
            <a:extLst>
              <a:ext uri="{FF2B5EF4-FFF2-40B4-BE49-F238E27FC236}">
                <a16:creationId xmlns:a16="http://schemas.microsoft.com/office/drawing/2014/main" id="{888BA582-7806-6F0E-F449-F8C43158586D}"/>
              </a:ext>
            </a:extLst>
          </p:cNvPr>
          <p:cNvSpPr>
            <a:spLocks noGrp="1"/>
          </p:cNvSpPr>
          <p:nvPr>
            <p:ph type="title"/>
          </p:nvPr>
        </p:nvSpPr>
        <p:spPr>
          <a:xfrm>
            <a:off x="723900" y="54803"/>
            <a:ext cx="9601200" cy="1485900"/>
          </a:xfrm>
        </p:spPr>
        <p:txBody>
          <a:bodyPr anchor="ctr"/>
          <a:lstStyle/>
          <a:p>
            <a:r>
              <a:rPr lang="en-US"/>
              <a:t>Click to edit Master title style</a:t>
            </a:r>
            <a:endParaRPr lang="fr-FR" dirty="0"/>
          </a:p>
        </p:txBody>
      </p:sp>
    </p:spTree>
    <p:extLst>
      <p:ext uri="{BB962C8B-B14F-4D97-AF65-F5344CB8AC3E}">
        <p14:creationId xmlns:p14="http://schemas.microsoft.com/office/powerpoint/2010/main" val="36902407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2_Content with Caption">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4F6D7CD-E263-58DA-0656-D81CA44F8DA1}"/>
              </a:ext>
            </a:extLst>
          </p:cNvPr>
          <p:cNvGrpSpPr/>
          <p:nvPr/>
        </p:nvGrpSpPr>
        <p:grpSpPr>
          <a:xfrm rot="10800000">
            <a:off x="0" y="4870838"/>
            <a:ext cx="12212877" cy="2034345"/>
            <a:chOff x="-12526" y="-12526"/>
            <a:chExt cx="12212877" cy="2034345"/>
          </a:xfrm>
        </p:grpSpPr>
        <p:sp>
          <p:nvSpPr>
            <p:cNvPr id="8" name="Rectangle 7" title="Background Shape"/>
            <p:cNvSpPr/>
            <p:nvPr/>
          </p:nvSpPr>
          <p:spPr>
            <a:xfrm rot="16200000">
              <a:off x="5313123" y="-5338175"/>
              <a:ext cx="1553227" cy="12204526"/>
            </a:xfrm>
            <a:prstGeom prst="rect">
              <a:avLst/>
            </a:prstGeom>
            <a:solidFill>
              <a:srgbClr val="00756C"/>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1" name="Group 10">
              <a:extLst>
                <a:ext uri="{FF2B5EF4-FFF2-40B4-BE49-F238E27FC236}">
                  <a16:creationId xmlns:a16="http://schemas.microsoft.com/office/drawing/2014/main" id="{72FC23FC-2ADB-CC4E-734B-5ACE884BA63E}"/>
                </a:ext>
              </a:extLst>
            </p:cNvPr>
            <p:cNvGrpSpPr/>
            <p:nvPr/>
          </p:nvGrpSpPr>
          <p:grpSpPr>
            <a:xfrm>
              <a:off x="8350" y="1540836"/>
              <a:ext cx="12192001" cy="480983"/>
              <a:chOff x="-2" y="1245116"/>
              <a:chExt cx="12192001" cy="480983"/>
            </a:xfrm>
          </p:grpSpPr>
          <p:pic>
            <p:nvPicPr>
              <p:cNvPr id="12" name="Picture 11">
                <a:extLst>
                  <a:ext uri="{FF2B5EF4-FFF2-40B4-BE49-F238E27FC236}">
                    <a16:creationId xmlns:a16="http://schemas.microsoft.com/office/drawing/2014/main" id="{B45FA1D7-0382-923F-A9B6-D950D5D0BF26}"/>
                  </a:ext>
                </a:extLst>
              </p:cNvPr>
              <p:cNvPicPr>
                <a:picLocks noChangeAspect="1"/>
              </p:cNvPicPr>
              <p:nvPr/>
            </p:nvPicPr>
            <p:blipFill>
              <a:blip r:embed="rId2"/>
              <a:srcRect b="18969"/>
              <a:stretch/>
            </p:blipFill>
            <p:spPr>
              <a:xfrm rot="5400000">
                <a:off x="3899361" y="-2654247"/>
                <a:ext cx="480983" cy="8279709"/>
              </a:xfrm>
              <a:prstGeom prst="rect">
                <a:avLst/>
              </a:prstGeom>
            </p:spPr>
          </p:pic>
          <p:pic>
            <p:nvPicPr>
              <p:cNvPr id="13" name="Picture 12">
                <a:extLst>
                  <a:ext uri="{FF2B5EF4-FFF2-40B4-BE49-F238E27FC236}">
                    <a16:creationId xmlns:a16="http://schemas.microsoft.com/office/drawing/2014/main" id="{FE0CF778-68EF-044D-79D8-DF712D24686E}"/>
                  </a:ext>
                </a:extLst>
              </p:cNvPr>
              <p:cNvPicPr>
                <a:picLocks noChangeAspect="1"/>
              </p:cNvPicPr>
              <p:nvPr/>
            </p:nvPicPr>
            <p:blipFill>
              <a:blip r:embed="rId2"/>
              <a:srcRect t="61712"/>
              <a:stretch/>
            </p:blipFill>
            <p:spPr>
              <a:xfrm rot="5400000">
                <a:off x="9995363" y="-470538"/>
                <a:ext cx="480981" cy="3912291"/>
              </a:xfrm>
              <a:prstGeom prst="rect">
                <a:avLst/>
              </a:prstGeom>
            </p:spPr>
          </p:pic>
        </p:grpSp>
      </p:grpSp>
      <p:sp>
        <p:nvSpPr>
          <p:cNvPr id="5" name="Date Placeholder 4"/>
          <p:cNvSpPr>
            <a:spLocks noGrp="1"/>
          </p:cNvSpPr>
          <p:nvPr>
            <p:ph type="dt" sz="half" idx="10"/>
          </p:nvPr>
        </p:nvSpPr>
        <p:spPr>
          <a:xfrm>
            <a:off x="723900" y="6453386"/>
            <a:ext cx="1204572" cy="404614"/>
          </a:xfrm>
        </p:spPr>
        <p:txBody>
          <a:bodyPr/>
          <a:lstStyle>
            <a:lvl1pPr>
              <a:defRPr>
                <a:solidFill>
                  <a:schemeClr val="bg1"/>
                </a:solidFill>
              </a:defRPr>
            </a:lvl1pPr>
          </a:lstStyle>
          <a:p>
            <a:fld id="{C1F41394-6E52-4C44-8B2A-EA00A9307176}" type="datetimeFigureOut">
              <a:rPr lang="fr-FR" smtClean="0"/>
              <a:t>12/12/2025</a:t>
            </a:fld>
            <a:endParaRPr lang="fr-F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bg1"/>
                </a:solidFill>
              </a:defRPr>
            </a:lvl1pPr>
          </a:lstStyle>
          <a:p>
            <a:endParaRPr lang="fr-F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0FBC693-1DED-224C-BB4C-79088F2AA503}" type="slidenum">
              <a:rPr lang="fr-FR" smtClean="0"/>
              <a:t>‹N°›</a:t>
            </a:fld>
            <a:endParaRPr lang="fr-FR"/>
          </a:p>
        </p:txBody>
      </p:sp>
      <p:sp>
        <p:nvSpPr>
          <p:cNvPr id="15" name="Content Placeholder 14">
            <a:extLst>
              <a:ext uri="{FF2B5EF4-FFF2-40B4-BE49-F238E27FC236}">
                <a16:creationId xmlns:a16="http://schemas.microsoft.com/office/drawing/2014/main" id="{B476460F-8CB4-5A0D-D606-37007FB3B549}"/>
              </a:ext>
            </a:extLst>
          </p:cNvPr>
          <p:cNvSpPr>
            <a:spLocks noGrp="1"/>
          </p:cNvSpPr>
          <p:nvPr>
            <p:ph sz="quarter" idx="13"/>
          </p:nvPr>
        </p:nvSpPr>
        <p:spPr>
          <a:xfrm>
            <a:off x="723900" y="1794077"/>
            <a:ext cx="10755313" cy="2847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
        <p:nvSpPr>
          <p:cNvPr id="16" name="Title 15">
            <a:extLst>
              <a:ext uri="{FF2B5EF4-FFF2-40B4-BE49-F238E27FC236}">
                <a16:creationId xmlns:a16="http://schemas.microsoft.com/office/drawing/2014/main" id="{888BA582-7806-6F0E-F449-F8C43158586D}"/>
              </a:ext>
            </a:extLst>
          </p:cNvPr>
          <p:cNvSpPr>
            <a:spLocks noGrp="1"/>
          </p:cNvSpPr>
          <p:nvPr>
            <p:ph type="title"/>
          </p:nvPr>
        </p:nvSpPr>
        <p:spPr>
          <a:xfrm>
            <a:off x="723900" y="54803"/>
            <a:ext cx="9601200" cy="1485900"/>
          </a:xfrm>
        </p:spPr>
        <p:txBody>
          <a:bodyPr anchor="ctr"/>
          <a:lstStyle/>
          <a:p>
            <a:r>
              <a:rPr lang="en-US"/>
              <a:t>Click to edit Master title style</a:t>
            </a:r>
            <a:endParaRPr lang="fr-FR" dirty="0"/>
          </a:p>
        </p:txBody>
      </p:sp>
    </p:spTree>
    <p:extLst>
      <p:ext uri="{BB962C8B-B14F-4D97-AF65-F5344CB8AC3E}">
        <p14:creationId xmlns:p14="http://schemas.microsoft.com/office/powerpoint/2010/main" val="280134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rgbClr val="00756C"/>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bg1"/>
                </a:solidFill>
              </a:defRPr>
            </a:lvl1pPr>
          </a:lstStyle>
          <a:p>
            <a:fld id="{C1F41394-6E52-4C44-8B2A-EA00A9307176}" type="datetimeFigureOut">
              <a:rPr lang="fr-FR" smtClean="0"/>
              <a:t>12/12/2025</a:t>
            </a:fld>
            <a:endParaRPr lang="fr-F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bg1"/>
                </a:solidFill>
              </a:defRPr>
            </a:lvl1pPr>
          </a:lstStyle>
          <a:p>
            <a:endParaRPr lang="fr-F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0FBC693-1DED-224C-BB4C-79088F2AA503}" type="slidenum">
              <a:rPr lang="fr-FR" smtClean="0"/>
              <a:t>‹N°›</a:t>
            </a:fld>
            <a:endParaRPr lang="fr-FR"/>
          </a:p>
        </p:txBody>
      </p:sp>
      <p:pic>
        <p:nvPicPr>
          <p:cNvPr id="10" name="Picture 9">
            <a:extLst>
              <a:ext uri="{FF2B5EF4-FFF2-40B4-BE49-F238E27FC236}">
                <a16:creationId xmlns:a16="http://schemas.microsoft.com/office/drawing/2014/main" id="{99A22765-E586-DDA8-405B-65133269A98F}"/>
              </a:ext>
            </a:extLst>
          </p:cNvPr>
          <p:cNvPicPr>
            <a:picLocks noChangeAspect="1"/>
          </p:cNvPicPr>
          <p:nvPr/>
        </p:nvPicPr>
        <p:blipFill>
          <a:blip r:embed="rId2"/>
          <a:stretch>
            <a:fillRect/>
          </a:stretch>
        </p:blipFill>
        <p:spPr>
          <a:xfrm>
            <a:off x="5308079" y="0"/>
            <a:ext cx="322822" cy="6858000"/>
          </a:xfrm>
          <a:prstGeom prst="rect">
            <a:avLst/>
          </a:prstGeom>
        </p:spPr>
      </p:pic>
    </p:spTree>
    <p:extLst>
      <p:ext uri="{BB962C8B-B14F-4D97-AF65-F5344CB8AC3E}">
        <p14:creationId xmlns:p14="http://schemas.microsoft.com/office/powerpoint/2010/main" val="4550912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F41394-6E52-4C44-8B2A-EA00A9307176}" type="datetimeFigureOut">
              <a:rPr lang="fr-FR" smtClean="0"/>
              <a:t>12/12/2025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FBC693-1DED-224C-BB4C-79088F2AA503}" type="slidenum">
              <a:rPr lang="fr-FR" smtClean="0"/>
              <a:t>‹N°›</a:t>
            </a:fld>
            <a:endParaRPr lang="fr-FR"/>
          </a:p>
        </p:txBody>
      </p:sp>
    </p:spTree>
    <p:extLst>
      <p:ext uri="{BB962C8B-B14F-4D97-AF65-F5344CB8AC3E}">
        <p14:creationId xmlns:p14="http://schemas.microsoft.com/office/powerpoint/2010/main" val="2537163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F41394-6E52-4C44-8B2A-EA00A9307176}" type="datetimeFigureOut">
              <a:rPr lang="fr-FR" smtClean="0"/>
              <a:t>12/12/2025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B0FBC693-1DED-224C-BB4C-79088F2AA503}" type="slidenum">
              <a:rPr lang="fr-FR" smtClean="0"/>
              <a:t>‹N°›</a:t>
            </a:fld>
            <a:endParaRPr lang="fr-FR"/>
          </a:p>
        </p:txBody>
      </p:sp>
    </p:spTree>
    <p:extLst>
      <p:ext uri="{BB962C8B-B14F-4D97-AF65-F5344CB8AC3E}">
        <p14:creationId xmlns:p14="http://schemas.microsoft.com/office/powerpoint/2010/main" val="3639672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C1F41394-6E52-4C44-8B2A-EA00A9307176}" type="datetimeFigureOut">
              <a:rPr lang="fr-FR" smtClean="0"/>
              <a:t>12/12/2025</a:t>
            </a:fld>
            <a:endParaRPr lang="fr-F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fr-F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B0FBC693-1DED-224C-BB4C-79088F2AA503}" type="slidenum">
              <a:rPr lang="fr-FR" smtClean="0"/>
              <a:t>‹N°›</a:t>
            </a:fld>
            <a:endParaRPr lang="fr-FR"/>
          </a:p>
        </p:txBody>
      </p:sp>
      <p:pic>
        <p:nvPicPr>
          <p:cNvPr id="7" name="Picture 6">
            <a:extLst>
              <a:ext uri="{FF2B5EF4-FFF2-40B4-BE49-F238E27FC236}">
                <a16:creationId xmlns:a16="http://schemas.microsoft.com/office/drawing/2014/main" id="{E5E13356-CA76-D254-A3F3-46E68A5F25DA}"/>
              </a:ext>
            </a:extLst>
          </p:cNvPr>
          <p:cNvPicPr>
            <a:picLocks noChangeAspect="1"/>
          </p:cNvPicPr>
          <p:nvPr/>
        </p:nvPicPr>
        <p:blipFill>
          <a:blip r:embed="rId18"/>
          <a:stretch>
            <a:fillRect/>
          </a:stretch>
        </p:blipFill>
        <p:spPr>
          <a:xfrm>
            <a:off x="519376" y="0"/>
            <a:ext cx="322822" cy="6858000"/>
          </a:xfrm>
          <a:prstGeom prst="rect">
            <a:avLst/>
          </a:prstGeom>
        </p:spPr>
      </p:pic>
    </p:spTree>
    <p:extLst>
      <p:ext uri="{BB962C8B-B14F-4D97-AF65-F5344CB8AC3E}">
        <p14:creationId xmlns:p14="http://schemas.microsoft.com/office/powerpoint/2010/main" val="23934819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87731-8AD8-A13C-B37F-F8A314C5F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3B3FF-0906-1F48-6554-EA1E2D63FE71}"/>
              </a:ext>
            </a:extLst>
          </p:cNvPr>
          <p:cNvSpPr>
            <a:spLocks noGrp="1"/>
          </p:cNvSpPr>
          <p:nvPr>
            <p:ph type="ctrTitle"/>
          </p:nvPr>
        </p:nvSpPr>
        <p:spPr>
          <a:xfrm>
            <a:off x="1915385" y="1328513"/>
            <a:ext cx="8361229" cy="4200973"/>
          </a:xfrm>
        </p:spPr>
        <p:txBody>
          <a:bodyPr anchor="ctr"/>
          <a:lstStyle/>
          <a:p>
            <a:r>
              <a:rPr lang="en-US" dirty="0" err="1"/>
              <a:t>Projet</a:t>
            </a:r>
            <a:r>
              <a:rPr lang="en-US" dirty="0"/>
              <a:t> </a:t>
            </a:r>
            <a:r>
              <a:rPr lang="en-US" dirty="0" err="1"/>
              <a:t>en</a:t>
            </a:r>
            <a:r>
              <a:rPr lang="en-US" dirty="0"/>
              <a:t> Système </a:t>
            </a:r>
            <a:r>
              <a:rPr lang="en-US" dirty="0" err="1"/>
              <a:t>d’information</a:t>
            </a:r>
            <a:endParaRPr lang="fr-FR" dirty="0"/>
          </a:p>
        </p:txBody>
      </p:sp>
    </p:spTree>
    <p:extLst>
      <p:ext uri="{BB962C8B-B14F-4D97-AF65-F5344CB8AC3E}">
        <p14:creationId xmlns:p14="http://schemas.microsoft.com/office/powerpoint/2010/main" val="2259662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C2B5DD-5657-FDE9-5A27-DAE72D1FE697}"/>
              </a:ext>
            </a:extLst>
          </p:cNvPr>
          <p:cNvSpPr>
            <a:spLocks noGrp="1"/>
          </p:cNvSpPr>
          <p:nvPr>
            <p:ph type="title"/>
          </p:nvPr>
        </p:nvSpPr>
        <p:spPr/>
        <p:txBody>
          <a:bodyPr>
            <a:normAutofit/>
          </a:bodyPr>
          <a:lstStyle/>
          <a:p>
            <a:r>
              <a:rPr lang="fr-FR" dirty="0"/>
              <a:t>Plan</a:t>
            </a:r>
          </a:p>
        </p:txBody>
      </p:sp>
      <p:sp>
        <p:nvSpPr>
          <p:cNvPr id="3" name="Espace réservé du texte 2">
            <a:extLst>
              <a:ext uri="{FF2B5EF4-FFF2-40B4-BE49-F238E27FC236}">
                <a16:creationId xmlns:a16="http://schemas.microsoft.com/office/drawing/2014/main" id="{07E6CF3E-E4F3-AE2A-7A06-417710ED2A34}"/>
              </a:ext>
            </a:extLst>
          </p:cNvPr>
          <p:cNvSpPr>
            <a:spLocks noGrp="1"/>
          </p:cNvSpPr>
          <p:nvPr>
            <p:ph type="body" idx="1"/>
          </p:nvPr>
        </p:nvSpPr>
        <p:spPr/>
        <p:txBody>
          <a:bodyPr>
            <a:normAutofit/>
          </a:bodyPr>
          <a:lstStyle/>
          <a:p>
            <a:pPr algn="l"/>
            <a:r>
              <a:rPr lang="fr-MA" b="1" dirty="0"/>
              <a:t>PARTIE 1 : Introduction et cadrage </a:t>
            </a:r>
          </a:p>
          <a:p>
            <a:pPr algn="l"/>
            <a:r>
              <a:rPr lang="fr-MA" b="1" dirty="0"/>
              <a:t>PARTIE 2 : Méthodologies de gestion de projet SI</a:t>
            </a:r>
          </a:p>
          <a:p>
            <a:pPr marL="342900" indent="-342900" algn="l">
              <a:buFont typeface="Arial" panose="020B0604020202020204" pitchFamily="34" charset="0"/>
              <a:buChar char="•"/>
            </a:pPr>
            <a:r>
              <a:rPr lang="fr-MA" dirty="0"/>
              <a:t>Méthodologies traditionnelles vs agiles</a:t>
            </a:r>
          </a:p>
          <a:p>
            <a:pPr marL="342900" indent="-342900" algn="l">
              <a:buFont typeface="Arial" panose="020B0604020202020204" pitchFamily="34" charset="0"/>
              <a:buChar char="•"/>
            </a:pPr>
            <a:r>
              <a:rPr lang="fr-MA" dirty="0"/>
              <a:t>Outils et bonnes pratiques</a:t>
            </a:r>
          </a:p>
          <a:p>
            <a:pPr algn="l"/>
            <a:r>
              <a:rPr lang="fr-MA" b="1" dirty="0"/>
              <a:t>PARTIE 3 : Présentation des 50 sujets de projets</a:t>
            </a:r>
          </a:p>
          <a:p>
            <a:pPr marL="342900" indent="-342900" algn="l">
              <a:buFont typeface="Arial" panose="020B0604020202020204" pitchFamily="34" charset="0"/>
              <a:buChar char="•"/>
            </a:pPr>
            <a:r>
              <a:rPr lang="fr-MA" dirty="0"/>
              <a:t>Catalogue des projets avec modules requis</a:t>
            </a:r>
          </a:p>
          <a:p>
            <a:pPr algn="l"/>
            <a:r>
              <a:rPr lang="fr-MA" b="1" dirty="0"/>
              <a:t>PARTIE 4 : Cycle de vie détaillé et livrables</a:t>
            </a:r>
          </a:p>
          <a:p>
            <a:pPr marL="342900" indent="-342900" algn="l">
              <a:buFont typeface="Arial" panose="020B0604020202020204" pitchFamily="34" charset="0"/>
              <a:buChar char="•"/>
            </a:pPr>
            <a:r>
              <a:rPr lang="fr-MA" dirty="0"/>
              <a:t>Détail de chaque phase</a:t>
            </a:r>
          </a:p>
          <a:p>
            <a:pPr marL="342900" indent="-342900" algn="l">
              <a:buFont typeface="Arial" panose="020B0604020202020204" pitchFamily="34" charset="0"/>
              <a:buChar char="•"/>
            </a:pPr>
            <a:r>
              <a:rPr lang="fr-MA" dirty="0" err="1"/>
              <a:t>Templates</a:t>
            </a:r>
            <a:r>
              <a:rPr lang="fr-MA" dirty="0"/>
              <a:t> et exemples</a:t>
            </a:r>
          </a:p>
        </p:txBody>
      </p:sp>
    </p:spTree>
    <p:extLst>
      <p:ext uri="{BB962C8B-B14F-4D97-AF65-F5344CB8AC3E}">
        <p14:creationId xmlns:p14="http://schemas.microsoft.com/office/powerpoint/2010/main" val="2077927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C58D2E-8AEE-65E2-ED46-50A83AE73F7E}"/>
              </a:ext>
            </a:extLst>
          </p:cNvPr>
          <p:cNvSpPr>
            <a:spLocks noGrp="1"/>
          </p:cNvSpPr>
          <p:nvPr>
            <p:ph type="title"/>
          </p:nvPr>
        </p:nvSpPr>
        <p:spPr>
          <a:xfrm>
            <a:off x="738907" y="-320040"/>
            <a:ext cx="10559569" cy="1327481"/>
          </a:xfrm>
        </p:spPr>
        <p:txBody>
          <a:bodyPr>
            <a:noAutofit/>
          </a:bodyPr>
          <a:lstStyle/>
          <a:p>
            <a:r>
              <a:rPr lang="fr-MA" sz="4800" dirty="0"/>
              <a:t>PARTIE 1 : CYCLE DE VIE DU PROJET SI</a:t>
            </a:r>
            <a:endParaRPr lang="fr-FR" sz="4800" dirty="0"/>
          </a:p>
        </p:txBody>
      </p:sp>
      <p:sp>
        <p:nvSpPr>
          <p:cNvPr id="3" name="Espace réservé du texte 2">
            <a:extLst>
              <a:ext uri="{FF2B5EF4-FFF2-40B4-BE49-F238E27FC236}">
                <a16:creationId xmlns:a16="http://schemas.microsoft.com/office/drawing/2014/main" id="{7D6643D7-8714-C483-1806-09401CB86175}"/>
              </a:ext>
            </a:extLst>
          </p:cNvPr>
          <p:cNvSpPr>
            <a:spLocks noGrp="1"/>
          </p:cNvSpPr>
          <p:nvPr>
            <p:ph type="body" idx="1"/>
          </p:nvPr>
        </p:nvSpPr>
        <p:spPr/>
        <p:txBody>
          <a:bodyPr/>
          <a:lstStyle/>
          <a:p>
            <a:pPr algn="l"/>
            <a:r>
              <a:rPr lang="fr-MA" sz="2800" b="1" dirty="0"/>
              <a:t>Le cycle de vie d'un projet SI se compose de 6 phases principales :</a:t>
            </a:r>
          </a:p>
          <a:p>
            <a:pPr marL="342900" indent="-342900" algn="l">
              <a:buFont typeface="Arial" panose="020B0604020202020204" pitchFamily="34" charset="0"/>
              <a:buChar char="•"/>
            </a:pPr>
            <a:r>
              <a:rPr lang="fr-MA" b="1" dirty="0"/>
              <a:t>Cadrage et Initialisation</a:t>
            </a:r>
            <a:r>
              <a:rPr lang="fr-MA" dirty="0"/>
              <a:t> </a:t>
            </a:r>
          </a:p>
          <a:p>
            <a:pPr marL="342900" indent="-342900" algn="l">
              <a:buFont typeface="Arial" panose="020B0604020202020204" pitchFamily="34" charset="0"/>
              <a:buChar char="•"/>
            </a:pPr>
            <a:r>
              <a:rPr lang="fr-MA" b="1" dirty="0"/>
              <a:t>Analyse et Conception</a:t>
            </a:r>
            <a:r>
              <a:rPr lang="fr-MA" dirty="0"/>
              <a:t> </a:t>
            </a:r>
          </a:p>
          <a:p>
            <a:pPr marL="342900" indent="-342900" algn="l">
              <a:buFont typeface="Arial" panose="020B0604020202020204" pitchFamily="34" charset="0"/>
              <a:buChar char="•"/>
            </a:pPr>
            <a:r>
              <a:rPr lang="fr-MA" b="1" dirty="0"/>
              <a:t>Développement</a:t>
            </a:r>
            <a:r>
              <a:rPr lang="fr-MA" dirty="0"/>
              <a:t> </a:t>
            </a:r>
          </a:p>
          <a:p>
            <a:pPr marL="342900" indent="-342900" algn="l">
              <a:buFont typeface="Arial" panose="020B0604020202020204" pitchFamily="34" charset="0"/>
              <a:buChar char="•"/>
            </a:pPr>
            <a:r>
              <a:rPr lang="fr-MA" b="1" dirty="0"/>
              <a:t>Tests et Validation</a:t>
            </a:r>
            <a:r>
              <a:rPr lang="fr-MA" dirty="0"/>
              <a:t> </a:t>
            </a:r>
          </a:p>
          <a:p>
            <a:pPr marL="342900" indent="-342900" algn="l">
              <a:buFont typeface="Arial" panose="020B0604020202020204" pitchFamily="34" charset="0"/>
              <a:buChar char="•"/>
            </a:pPr>
            <a:r>
              <a:rPr lang="fr-MA" b="1" dirty="0"/>
              <a:t>Déploiement</a:t>
            </a:r>
            <a:r>
              <a:rPr lang="fr-MA" dirty="0"/>
              <a:t> </a:t>
            </a:r>
          </a:p>
          <a:p>
            <a:pPr marL="342900" indent="-342900" algn="l">
              <a:buFont typeface="Arial" panose="020B0604020202020204" pitchFamily="34" charset="0"/>
              <a:buChar char="•"/>
            </a:pPr>
            <a:r>
              <a:rPr lang="fr-MA" b="1" dirty="0"/>
              <a:t>Maintenance </a:t>
            </a:r>
            <a:r>
              <a:rPr lang="fr-MA" b="1"/>
              <a:t>et Support</a:t>
            </a:r>
            <a:endParaRPr lang="fr-FR" dirty="0"/>
          </a:p>
        </p:txBody>
      </p:sp>
    </p:spTree>
    <p:extLst>
      <p:ext uri="{BB962C8B-B14F-4D97-AF65-F5344CB8AC3E}">
        <p14:creationId xmlns:p14="http://schemas.microsoft.com/office/powerpoint/2010/main" val="1972059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AF174-E446-757C-4D14-1A42C450B33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23C2E8B-9897-0E47-5CCA-EAD451A4C5C0}"/>
              </a:ext>
            </a:extLst>
          </p:cNvPr>
          <p:cNvSpPr>
            <a:spLocks noGrp="1"/>
          </p:cNvSpPr>
          <p:nvPr>
            <p:ph type="title"/>
          </p:nvPr>
        </p:nvSpPr>
        <p:spPr>
          <a:xfrm>
            <a:off x="177801" y="-320040"/>
            <a:ext cx="11120676" cy="1327481"/>
          </a:xfrm>
        </p:spPr>
        <p:txBody>
          <a:bodyPr>
            <a:noAutofit/>
          </a:bodyPr>
          <a:lstStyle/>
          <a:p>
            <a:r>
              <a:rPr lang="fr-MA" sz="3600" dirty="0"/>
              <a:t>Partie 2 : MÉTHODOLOGIES DE GESTION DE PROJET</a:t>
            </a:r>
            <a:endParaRPr lang="fr-FR" sz="3600" dirty="0"/>
          </a:p>
        </p:txBody>
      </p:sp>
      <p:sp>
        <p:nvSpPr>
          <p:cNvPr id="3" name="Espace réservé du texte 2">
            <a:extLst>
              <a:ext uri="{FF2B5EF4-FFF2-40B4-BE49-F238E27FC236}">
                <a16:creationId xmlns:a16="http://schemas.microsoft.com/office/drawing/2014/main" id="{156B29FA-4197-B653-2582-E75113CD079E}"/>
              </a:ext>
            </a:extLst>
          </p:cNvPr>
          <p:cNvSpPr>
            <a:spLocks noGrp="1"/>
          </p:cNvSpPr>
          <p:nvPr>
            <p:ph type="body" idx="1"/>
          </p:nvPr>
        </p:nvSpPr>
        <p:spPr/>
        <p:txBody>
          <a:bodyPr>
            <a:normAutofit fontScale="55000" lnSpcReduction="20000"/>
          </a:bodyPr>
          <a:lstStyle/>
          <a:p>
            <a:pPr algn="l"/>
            <a:r>
              <a:rPr lang="fr-MA" sz="2800" b="1" dirty="0"/>
              <a:t>A. MÉTHODOLOGIES TRADITIONNELLES</a:t>
            </a:r>
          </a:p>
          <a:p>
            <a:pPr algn="l"/>
            <a:r>
              <a:rPr lang="fr-MA" sz="2800" b="1" dirty="0"/>
              <a:t>1. CYCLE EN CASCADE (</a:t>
            </a:r>
            <a:r>
              <a:rPr lang="fr-MA" sz="2800" b="1" dirty="0" err="1"/>
              <a:t>Waterfall</a:t>
            </a:r>
            <a:r>
              <a:rPr lang="fr-MA" sz="2800" b="1" dirty="0"/>
              <a:t>)</a:t>
            </a:r>
          </a:p>
          <a:p>
            <a:pPr algn="l"/>
            <a:r>
              <a:rPr lang="fr-MA" sz="2800" b="1" dirty="0"/>
              <a:t>Caractéristiques :</a:t>
            </a:r>
            <a:endParaRPr lang="fr-MA" sz="2800" dirty="0"/>
          </a:p>
          <a:p>
            <a:pPr marL="457200" indent="-457200" algn="l">
              <a:buFont typeface="Arial" panose="020B0604020202020204" pitchFamily="34" charset="0"/>
              <a:buChar char="•"/>
            </a:pPr>
            <a:r>
              <a:rPr lang="fr-MA" sz="2800" dirty="0"/>
              <a:t>Approche séquentielle et linéaire</a:t>
            </a:r>
          </a:p>
          <a:p>
            <a:pPr marL="457200" indent="-457200" algn="l">
              <a:buFont typeface="Arial" panose="020B0604020202020204" pitchFamily="34" charset="0"/>
              <a:buChar char="•"/>
            </a:pPr>
            <a:r>
              <a:rPr lang="fr-MA" sz="2800" dirty="0"/>
              <a:t>Chaque phase doit être complétée avant la suivante</a:t>
            </a:r>
          </a:p>
          <a:p>
            <a:pPr marL="457200" indent="-457200" algn="l">
              <a:buFont typeface="Arial" panose="020B0604020202020204" pitchFamily="34" charset="0"/>
              <a:buChar char="•"/>
            </a:pPr>
            <a:r>
              <a:rPr lang="fr-MA" sz="2800" dirty="0"/>
              <a:t>Documentation exhaustive</a:t>
            </a:r>
          </a:p>
          <a:p>
            <a:pPr algn="l"/>
            <a:r>
              <a:rPr lang="fr-MA" sz="2800" b="1" dirty="0"/>
              <a:t>Avantages :</a:t>
            </a:r>
            <a:endParaRPr lang="fr-MA" sz="2800" dirty="0"/>
          </a:p>
          <a:p>
            <a:pPr marL="457200" indent="-457200" algn="l">
              <a:buFont typeface="Arial" panose="020B0604020202020204" pitchFamily="34" charset="0"/>
              <a:buChar char="•"/>
            </a:pPr>
            <a:r>
              <a:rPr lang="fr-MA" sz="2800" dirty="0"/>
              <a:t>Structure claire et prévisible</a:t>
            </a:r>
          </a:p>
          <a:p>
            <a:pPr marL="457200" indent="-457200" algn="l">
              <a:buFont typeface="Arial" panose="020B0604020202020204" pitchFamily="34" charset="0"/>
              <a:buChar char="•"/>
            </a:pPr>
            <a:r>
              <a:rPr lang="fr-MA" sz="2800" dirty="0"/>
              <a:t>Facile à gérer pour les débutants</a:t>
            </a:r>
          </a:p>
          <a:p>
            <a:pPr marL="457200" indent="-457200" algn="l">
              <a:buFont typeface="Arial" panose="020B0604020202020204" pitchFamily="34" charset="0"/>
              <a:buChar char="•"/>
            </a:pPr>
            <a:r>
              <a:rPr lang="fr-MA" sz="2800" dirty="0"/>
              <a:t>Documentation complète</a:t>
            </a:r>
          </a:p>
          <a:p>
            <a:pPr algn="l"/>
            <a:r>
              <a:rPr lang="fr-MA" sz="2800" b="1" dirty="0"/>
              <a:t>Inconvénients :</a:t>
            </a:r>
            <a:endParaRPr lang="fr-MA" sz="2800" dirty="0"/>
          </a:p>
          <a:p>
            <a:pPr marL="457200" indent="-457200" algn="l">
              <a:buFont typeface="Arial" panose="020B0604020202020204" pitchFamily="34" charset="0"/>
              <a:buChar char="•"/>
            </a:pPr>
            <a:r>
              <a:rPr lang="fr-MA" sz="2800" dirty="0"/>
              <a:t>Peu flexible aux changements</a:t>
            </a:r>
          </a:p>
          <a:p>
            <a:pPr marL="457200" indent="-457200" algn="l">
              <a:buFont typeface="Arial" panose="020B0604020202020204" pitchFamily="34" charset="0"/>
              <a:buChar char="•"/>
            </a:pPr>
            <a:r>
              <a:rPr lang="fr-MA" sz="2800" dirty="0"/>
              <a:t>Risque de décalage avec les besoins réels</a:t>
            </a:r>
          </a:p>
          <a:p>
            <a:pPr marL="457200" indent="-457200" algn="l">
              <a:buFont typeface="Arial" panose="020B0604020202020204" pitchFamily="34" charset="0"/>
              <a:buChar char="•"/>
            </a:pPr>
            <a:r>
              <a:rPr lang="fr-MA" sz="2800" dirty="0"/>
              <a:t>Tests tardifs</a:t>
            </a:r>
          </a:p>
          <a:p>
            <a:pPr algn="l"/>
            <a:r>
              <a:rPr lang="fr-MA" sz="2800" b="1" dirty="0"/>
              <a:t>Quand l'utiliser :</a:t>
            </a:r>
            <a:endParaRPr lang="fr-MA" sz="2800" dirty="0"/>
          </a:p>
          <a:p>
            <a:pPr marL="457200" indent="-457200" algn="l">
              <a:buFont typeface="Arial" panose="020B0604020202020204" pitchFamily="34" charset="0"/>
              <a:buChar char="•"/>
            </a:pPr>
            <a:r>
              <a:rPr lang="fr-MA" sz="2800" dirty="0"/>
              <a:t>Projets avec exigences stables et bien définies</a:t>
            </a:r>
          </a:p>
          <a:p>
            <a:pPr marL="457200" indent="-457200" algn="l">
              <a:buFont typeface="Arial" panose="020B0604020202020204" pitchFamily="34" charset="0"/>
              <a:buChar char="•"/>
            </a:pPr>
            <a:r>
              <a:rPr lang="fr-MA" sz="2800" dirty="0"/>
              <a:t>Environnements réglementés</a:t>
            </a:r>
          </a:p>
          <a:p>
            <a:pPr marL="457200" indent="-457200" algn="l">
              <a:buFont typeface="Arial" panose="020B0604020202020204" pitchFamily="34" charset="0"/>
              <a:buChar char="•"/>
            </a:pPr>
            <a:r>
              <a:rPr lang="fr-MA" sz="2800" dirty="0"/>
              <a:t>Équipes peu expérimentées</a:t>
            </a:r>
          </a:p>
          <a:p>
            <a:pPr algn="l"/>
            <a:endParaRPr lang="fr-FR" dirty="0"/>
          </a:p>
        </p:txBody>
      </p:sp>
    </p:spTree>
    <p:extLst>
      <p:ext uri="{BB962C8B-B14F-4D97-AF65-F5344CB8AC3E}">
        <p14:creationId xmlns:p14="http://schemas.microsoft.com/office/powerpoint/2010/main" val="3944142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5AEDE-A8A6-08F1-7E99-D64158ED861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5A25ACC-D482-0009-2ADA-A19186409284}"/>
              </a:ext>
            </a:extLst>
          </p:cNvPr>
          <p:cNvSpPr>
            <a:spLocks noGrp="1"/>
          </p:cNvSpPr>
          <p:nvPr>
            <p:ph type="title"/>
          </p:nvPr>
        </p:nvSpPr>
        <p:spPr>
          <a:xfrm>
            <a:off x="177801" y="-320040"/>
            <a:ext cx="11120676" cy="1327481"/>
          </a:xfrm>
        </p:spPr>
        <p:txBody>
          <a:bodyPr>
            <a:noAutofit/>
          </a:bodyPr>
          <a:lstStyle/>
          <a:p>
            <a:r>
              <a:rPr lang="fr-MA" sz="3600" dirty="0"/>
              <a:t>Partie 2 : MÉTHODOLOGIES DE GESTION DE PROJET</a:t>
            </a:r>
            <a:endParaRPr lang="fr-FR" sz="3600" dirty="0"/>
          </a:p>
        </p:txBody>
      </p:sp>
      <p:sp>
        <p:nvSpPr>
          <p:cNvPr id="3" name="Espace réservé du texte 2">
            <a:extLst>
              <a:ext uri="{FF2B5EF4-FFF2-40B4-BE49-F238E27FC236}">
                <a16:creationId xmlns:a16="http://schemas.microsoft.com/office/drawing/2014/main" id="{D3F385FA-C40E-1D07-BAA0-F699BA5FD71E}"/>
              </a:ext>
            </a:extLst>
          </p:cNvPr>
          <p:cNvSpPr>
            <a:spLocks noGrp="1"/>
          </p:cNvSpPr>
          <p:nvPr>
            <p:ph type="body" idx="1"/>
          </p:nvPr>
        </p:nvSpPr>
        <p:spPr/>
        <p:txBody>
          <a:bodyPr>
            <a:normAutofit fontScale="85000" lnSpcReduction="20000"/>
          </a:bodyPr>
          <a:lstStyle/>
          <a:p>
            <a:pPr algn="l"/>
            <a:r>
              <a:rPr lang="fr-MA" sz="2800" b="1" dirty="0"/>
              <a:t>2. CYCLE EN V</a:t>
            </a:r>
          </a:p>
          <a:p>
            <a:pPr algn="l"/>
            <a:r>
              <a:rPr lang="fr-MA" sz="2800" b="1" dirty="0"/>
              <a:t>Caractéristiques :</a:t>
            </a:r>
            <a:endParaRPr lang="fr-MA" sz="2800" dirty="0"/>
          </a:p>
          <a:p>
            <a:pPr marL="457200" indent="-457200" algn="l">
              <a:buFont typeface="Arial" panose="020B0604020202020204" pitchFamily="34" charset="0"/>
              <a:buChar char="•"/>
            </a:pPr>
            <a:r>
              <a:rPr lang="fr-MA" sz="2800" dirty="0"/>
              <a:t>Extension du modèle en cascade</a:t>
            </a:r>
          </a:p>
          <a:p>
            <a:pPr marL="457200" indent="-457200" algn="l">
              <a:buFont typeface="Arial" panose="020B0604020202020204" pitchFamily="34" charset="0"/>
              <a:buChar char="•"/>
            </a:pPr>
            <a:r>
              <a:rPr lang="fr-MA" sz="2800" dirty="0"/>
              <a:t>Chaque phase de développement a une phase de test correspondante</a:t>
            </a:r>
          </a:p>
          <a:p>
            <a:pPr marL="457200" indent="-457200" algn="l">
              <a:buFont typeface="Arial" panose="020B0604020202020204" pitchFamily="34" charset="0"/>
              <a:buChar char="•"/>
            </a:pPr>
            <a:r>
              <a:rPr lang="fr-MA" sz="2800" dirty="0"/>
              <a:t>Validation continue</a:t>
            </a:r>
          </a:p>
          <a:p>
            <a:pPr algn="l"/>
            <a:r>
              <a:rPr lang="fr-MA" sz="2800" b="1" dirty="0"/>
              <a:t>Phases :</a:t>
            </a:r>
            <a:endParaRPr lang="fr-MA" sz="2800" dirty="0"/>
          </a:p>
          <a:p>
            <a:pPr marL="457200" indent="-457200" algn="l">
              <a:buFont typeface="Arial" panose="020B0604020202020204" pitchFamily="34" charset="0"/>
              <a:buChar char="•"/>
            </a:pPr>
            <a:r>
              <a:rPr lang="fr-MA" sz="2800" dirty="0"/>
              <a:t>Descente : Analyse → Conception → Codage</a:t>
            </a:r>
          </a:p>
          <a:p>
            <a:pPr marL="457200" indent="-457200" algn="l">
              <a:buFont typeface="Arial" panose="020B0604020202020204" pitchFamily="34" charset="0"/>
              <a:buChar char="•"/>
            </a:pPr>
            <a:r>
              <a:rPr lang="fr-MA" sz="2800" dirty="0"/>
              <a:t>Remontée : Tests unitaires → Tests d'intégration → Tests de validation</a:t>
            </a:r>
          </a:p>
          <a:p>
            <a:pPr algn="l"/>
            <a:r>
              <a:rPr lang="fr-MA" sz="2800" b="1" dirty="0"/>
              <a:t>Avantages :</a:t>
            </a:r>
            <a:endParaRPr lang="fr-MA" sz="2800" dirty="0"/>
          </a:p>
          <a:p>
            <a:pPr marL="457200" indent="-457200" algn="l">
              <a:buFont typeface="Arial" panose="020B0604020202020204" pitchFamily="34" charset="0"/>
              <a:buChar char="•"/>
            </a:pPr>
            <a:r>
              <a:rPr lang="fr-MA" sz="2800" dirty="0"/>
              <a:t>Détection précoce des erreurs</a:t>
            </a:r>
          </a:p>
          <a:p>
            <a:pPr marL="457200" indent="-457200" algn="l">
              <a:buFont typeface="Arial" panose="020B0604020202020204" pitchFamily="34" charset="0"/>
              <a:buChar char="•"/>
            </a:pPr>
            <a:r>
              <a:rPr lang="fr-MA" sz="2800" dirty="0"/>
              <a:t>Traçabilité entre exigences et tests</a:t>
            </a:r>
          </a:p>
          <a:p>
            <a:pPr marL="457200" indent="-457200" algn="l">
              <a:buFont typeface="Arial" panose="020B0604020202020204" pitchFamily="34" charset="0"/>
              <a:buChar char="•"/>
            </a:pPr>
            <a:r>
              <a:rPr lang="fr-MA" sz="2800" dirty="0"/>
              <a:t>Qualité améliorée</a:t>
            </a:r>
          </a:p>
          <a:p>
            <a:pPr algn="l"/>
            <a:endParaRPr lang="fr-FR" dirty="0"/>
          </a:p>
        </p:txBody>
      </p:sp>
    </p:spTree>
    <p:extLst>
      <p:ext uri="{BB962C8B-B14F-4D97-AF65-F5344CB8AC3E}">
        <p14:creationId xmlns:p14="http://schemas.microsoft.com/office/powerpoint/2010/main" val="3514960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D11DE-5A96-E6EA-7828-A97BBDBAAF2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82E388B-0401-FD6F-7FC2-1C95CF0BAE97}"/>
              </a:ext>
            </a:extLst>
          </p:cNvPr>
          <p:cNvSpPr>
            <a:spLocks noGrp="1"/>
          </p:cNvSpPr>
          <p:nvPr>
            <p:ph type="title"/>
          </p:nvPr>
        </p:nvSpPr>
        <p:spPr>
          <a:xfrm>
            <a:off x="177801" y="-320040"/>
            <a:ext cx="11120676" cy="1327481"/>
          </a:xfrm>
        </p:spPr>
        <p:txBody>
          <a:bodyPr>
            <a:noAutofit/>
          </a:bodyPr>
          <a:lstStyle/>
          <a:p>
            <a:r>
              <a:rPr lang="fr-MA" sz="3600" dirty="0"/>
              <a:t>Partie 2 : MÉTHODOLOGIES DE GESTION DE PROJET</a:t>
            </a:r>
            <a:endParaRPr lang="fr-FR" sz="3600" dirty="0"/>
          </a:p>
        </p:txBody>
      </p:sp>
      <p:sp>
        <p:nvSpPr>
          <p:cNvPr id="3" name="Espace réservé du texte 2">
            <a:extLst>
              <a:ext uri="{FF2B5EF4-FFF2-40B4-BE49-F238E27FC236}">
                <a16:creationId xmlns:a16="http://schemas.microsoft.com/office/drawing/2014/main" id="{9DEA31CE-8003-76E8-B444-803C2B89F88F}"/>
              </a:ext>
            </a:extLst>
          </p:cNvPr>
          <p:cNvSpPr>
            <a:spLocks noGrp="1"/>
          </p:cNvSpPr>
          <p:nvPr>
            <p:ph type="body" idx="1"/>
          </p:nvPr>
        </p:nvSpPr>
        <p:spPr/>
        <p:txBody>
          <a:bodyPr>
            <a:normAutofit fontScale="92500" lnSpcReduction="10000"/>
          </a:bodyPr>
          <a:lstStyle/>
          <a:p>
            <a:pPr algn="l"/>
            <a:r>
              <a:rPr lang="fr-MA" sz="2800" b="1" dirty="0"/>
              <a:t>3. MÉTHODE MERISE</a:t>
            </a:r>
          </a:p>
          <a:p>
            <a:pPr algn="l"/>
            <a:r>
              <a:rPr lang="fr-MA" sz="2800" b="1" dirty="0"/>
              <a:t>Spécificité française pour les SI</a:t>
            </a:r>
            <a:endParaRPr lang="fr-MA" sz="2800" dirty="0"/>
          </a:p>
          <a:p>
            <a:pPr algn="l"/>
            <a:r>
              <a:rPr lang="fr-MA" sz="2800" b="1" dirty="0"/>
              <a:t>Niveaux d'abstraction :</a:t>
            </a:r>
            <a:endParaRPr lang="fr-MA" sz="2800" dirty="0"/>
          </a:p>
          <a:p>
            <a:pPr marL="457200" indent="-457200" algn="l">
              <a:buFont typeface="Arial" panose="020B0604020202020204" pitchFamily="34" charset="0"/>
              <a:buChar char="•"/>
            </a:pPr>
            <a:r>
              <a:rPr lang="fr-MA" sz="2800" dirty="0"/>
              <a:t>Niveau conceptuel (MCD, MCT)</a:t>
            </a:r>
          </a:p>
          <a:p>
            <a:pPr marL="457200" indent="-457200" algn="l">
              <a:buFont typeface="Arial" panose="020B0604020202020204" pitchFamily="34" charset="0"/>
              <a:buChar char="•"/>
            </a:pPr>
            <a:r>
              <a:rPr lang="fr-MA" sz="2800" dirty="0"/>
              <a:t>Niveau logique/organisationnel (MLD, MOT)</a:t>
            </a:r>
          </a:p>
          <a:p>
            <a:pPr marL="457200" indent="-457200" algn="l">
              <a:buFont typeface="Arial" panose="020B0604020202020204" pitchFamily="34" charset="0"/>
              <a:buChar char="•"/>
            </a:pPr>
            <a:r>
              <a:rPr lang="fr-MA" sz="2800" dirty="0"/>
              <a:t>Niveau physique (MPD)</a:t>
            </a:r>
          </a:p>
          <a:p>
            <a:pPr algn="l"/>
            <a:r>
              <a:rPr lang="fr-MA" sz="2800" b="1" dirty="0"/>
              <a:t>Adapté pour :</a:t>
            </a:r>
            <a:endParaRPr lang="fr-MA" sz="2800" dirty="0"/>
          </a:p>
          <a:p>
            <a:pPr marL="457200" indent="-457200" algn="l">
              <a:buFont typeface="Arial" panose="020B0604020202020204" pitchFamily="34" charset="0"/>
              <a:buChar char="•"/>
            </a:pPr>
            <a:r>
              <a:rPr lang="fr-MA" sz="2800" dirty="0"/>
              <a:t>Projets de bases de données complexes</a:t>
            </a:r>
          </a:p>
          <a:p>
            <a:pPr marL="457200" indent="-457200" algn="l">
              <a:buFont typeface="Arial" panose="020B0604020202020204" pitchFamily="34" charset="0"/>
              <a:buChar char="•"/>
            </a:pPr>
            <a:r>
              <a:rPr lang="fr-MA" sz="2800" dirty="0"/>
              <a:t>Systèmes d'information d'entreprise</a:t>
            </a:r>
          </a:p>
          <a:p>
            <a:pPr marL="457200" indent="-457200" algn="l">
              <a:buFont typeface="Arial" panose="020B0604020202020204" pitchFamily="34" charset="0"/>
              <a:buChar char="•"/>
            </a:pPr>
            <a:r>
              <a:rPr lang="fr-MA" sz="2800" dirty="0"/>
              <a:t>Modélisation de processus métier</a:t>
            </a:r>
          </a:p>
          <a:p>
            <a:pPr algn="l"/>
            <a:endParaRPr lang="fr-FR" dirty="0"/>
          </a:p>
        </p:txBody>
      </p:sp>
    </p:spTree>
    <p:extLst>
      <p:ext uri="{BB962C8B-B14F-4D97-AF65-F5344CB8AC3E}">
        <p14:creationId xmlns:p14="http://schemas.microsoft.com/office/powerpoint/2010/main" val="118906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D4630-B1FF-1F1C-3B4F-8F9FC463822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28CF0F9-1BF2-B378-256F-F1DB09E4476D}"/>
              </a:ext>
            </a:extLst>
          </p:cNvPr>
          <p:cNvSpPr>
            <a:spLocks noGrp="1"/>
          </p:cNvSpPr>
          <p:nvPr>
            <p:ph type="title"/>
          </p:nvPr>
        </p:nvSpPr>
        <p:spPr>
          <a:xfrm>
            <a:off x="177801" y="-320040"/>
            <a:ext cx="11120676" cy="1327481"/>
          </a:xfrm>
        </p:spPr>
        <p:txBody>
          <a:bodyPr>
            <a:noAutofit/>
          </a:bodyPr>
          <a:lstStyle/>
          <a:p>
            <a:r>
              <a:rPr lang="fr-MA" sz="3600" dirty="0"/>
              <a:t>Partie 2 : MÉTHODOLOGIES DE GESTION DE PROJET</a:t>
            </a:r>
            <a:endParaRPr lang="fr-FR" sz="3600" dirty="0"/>
          </a:p>
        </p:txBody>
      </p:sp>
      <p:sp>
        <p:nvSpPr>
          <p:cNvPr id="3" name="Espace réservé du texte 2">
            <a:extLst>
              <a:ext uri="{FF2B5EF4-FFF2-40B4-BE49-F238E27FC236}">
                <a16:creationId xmlns:a16="http://schemas.microsoft.com/office/drawing/2014/main" id="{52EA33B7-A3DA-177A-BDBB-08CA33E1767C}"/>
              </a:ext>
            </a:extLst>
          </p:cNvPr>
          <p:cNvSpPr>
            <a:spLocks noGrp="1"/>
          </p:cNvSpPr>
          <p:nvPr>
            <p:ph type="body" idx="1"/>
          </p:nvPr>
        </p:nvSpPr>
        <p:spPr/>
        <p:txBody>
          <a:bodyPr>
            <a:normAutofit fontScale="62500" lnSpcReduction="20000"/>
          </a:bodyPr>
          <a:lstStyle/>
          <a:p>
            <a:pPr algn="l"/>
            <a:r>
              <a:rPr lang="fr-MA" sz="2800" b="1" dirty="0"/>
              <a:t>B. MÉTHODOLOGIES AGILES</a:t>
            </a:r>
          </a:p>
          <a:p>
            <a:pPr algn="l"/>
            <a:r>
              <a:rPr lang="fr-MA" sz="2800" b="1" dirty="0"/>
              <a:t>1. SCRUM</a:t>
            </a:r>
          </a:p>
          <a:p>
            <a:pPr algn="l"/>
            <a:r>
              <a:rPr lang="fr-MA" sz="2800" b="1" dirty="0"/>
              <a:t>Rôles :</a:t>
            </a:r>
            <a:endParaRPr lang="fr-MA" sz="2800" dirty="0"/>
          </a:p>
          <a:p>
            <a:pPr marL="457200" indent="-457200" algn="l">
              <a:buFont typeface="Arial" panose="020B0604020202020204" pitchFamily="34" charset="0"/>
              <a:buChar char="•"/>
            </a:pPr>
            <a:r>
              <a:rPr lang="fr-MA" sz="2800" dirty="0"/>
              <a:t>Product </a:t>
            </a:r>
            <a:r>
              <a:rPr lang="fr-MA" sz="2800" dirty="0" err="1"/>
              <a:t>Owner</a:t>
            </a:r>
            <a:r>
              <a:rPr lang="fr-MA" sz="2800" dirty="0"/>
              <a:t> : Définit les fonctionnalités</a:t>
            </a:r>
          </a:p>
          <a:p>
            <a:pPr marL="457200" indent="-457200" algn="l">
              <a:buFont typeface="Arial" panose="020B0604020202020204" pitchFamily="34" charset="0"/>
              <a:buChar char="•"/>
            </a:pPr>
            <a:r>
              <a:rPr lang="fr-MA" sz="2800" dirty="0"/>
              <a:t>Scrum Master : Facilite le processus</a:t>
            </a:r>
          </a:p>
          <a:p>
            <a:pPr marL="457200" indent="-457200" algn="l">
              <a:buFont typeface="Arial" panose="020B0604020202020204" pitchFamily="34" charset="0"/>
              <a:buChar char="•"/>
            </a:pPr>
            <a:r>
              <a:rPr lang="fr-MA" sz="2800" dirty="0"/>
              <a:t>Équipe de développement : Réalise le produit</a:t>
            </a:r>
          </a:p>
          <a:p>
            <a:pPr algn="l"/>
            <a:r>
              <a:rPr lang="fr-MA" sz="2800" b="1" dirty="0"/>
              <a:t>Cérémonies :</a:t>
            </a:r>
            <a:endParaRPr lang="fr-MA" sz="2800" dirty="0"/>
          </a:p>
          <a:p>
            <a:pPr marL="457200" indent="-457200" algn="l">
              <a:buFont typeface="Arial" panose="020B0604020202020204" pitchFamily="34" charset="0"/>
              <a:buChar char="•"/>
            </a:pPr>
            <a:r>
              <a:rPr lang="fr-MA" sz="2800" dirty="0"/>
              <a:t>Sprint Planning (début de sprint)</a:t>
            </a:r>
          </a:p>
          <a:p>
            <a:pPr marL="457200" indent="-457200" algn="l">
              <a:buFont typeface="Arial" panose="020B0604020202020204" pitchFamily="34" charset="0"/>
              <a:buChar char="•"/>
            </a:pPr>
            <a:r>
              <a:rPr lang="fr-MA" sz="2800" dirty="0"/>
              <a:t>Daily Scrum (quotidien)</a:t>
            </a:r>
          </a:p>
          <a:p>
            <a:pPr marL="457200" indent="-457200" algn="l">
              <a:buFont typeface="Arial" panose="020B0604020202020204" pitchFamily="34" charset="0"/>
              <a:buChar char="•"/>
            </a:pPr>
            <a:r>
              <a:rPr lang="fr-MA" sz="2800" dirty="0"/>
              <a:t>Sprint </a:t>
            </a:r>
            <a:r>
              <a:rPr lang="fr-MA" sz="2800" dirty="0" err="1"/>
              <a:t>Review</a:t>
            </a:r>
            <a:r>
              <a:rPr lang="fr-MA" sz="2800" dirty="0"/>
              <a:t> (démonstration)</a:t>
            </a:r>
          </a:p>
          <a:p>
            <a:pPr marL="457200" indent="-457200" algn="l">
              <a:buFont typeface="Arial" panose="020B0604020202020204" pitchFamily="34" charset="0"/>
              <a:buChar char="•"/>
            </a:pPr>
            <a:r>
              <a:rPr lang="fr-MA" sz="2800" dirty="0"/>
              <a:t>Sprint </a:t>
            </a:r>
            <a:r>
              <a:rPr lang="fr-MA" sz="2800" dirty="0" err="1"/>
              <a:t>Retrospective</a:t>
            </a:r>
            <a:r>
              <a:rPr lang="fr-MA" sz="2800" dirty="0"/>
              <a:t> (amélioration continue)</a:t>
            </a:r>
          </a:p>
          <a:p>
            <a:pPr algn="l"/>
            <a:r>
              <a:rPr lang="fr-MA" sz="2800" b="1" dirty="0"/>
              <a:t>Artefacts :</a:t>
            </a:r>
            <a:endParaRPr lang="fr-MA" sz="2800" dirty="0"/>
          </a:p>
          <a:p>
            <a:pPr algn="l"/>
            <a:r>
              <a:rPr lang="fr-MA" sz="2800" dirty="0"/>
              <a:t>Product </a:t>
            </a:r>
            <a:r>
              <a:rPr lang="fr-MA" sz="2800" dirty="0" err="1"/>
              <a:t>Backlog</a:t>
            </a:r>
            <a:r>
              <a:rPr lang="fr-MA" sz="2800" dirty="0"/>
              <a:t> : Liste priorisée des fonctionnalités</a:t>
            </a:r>
          </a:p>
          <a:p>
            <a:pPr algn="l"/>
            <a:r>
              <a:rPr lang="fr-MA" sz="2800" dirty="0"/>
              <a:t>Sprint </a:t>
            </a:r>
            <a:r>
              <a:rPr lang="fr-MA" sz="2800" dirty="0" err="1"/>
              <a:t>Backlog</a:t>
            </a:r>
            <a:r>
              <a:rPr lang="fr-MA" sz="2800" dirty="0"/>
              <a:t> : Tâches du sprint en cours</a:t>
            </a:r>
          </a:p>
          <a:p>
            <a:pPr algn="l"/>
            <a:r>
              <a:rPr lang="fr-MA" sz="2800" dirty="0" err="1"/>
              <a:t>Increment</a:t>
            </a:r>
            <a:r>
              <a:rPr lang="fr-MA" sz="2800" dirty="0"/>
              <a:t> : Version potentiellement livrable</a:t>
            </a:r>
          </a:p>
          <a:p>
            <a:pPr algn="l"/>
            <a:endParaRPr lang="fr-FR" dirty="0"/>
          </a:p>
        </p:txBody>
      </p:sp>
    </p:spTree>
    <p:extLst>
      <p:ext uri="{BB962C8B-B14F-4D97-AF65-F5344CB8AC3E}">
        <p14:creationId xmlns:p14="http://schemas.microsoft.com/office/powerpoint/2010/main" val="190693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8937E7-CD4E-F6A0-506C-AD82CE3E241B}"/>
              </a:ext>
            </a:extLst>
          </p:cNvPr>
          <p:cNvSpPr>
            <a:spLocks noGrp="1"/>
          </p:cNvSpPr>
          <p:nvPr>
            <p:ph type="title"/>
          </p:nvPr>
        </p:nvSpPr>
        <p:spPr/>
        <p:txBody>
          <a:bodyPr>
            <a:noAutofit/>
          </a:bodyPr>
          <a:lstStyle/>
          <a:p>
            <a:r>
              <a:rPr lang="fr-MA" sz="4800" dirty="0"/>
              <a:t>PARTIE 3 : 50 SUJETS DE PROJETS EN SYSTÈMES D'INFORMATION</a:t>
            </a:r>
            <a:endParaRPr lang="fr-FR" sz="4800" dirty="0"/>
          </a:p>
        </p:txBody>
      </p:sp>
      <p:sp>
        <p:nvSpPr>
          <p:cNvPr id="3" name="Espace réservé du texte 2">
            <a:extLst>
              <a:ext uri="{FF2B5EF4-FFF2-40B4-BE49-F238E27FC236}">
                <a16:creationId xmlns:a16="http://schemas.microsoft.com/office/drawing/2014/main" id="{F9E31B68-B8BC-E18E-D87A-A531E68BE975}"/>
              </a:ext>
            </a:extLst>
          </p:cNvPr>
          <p:cNvSpPr>
            <a:spLocks noGrp="1"/>
          </p:cNvSpPr>
          <p:nvPr>
            <p:ph type="body" idx="1"/>
          </p:nvPr>
        </p:nvSpPr>
        <p:spPr/>
        <p:txBody>
          <a:bodyPr>
            <a:normAutofit fontScale="70000" lnSpcReduction="20000"/>
          </a:bodyPr>
          <a:lstStyle/>
          <a:p>
            <a:pPr algn="ctr"/>
            <a:r>
              <a:rPr lang="fr-MA" b="1" dirty="0"/>
              <a:t>CATÉGORIE 1 : E-COMMERCE ET RETAIL (10 projets)</a:t>
            </a:r>
          </a:p>
          <a:p>
            <a:pPr algn="l"/>
            <a:r>
              <a:rPr lang="fr-MA" b="1" dirty="0"/>
              <a:t>1. Plateforme E-commerce Multi-vendeurs</a:t>
            </a:r>
          </a:p>
          <a:p>
            <a:pPr algn="l"/>
            <a:r>
              <a:rPr lang="fr-MA" b="1" dirty="0"/>
              <a:t>Description :</a:t>
            </a:r>
            <a:r>
              <a:rPr lang="fr-MA" dirty="0"/>
              <a:t> Marketplace permettant à plusieurs vendeurs de proposer leurs produits avec une gestion centralisée des commandes et paiements.</a:t>
            </a:r>
          </a:p>
          <a:p>
            <a:pPr algn="l"/>
            <a:endParaRPr lang="fr-MA" dirty="0"/>
          </a:p>
          <a:p>
            <a:pPr algn="l"/>
            <a:r>
              <a:rPr lang="fr-MA" b="1" dirty="0"/>
              <a:t>Modules nécessaires :</a:t>
            </a:r>
            <a:endParaRPr lang="fr-MA" dirty="0"/>
          </a:p>
          <a:p>
            <a:pPr marL="342900" indent="-342900" algn="l">
              <a:buFont typeface="Arial" panose="020B0604020202020204" pitchFamily="34" charset="0"/>
              <a:buChar char="•"/>
            </a:pPr>
            <a:r>
              <a:rPr lang="fr-MA" dirty="0"/>
              <a:t>Gestion des utilisateurs (clients, vendeurs, admin)</a:t>
            </a:r>
          </a:p>
          <a:p>
            <a:pPr marL="342900" indent="-342900" algn="l">
              <a:buFont typeface="Arial" panose="020B0604020202020204" pitchFamily="34" charset="0"/>
              <a:buChar char="•"/>
            </a:pPr>
            <a:r>
              <a:rPr lang="fr-MA" dirty="0"/>
              <a:t>Catalogue produits avec recherche avancée</a:t>
            </a:r>
          </a:p>
          <a:p>
            <a:pPr marL="342900" indent="-342900" algn="l">
              <a:buFont typeface="Arial" panose="020B0604020202020204" pitchFamily="34" charset="0"/>
              <a:buChar char="•"/>
            </a:pPr>
            <a:r>
              <a:rPr lang="fr-MA" dirty="0"/>
              <a:t>Panier et gestion des commandes</a:t>
            </a:r>
          </a:p>
          <a:p>
            <a:pPr marL="342900" indent="-342900" algn="l">
              <a:buFont typeface="Arial" panose="020B0604020202020204" pitchFamily="34" charset="0"/>
              <a:buChar char="•"/>
            </a:pPr>
            <a:r>
              <a:rPr lang="fr-MA" dirty="0"/>
              <a:t>Système de paiement sécurisé </a:t>
            </a:r>
          </a:p>
          <a:p>
            <a:pPr marL="342900" indent="-342900" algn="l">
              <a:buFont typeface="Arial" panose="020B0604020202020204" pitchFamily="34" charset="0"/>
              <a:buChar char="•"/>
            </a:pPr>
            <a:r>
              <a:rPr lang="fr-MA" dirty="0"/>
              <a:t>Gestion des stocks multi-entrepôts</a:t>
            </a:r>
          </a:p>
          <a:p>
            <a:pPr marL="342900" indent="-342900" algn="l">
              <a:buFont typeface="Arial" panose="020B0604020202020204" pitchFamily="34" charset="0"/>
              <a:buChar char="•"/>
            </a:pPr>
            <a:r>
              <a:rPr lang="fr-MA" dirty="0"/>
              <a:t>Module de livraison et suivi</a:t>
            </a:r>
          </a:p>
          <a:p>
            <a:pPr marL="342900" indent="-342900" algn="l">
              <a:buFont typeface="Arial" panose="020B0604020202020204" pitchFamily="34" charset="0"/>
              <a:buChar char="•"/>
            </a:pPr>
            <a:r>
              <a:rPr lang="fr-MA" dirty="0"/>
              <a:t>Système d'avis et notation</a:t>
            </a:r>
          </a:p>
          <a:p>
            <a:pPr marL="342900" indent="-342900" algn="l">
              <a:buFont typeface="Arial" panose="020B0604020202020204" pitchFamily="34" charset="0"/>
              <a:buChar char="•"/>
            </a:pPr>
            <a:r>
              <a:rPr lang="fr-MA" dirty="0"/>
              <a:t>Tableau de bord vendeur</a:t>
            </a:r>
          </a:p>
          <a:p>
            <a:pPr marL="342900" indent="-342900" algn="l">
              <a:buFont typeface="Arial" panose="020B0604020202020204" pitchFamily="34" charset="0"/>
              <a:buChar char="•"/>
            </a:pPr>
            <a:r>
              <a:rPr lang="fr-MA" dirty="0"/>
              <a:t>Module de facturation</a:t>
            </a:r>
          </a:p>
          <a:p>
            <a:pPr algn="l"/>
            <a:r>
              <a:rPr lang="fr-MA" b="1" dirty="0"/>
              <a:t>Technologies suggérées :</a:t>
            </a:r>
            <a:r>
              <a:rPr lang="fr-MA" dirty="0"/>
              <a:t> PHP/</a:t>
            </a:r>
            <a:r>
              <a:rPr lang="fr-MA" dirty="0" err="1"/>
              <a:t>Laravel</a:t>
            </a:r>
            <a:r>
              <a:rPr lang="fr-MA" dirty="0"/>
              <a:t>, Node.js, </a:t>
            </a:r>
            <a:r>
              <a:rPr lang="fr-MA" dirty="0" err="1"/>
              <a:t>React</a:t>
            </a:r>
            <a:r>
              <a:rPr lang="fr-MA" dirty="0"/>
              <a:t>, MySQL/PostgreSQL</a:t>
            </a:r>
          </a:p>
          <a:p>
            <a:pPr algn="l"/>
            <a:endParaRPr lang="fr-FR" dirty="0"/>
          </a:p>
        </p:txBody>
      </p:sp>
    </p:spTree>
    <p:extLst>
      <p:ext uri="{BB962C8B-B14F-4D97-AF65-F5344CB8AC3E}">
        <p14:creationId xmlns:p14="http://schemas.microsoft.com/office/powerpoint/2010/main" val="2326143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4AE350-79A5-6D70-E15D-7C3E853A36D4}"/>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7031FE17-E758-0126-7051-5550806E43FB}"/>
              </a:ext>
            </a:extLst>
          </p:cNvPr>
          <p:cNvSpPr>
            <a:spLocks noGrp="1"/>
          </p:cNvSpPr>
          <p:nvPr>
            <p:ph type="body" idx="1"/>
          </p:nvPr>
        </p:nvSpPr>
        <p:spPr/>
        <p:txBody>
          <a:bodyPr>
            <a:normAutofit fontScale="77500" lnSpcReduction="20000"/>
          </a:bodyPr>
          <a:lstStyle/>
          <a:p>
            <a:pPr algn="l"/>
            <a:r>
              <a:rPr lang="fr-MA" b="1" dirty="0"/>
              <a:t>2. Système de Gestion de Stocks Intelligent</a:t>
            </a:r>
          </a:p>
          <a:p>
            <a:pPr algn="l"/>
            <a:r>
              <a:rPr lang="fr-MA" b="1" dirty="0"/>
              <a:t>Description :</a:t>
            </a:r>
            <a:r>
              <a:rPr lang="fr-MA" dirty="0"/>
              <a:t> Application de gestion de stocks avec prévision automatique des besoins et alertes de réapprovisionnement.</a:t>
            </a:r>
          </a:p>
          <a:p>
            <a:pPr algn="l"/>
            <a:endParaRPr lang="fr-MA" dirty="0"/>
          </a:p>
          <a:p>
            <a:pPr algn="l"/>
            <a:r>
              <a:rPr lang="fr-MA" b="1" dirty="0"/>
              <a:t>Modules nécessaires :</a:t>
            </a:r>
            <a:endParaRPr lang="fr-MA" dirty="0"/>
          </a:p>
          <a:p>
            <a:pPr algn="l"/>
            <a:r>
              <a:rPr lang="fr-MA" dirty="0"/>
              <a:t>Gestion des articles et références</a:t>
            </a:r>
          </a:p>
          <a:p>
            <a:pPr algn="l"/>
            <a:r>
              <a:rPr lang="fr-MA" dirty="0"/>
              <a:t>Suivi des mouvements de stock (entrées/sorties)</a:t>
            </a:r>
          </a:p>
          <a:p>
            <a:pPr algn="l"/>
            <a:r>
              <a:rPr lang="fr-MA" dirty="0"/>
              <a:t>Gestion des fournisseurs</a:t>
            </a:r>
          </a:p>
          <a:p>
            <a:pPr algn="l"/>
            <a:r>
              <a:rPr lang="fr-MA" dirty="0"/>
              <a:t>Prévision des besoins (algorithmes ML)</a:t>
            </a:r>
          </a:p>
          <a:p>
            <a:pPr algn="l"/>
            <a:r>
              <a:rPr lang="fr-MA" dirty="0"/>
              <a:t>Alertes automatiques de rupture</a:t>
            </a:r>
          </a:p>
          <a:p>
            <a:pPr algn="l"/>
            <a:r>
              <a:rPr lang="fr-MA" dirty="0"/>
              <a:t>Génération de bons de commande</a:t>
            </a:r>
          </a:p>
          <a:p>
            <a:pPr algn="l"/>
            <a:r>
              <a:rPr lang="fr-MA" dirty="0"/>
              <a:t>Inventaire et audit</a:t>
            </a:r>
          </a:p>
          <a:p>
            <a:pPr algn="l"/>
            <a:r>
              <a:rPr lang="fr-MA" dirty="0"/>
              <a:t>Rapports et statistiques (tableaux de bords)</a:t>
            </a:r>
          </a:p>
          <a:p>
            <a:pPr algn="l"/>
            <a:r>
              <a:rPr lang="fr-MA" dirty="0"/>
              <a:t>Codes-barres et QR codes</a:t>
            </a:r>
          </a:p>
          <a:p>
            <a:pPr algn="l"/>
            <a:r>
              <a:rPr lang="fr-MA" dirty="0"/>
              <a:t>Interface mobile pour l'inventaire</a:t>
            </a:r>
          </a:p>
          <a:p>
            <a:pPr algn="l"/>
            <a:endParaRPr lang="fr-FR" dirty="0"/>
          </a:p>
        </p:txBody>
      </p:sp>
    </p:spTree>
    <p:extLst>
      <p:ext uri="{BB962C8B-B14F-4D97-AF65-F5344CB8AC3E}">
        <p14:creationId xmlns:p14="http://schemas.microsoft.com/office/powerpoint/2010/main" val="2117816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EAB2A-2F57-7E74-9510-EBFC49AEB27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FA5949-C621-F78F-F9E2-E342ECAD3AA0}"/>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94B7D543-CC22-F0F9-6036-0401F722C367}"/>
              </a:ext>
            </a:extLst>
          </p:cNvPr>
          <p:cNvSpPr>
            <a:spLocks noGrp="1"/>
          </p:cNvSpPr>
          <p:nvPr>
            <p:ph type="body" idx="1"/>
          </p:nvPr>
        </p:nvSpPr>
        <p:spPr/>
        <p:txBody>
          <a:bodyPr>
            <a:normAutofit fontScale="85000" lnSpcReduction="20000"/>
          </a:bodyPr>
          <a:lstStyle/>
          <a:p>
            <a:pPr algn="l"/>
            <a:r>
              <a:rPr lang="fr-MA" b="1" dirty="0"/>
              <a:t>3. Application de Click &amp; </a:t>
            </a:r>
            <a:r>
              <a:rPr lang="fr-MA" b="1" dirty="0" err="1"/>
              <a:t>Collect</a:t>
            </a:r>
            <a:endParaRPr lang="fr-MA" b="1" dirty="0"/>
          </a:p>
          <a:p>
            <a:pPr algn="l"/>
            <a:r>
              <a:rPr lang="fr-MA" b="1" dirty="0"/>
              <a:t>Description :</a:t>
            </a:r>
            <a:r>
              <a:rPr lang="fr-MA" dirty="0"/>
              <a:t> Système permettant aux clients de commander en ligne et de récupérer en magasin.</a:t>
            </a:r>
          </a:p>
          <a:p>
            <a:pPr algn="l"/>
            <a:r>
              <a:rPr lang="fr-MA" b="1" dirty="0"/>
              <a:t>Modules nécessaires :</a:t>
            </a:r>
            <a:endParaRPr lang="fr-MA" dirty="0"/>
          </a:p>
          <a:p>
            <a:pPr marL="342900" indent="-342900" algn="l">
              <a:buFont typeface="Arial" panose="020B0604020202020204" pitchFamily="34" charset="0"/>
              <a:buChar char="•"/>
            </a:pPr>
            <a:r>
              <a:rPr lang="fr-MA" dirty="0"/>
              <a:t>Interface de commande en ligne</a:t>
            </a:r>
          </a:p>
          <a:p>
            <a:pPr marL="342900" indent="-342900" algn="l">
              <a:buFont typeface="Arial" panose="020B0604020202020204" pitchFamily="34" charset="0"/>
              <a:buChar char="•"/>
            </a:pPr>
            <a:r>
              <a:rPr lang="fr-MA" dirty="0"/>
              <a:t>Gestion des points de retrait</a:t>
            </a:r>
          </a:p>
          <a:p>
            <a:pPr marL="342900" indent="-342900" algn="l">
              <a:buFont typeface="Arial" panose="020B0604020202020204" pitchFamily="34" charset="0"/>
              <a:buChar char="•"/>
            </a:pPr>
            <a:r>
              <a:rPr lang="fr-MA" dirty="0"/>
              <a:t>Système de créneaux horaires</a:t>
            </a:r>
          </a:p>
          <a:p>
            <a:pPr marL="342900" indent="-342900" algn="l">
              <a:buFont typeface="Arial" panose="020B0604020202020204" pitchFamily="34" charset="0"/>
              <a:buChar char="•"/>
            </a:pPr>
            <a:r>
              <a:rPr lang="fr-MA" dirty="0"/>
              <a:t>Notifications SMS/Email</a:t>
            </a:r>
          </a:p>
          <a:p>
            <a:pPr marL="342900" indent="-342900" algn="l">
              <a:buFont typeface="Arial" panose="020B0604020202020204" pitchFamily="34" charset="0"/>
              <a:buChar char="•"/>
            </a:pPr>
            <a:r>
              <a:rPr lang="fr-MA" dirty="0"/>
              <a:t>Préparation de commande (interface magasin)</a:t>
            </a:r>
          </a:p>
          <a:p>
            <a:pPr marL="342900" indent="-342900" algn="l">
              <a:buFont typeface="Arial" panose="020B0604020202020204" pitchFamily="34" charset="0"/>
              <a:buChar char="•"/>
            </a:pPr>
            <a:r>
              <a:rPr lang="fr-MA" dirty="0"/>
              <a:t>Gestion des paiements</a:t>
            </a:r>
          </a:p>
          <a:p>
            <a:pPr marL="342900" indent="-342900" algn="l">
              <a:buFont typeface="Arial" panose="020B0604020202020204" pitchFamily="34" charset="0"/>
              <a:buChar char="•"/>
            </a:pPr>
            <a:r>
              <a:rPr lang="fr-MA" dirty="0"/>
              <a:t>Code de retrait sécurisé</a:t>
            </a:r>
          </a:p>
          <a:p>
            <a:pPr marL="342900" indent="-342900" algn="l">
              <a:buFont typeface="Arial" panose="020B0604020202020204" pitchFamily="34" charset="0"/>
              <a:buChar char="•"/>
            </a:pPr>
            <a:r>
              <a:rPr lang="fr-MA" dirty="0"/>
              <a:t>Statistiques et </a:t>
            </a:r>
            <a:r>
              <a:rPr lang="fr-MA" dirty="0" err="1"/>
              <a:t>reporting</a:t>
            </a:r>
            <a:endParaRPr lang="fr-MA" dirty="0"/>
          </a:p>
          <a:p>
            <a:pPr marL="342900" indent="-342900" algn="l">
              <a:buFont typeface="Arial" panose="020B0604020202020204" pitchFamily="34" charset="0"/>
              <a:buChar char="•"/>
            </a:pPr>
            <a:r>
              <a:rPr lang="fr-MA" dirty="0"/>
              <a:t>Programme de fidélité</a:t>
            </a:r>
          </a:p>
          <a:p>
            <a:pPr marL="342900" indent="-342900" algn="l">
              <a:buFont typeface="Arial" panose="020B0604020202020204" pitchFamily="34" charset="0"/>
              <a:buChar char="•"/>
            </a:pPr>
            <a:r>
              <a:rPr lang="fr-MA" dirty="0"/>
              <a:t>Interface mobile</a:t>
            </a:r>
          </a:p>
          <a:p>
            <a:pPr algn="l"/>
            <a:endParaRPr lang="fr-FR" dirty="0"/>
          </a:p>
        </p:txBody>
      </p:sp>
    </p:spTree>
    <p:extLst>
      <p:ext uri="{BB962C8B-B14F-4D97-AF65-F5344CB8AC3E}">
        <p14:creationId xmlns:p14="http://schemas.microsoft.com/office/powerpoint/2010/main" val="2150138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D4D6D-42AC-498B-4D0E-B7C5699FA4F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37F24A-ABF6-9686-9438-13641F11F686}"/>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CE21E6D3-C599-417C-5580-8D72C8C2F1B2}"/>
              </a:ext>
            </a:extLst>
          </p:cNvPr>
          <p:cNvSpPr>
            <a:spLocks noGrp="1"/>
          </p:cNvSpPr>
          <p:nvPr>
            <p:ph type="body" idx="1"/>
          </p:nvPr>
        </p:nvSpPr>
        <p:spPr/>
        <p:txBody>
          <a:bodyPr>
            <a:normAutofit fontScale="85000" lnSpcReduction="20000"/>
          </a:bodyPr>
          <a:lstStyle/>
          <a:p>
            <a:pPr algn="l"/>
            <a:r>
              <a:rPr lang="fr-MA" b="1" dirty="0"/>
              <a:t>4. Système de Fidélisation Client</a:t>
            </a:r>
          </a:p>
          <a:p>
            <a:pPr algn="l"/>
            <a:r>
              <a:rPr lang="fr-MA" b="1" dirty="0"/>
              <a:t>Description :</a:t>
            </a:r>
            <a:r>
              <a:rPr lang="fr-MA" dirty="0"/>
              <a:t> Plateforme de gestion de programme de fidélité avec points, récompenses et offres personnalisées.</a:t>
            </a:r>
          </a:p>
          <a:p>
            <a:pPr algn="l"/>
            <a:r>
              <a:rPr lang="fr-MA" b="1" dirty="0"/>
              <a:t>Modules nécessaires :</a:t>
            </a:r>
            <a:endParaRPr lang="fr-MA" dirty="0"/>
          </a:p>
          <a:p>
            <a:pPr algn="l"/>
            <a:r>
              <a:rPr lang="fr-MA" dirty="0"/>
              <a:t>Gestion des cartes de fidélité</a:t>
            </a:r>
          </a:p>
          <a:p>
            <a:pPr algn="l"/>
            <a:r>
              <a:rPr lang="fr-MA" dirty="0"/>
              <a:t>Système de points et récompenses</a:t>
            </a:r>
          </a:p>
          <a:p>
            <a:pPr algn="l"/>
            <a:r>
              <a:rPr lang="fr-MA" dirty="0"/>
              <a:t>Moteur d'offres personnalisées</a:t>
            </a:r>
          </a:p>
          <a:p>
            <a:pPr algn="l"/>
            <a:r>
              <a:rPr lang="fr-MA" dirty="0"/>
              <a:t>Segmentation client</a:t>
            </a:r>
          </a:p>
          <a:p>
            <a:pPr algn="l"/>
            <a:r>
              <a:rPr lang="fr-MA" dirty="0"/>
              <a:t>Campagnes marketing ciblées</a:t>
            </a:r>
          </a:p>
          <a:p>
            <a:pPr algn="l"/>
            <a:r>
              <a:rPr lang="fr-MA" dirty="0"/>
              <a:t>Application mobile client</a:t>
            </a:r>
          </a:p>
          <a:p>
            <a:pPr algn="l"/>
            <a:r>
              <a:rPr lang="fr-MA" dirty="0"/>
              <a:t>Intégration caisse/POS</a:t>
            </a:r>
          </a:p>
          <a:p>
            <a:pPr algn="l"/>
            <a:r>
              <a:rPr lang="fr-MA" dirty="0"/>
              <a:t>Analytics comportemental</a:t>
            </a:r>
          </a:p>
          <a:p>
            <a:pPr algn="l"/>
            <a:r>
              <a:rPr lang="fr-MA" dirty="0"/>
              <a:t>Gamification</a:t>
            </a:r>
          </a:p>
          <a:p>
            <a:pPr algn="l"/>
            <a:r>
              <a:rPr lang="fr-MA" dirty="0"/>
              <a:t>Partenariats inter-enseignes</a:t>
            </a:r>
          </a:p>
          <a:p>
            <a:pPr algn="l"/>
            <a:endParaRPr lang="fr-FR" dirty="0"/>
          </a:p>
        </p:txBody>
      </p:sp>
    </p:spTree>
    <p:extLst>
      <p:ext uri="{BB962C8B-B14F-4D97-AF65-F5344CB8AC3E}">
        <p14:creationId xmlns:p14="http://schemas.microsoft.com/office/powerpoint/2010/main" val="1927245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696D-839C-11C3-AA4B-598954CE11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9FDACBD-C75B-8D28-4B95-E4E374BCC97C}"/>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339A409F-0B25-6C55-2DE4-1ADEA6C17869}"/>
              </a:ext>
            </a:extLst>
          </p:cNvPr>
          <p:cNvSpPr>
            <a:spLocks noGrp="1"/>
          </p:cNvSpPr>
          <p:nvPr>
            <p:ph type="body" idx="1"/>
          </p:nvPr>
        </p:nvSpPr>
        <p:spPr/>
        <p:txBody>
          <a:bodyPr>
            <a:normAutofit fontScale="92500" lnSpcReduction="10000"/>
          </a:bodyPr>
          <a:lstStyle/>
          <a:p>
            <a:pPr algn="l"/>
            <a:r>
              <a:rPr lang="fr-MA" b="1" dirty="0"/>
              <a:t>5. Plateforme de Comparaison de Prix</a:t>
            </a:r>
          </a:p>
          <a:p>
            <a:pPr algn="l"/>
            <a:r>
              <a:rPr lang="fr-MA" b="1" dirty="0"/>
              <a:t>Description :</a:t>
            </a:r>
            <a:r>
              <a:rPr lang="fr-MA" dirty="0"/>
              <a:t> Agrégateur comparant les prix de produits sur différents sites e-commerce.</a:t>
            </a:r>
          </a:p>
          <a:p>
            <a:pPr algn="l"/>
            <a:r>
              <a:rPr lang="fr-MA" b="1" dirty="0"/>
              <a:t>Modules nécessaires :</a:t>
            </a:r>
            <a:endParaRPr lang="fr-MA" dirty="0"/>
          </a:p>
          <a:p>
            <a:pPr algn="l"/>
            <a:r>
              <a:rPr lang="fr-MA" dirty="0"/>
              <a:t>Web </a:t>
            </a:r>
            <a:r>
              <a:rPr lang="fr-MA" dirty="0" err="1"/>
              <a:t>scraping</a:t>
            </a:r>
            <a:r>
              <a:rPr lang="fr-MA" dirty="0"/>
              <a:t> et extraction de données</a:t>
            </a:r>
          </a:p>
          <a:p>
            <a:pPr algn="l"/>
            <a:r>
              <a:rPr lang="fr-MA" dirty="0"/>
              <a:t>Base de données produits normalisée</a:t>
            </a:r>
          </a:p>
          <a:p>
            <a:pPr algn="l"/>
            <a:r>
              <a:rPr lang="fr-MA" dirty="0"/>
              <a:t>Moteur de recherche et filtres</a:t>
            </a:r>
          </a:p>
          <a:p>
            <a:pPr algn="l"/>
            <a:r>
              <a:rPr lang="fr-MA" dirty="0"/>
              <a:t>Système d'alertes prix</a:t>
            </a:r>
          </a:p>
          <a:p>
            <a:pPr algn="l"/>
            <a:r>
              <a:rPr lang="fr-MA" dirty="0"/>
              <a:t>Historique des prix et graphiques</a:t>
            </a:r>
          </a:p>
          <a:p>
            <a:pPr algn="l"/>
            <a:r>
              <a:rPr lang="fr-MA" dirty="0"/>
              <a:t>Avis agrégés</a:t>
            </a:r>
          </a:p>
          <a:p>
            <a:pPr algn="l"/>
            <a:r>
              <a:rPr lang="fr-MA" dirty="0"/>
              <a:t>Programme d'affiliation</a:t>
            </a:r>
          </a:p>
          <a:p>
            <a:pPr algn="l"/>
            <a:r>
              <a:rPr lang="fr-MA" dirty="0"/>
              <a:t>Module de cashback</a:t>
            </a:r>
          </a:p>
          <a:p>
            <a:pPr algn="l"/>
            <a:endParaRPr lang="fr-FR" dirty="0"/>
          </a:p>
        </p:txBody>
      </p:sp>
    </p:spTree>
    <p:extLst>
      <p:ext uri="{BB962C8B-B14F-4D97-AF65-F5344CB8AC3E}">
        <p14:creationId xmlns:p14="http://schemas.microsoft.com/office/powerpoint/2010/main" val="899260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02ECA-061E-1A6D-D62D-4EE8AD40092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3E478D7-E8E8-C6BF-4843-73020FF6ED04}"/>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19F91E13-491C-A151-C39E-10396F716724}"/>
              </a:ext>
            </a:extLst>
          </p:cNvPr>
          <p:cNvSpPr>
            <a:spLocks noGrp="1"/>
          </p:cNvSpPr>
          <p:nvPr>
            <p:ph type="body" idx="1"/>
          </p:nvPr>
        </p:nvSpPr>
        <p:spPr/>
        <p:txBody>
          <a:bodyPr>
            <a:normAutofit fontScale="85000" lnSpcReduction="10000"/>
          </a:bodyPr>
          <a:lstStyle/>
          <a:p>
            <a:pPr algn="l"/>
            <a:r>
              <a:rPr lang="fr-MA" b="1" dirty="0"/>
              <a:t>6. Solution de Gestion de Retours Produits</a:t>
            </a:r>
          </a:p>
          <a:p>
            <a:pPr algn="l"/>
            <a:r>
              <a:rPr lang="fr-MA" b="1" dirty="0"/>
              <a:t>Description :</a:t>
            </a:r>
            <a:r>
              <a:rPr lang="fr-MA" dirty="0"/>
              <a:t> Système dédié à la gestion du processus de retour et remboursement produits.</a:t>
            </a:r>
          </a:p>
          <a:p>
            <a:pPr algn="l"/>
            <a:r>
              <a:rPr lang="fr-MA" b="1" dirty="0"/>
              <a:t>Modules nécessaires :</a:t>
            </a:r>
            <a:endParaRPr lang="fr-MA" dirty="0"/>
          </a:p>
          <a:p>
            <a:pPr marL="342900" indent="-342900" algn="l">
              <a:buFont typeface="Arial" panose="020B0604020202020204" pitchFamily="34" charset="0"/>
              <a:buChar char="•"/>
            </a:pPr>
            <a:r>
              <a:rPr lang="fr-MA" dirty="0"/>
              <a:t>Portail de demande de retour</a:t>
            </a:r>
          </a:p>
          <a:p>
            <a:pPr marL="342900" indent="-342900" algn="l">
              <a:buFont typeface="Arial" panose="020B0604020202020204" pitchFamily="34" charset="0"/>
              <a:buChar char="•"/>
            </a:pPr>
            <a:r>
              <a:rPr lang="fr-MA" dirty="0"/>
              <a:t>Génération d'étiquettes de retour</a:t>
            </a:r>
          </a:p>
          <a:p>
            <a:pPr marL="342900" indent="-342900" algn="l">
              <a:buFont typeface="Arial" panose="020B0604020202020204" pitchFamily="34" charset="0"/>
              <a:buChar char="•"/>
            </a:pPr>
            <a:r>
              <a:rPr lang="fr-MA" dirty="0"/>
              <a:t>Suivi des retours</a:t>
            </a:r>
          </a:p>
          <a:p>
            <a:pPr marL="342900" indent="-342900" algn="l">
              <a:buFont typeface="Arial" panose="020B0604020202020204" pitchFamily="34" charset="0"/>
              <a:buChar char="•"/>
            </a:pPr>
            <a:r>
              <a:rPr lang="fr-MA" dirty="0"/>
              <a:t>Contrôle qualité produits retournés</a:t>
            </a:r>
          </a:p>
          <a:p>
            <a:pPr marL="342900" indent="-342900" algn="l">
              <a:buFont typeface="Arial" panose="020B0604020202020204" pitchFamily="34" charset="0"/>
              <a:buChar char="•"/>
            </a:pPr>
            <a:r>
              <a:rPr lang="fr-MA" dirty="0"/>
              <a:t>Gestion des remboursements</a:t>
            </a:r>
          </a:p>
          <a:p>
            <a:pPr marL="342900" indent="-342900" algn="l">
              <a:buFont typeface="Arial" panose="020B0604020202020204" pitchFamily="34" charset="0"/>
              <a:buChar char="•"/>
            </a:pPr>
            <a:r>
              <a:rPr lang="fr-MA" dirty="0"/>
              <a:t>Réintégration au stock</a:t>
            </a:r>
          </a:p>
          <a:p>
            <a:pPr marL="342900" indent="-342900" algn="l">
              <a:buFont typeface="Arial" panose="020B0604020202020204" pitchFamily="34" charset="0"/>
              <a:buChar char="•"/>
            </a:pPr>
            <a:r>
              <a:rPr lang="fr-MA" dirty="0"/>
              <a:t>Statistiques des retours</a:t>
            </a:r>
          </a:p>
          <a:p>
            <a:pPr marL="342900" indent="-342900" algn="l">
              <a:buFont typeface="Arial" panose="020B0604020202020204" pitchFamily="34" charset="0"/>
              <a:buChar char="•"/>
            </a:pPr>
            <a:r>
              <a:rPr lang="fr-MA" dirty="0"/>
              <a:t>Interface client et support</a:t>
            </a:r>
          </a:p>
          <a:p>
            <a:pPr marL="342900" indent="-342900" algn="l">
              <a:buFont typeface="Arial" panose="020B0604020202020204" pitchFamily="34" charset="0"/>
              <a:buChar char="•"/>
            </a:pPr>
            <a:r>
              <a:rPr lang="fr-MA" dirty="0"/>
              <a:t>Workflow d'approbation</a:t>
            </a:r>
          </a:p>
          <a:p>
            <a:pPr marL="342900" indent="-342900" algn="l">
              <a:buFont typeface="Arial" panose="020B0604020202020204" pitchFamily="34" charset="0"/>
              <a:buChar char="•"/>
            </a:pPr>
            <a:r>
              <a:rPr lang="fr-MA" dirty="0"/>
              <a:t>Intégration comptabilité</a:t>
            </a:r>
          </a:p>
          <a:p>
            <a:pPr algn="l"/>
            <a:endParaRPr lang="fr-FR" dirty="0"/>
          </a:p>
        </p:txBody>
      </p:sp>
    </p:spTree>
    <p:extLst>
      <p:ext uri="{BB962C8B-B14F-4D97-AF65-F5344CB8AC3E}">
        <p14:creationId xmlns:p14="http://schemas.microsoft.com/office/powerpoint/2010/main" val="2279496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BB11B-39EF-08F5-8DBD-FB0319E8262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EEDC863-76E4-FAD9-5BD7-31E6C2C8C8B2}"/>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31022953-1EB2-B7CF-9BD4-3DA898854DFE}"/>
              </a:ext>
            </a:extLst>
          </p:cNvPr>
          <p:cNvSpPr>
            <a:spLocks noGrp="1"/>
          </p:cNvSpPr>
          <p:nvPr>
            <p:ph type="body" idx="1"/>
          </p:nvPr>
        </p:nvSpPr>
        <p:spPr/>
        <p:txBody>
          <a:bodyPr>
            <a:normAutofit fontScale="85000" lnSpcReduction="10000"/>
          </a:bodyPr>
          <a:lstStyle/>
          <a:p>
            <a:pPr algn="l"/>
            <a:r>
              <a:rPr lang="fr-MA" b="1" dirty="0"/>
              <a:t>7. Système de Recommandation Produits</a:t>
            </a:r>
          </a:p>
          <a:p>
            <a:pPr algn="l"/>
            <a:r>
              <a:rPr lang="fr-MA" b="1" dirty="0"/>
              <a:t>Description :</a:t>
            </a:r>
            <a:r>
              <a:rPr lang="fr-MA" dirty="0"/>
              <a:t> Moteur de recommandation basé sur l'IA pour suggérer des produits pertinents.</a:t>
            </a:r>
          </a:p>
          <a:p>
            <a:pPr algn="l"/>
            <a:r>
              <a:rPr lang="fr-MA" b="1" dirty="0"/>
              <a:t>Modules nécessaires :</a:t>
            </a:r>
            <a:endParaRPr lang="fr-MA" dirty="0"/>
          </a:p>
          <a:p>
            <a:pPr marL="342900" indent="-342900" algn="l">
              <a:buFont typeface="Arial" panose="020B0604020202020204" pitchFamily="34" charset="0"/>
              <a:buChar char="•"/>
            </a:pPr>
            <a:r>
              <a:rPr lang="fr-MA" dirty="0"/>
              <a:t>Collecte de données comportementales</a:t>
            </a:r>
          </a:p>
          <a:p>
            <a:pPr marL="342900" indent="-342900" algn="l">
              <a:buFont typeface="Arial" panose="020B0604020202020204" pitchFamily="34" charset="0"/>
              <a:buChar char="•"/>
            </a:pPr>
            <a:r>
              <a:rPr lang="fr-MA" dirty="0"/>
              <a:t>Algorithmes de machine </a:t>
            </a:r>
            <a:r>
              <a:rPr lang="fr-MA" dirty="0" err="1"/>
              <a:t>learning</a:t>
            </a:r>
            <a:endParaRPr lang="fr-MA" dirty="0"/>
          </a:p>
          <a:p>
            <a:pPr marL="342900" indent="-342900" algn="l">
              <a:buFont typeface="Arial" panose="020B0604020202020204" pitchFamily="34" charset="0"/>
              <a:buChar char="•"/>
            </a:pPr>
            <a:r>
              <a:rPr lang="fr-MA" dirty="0"/>
              <a:t>Filtrage collaboratif</a:t>
            </a:r>
          </a:p>
          <a:p>
            <a:pPr marL="342900" indent="-342900" algn="l">
              <a:buFont typeface="Arial" panose="020B0604020202020204" pitchFamily="34" charset="0"/>
              <a:buChar char="•"/>
            </a:pPr>
            <a:r>
              <a:rPr lang="fr-MA" dirty="0"/>
              <a:t>Recommandations en temps réel</a:t>
            </a:r>
          </a:p>
          <a:p>
            <a:pPr marL="342900" indent="-342900" algn="l">
              <a:buFont typeface="Arial" panose="020B0604020202020204" pitchFamily="34" charset="0"/>
              <a:buChar char="•"/>
            </a:pPr>
            <a:r>
              <a:rPr lang="fr-MA" dirty="0"/>
              <a:t>A/B </a:t>
            </a:r>
            <a:r>
              <a:rPr lang="fr-MA" dirty="0" err="1"/>
              <a:t>Testing</a:t>
            </a:r>
            <a:endParaRPr lang="fr-MA" dirty="0"/>
          </a:p>
          <a:p>
            <a:pPr marL="342900" indent="-342900" algn="l">
              <a:buFont typeface="Arial" panose="020B0604020202020204" pitchFamily="34" charset="0"/>
              <a:buChar char="•"/>
            </a:pPr>
            <a:r>
              <a:rPr lang="fr-MA" dirty="0"/>
              <a:t>Personnalisation par segment</a:t>
            </a:r>
          </a:p>
          <a:p>
            <a:pPr marL="342900" indent="-342900" algn="l">
              <a:buFont typeface="Arial" panose="020B0604020202020204" pitchFamily="34" charset="0"/>
              <a:buChar char="•"/>
            </a:pPr>
            <a:r>
              <a:rPr lang="fr-MA" dirty="0"/>
              <a:t>Analytics de performance</a:t>
            </a:r>
          </a:p>
          <a:p>
            <a:pPr marL="342900" indent="-342900" algn="l">
              <a:buFont typeface="Arial" panose="020B0604020202020204" pitchFamily="34" charset="0"/>
              <a:buChar char="•"/>
            </a:pPr>
            <a:r>
              <a:rPr lang="fr-MA" dirty="0"/>
              <a:t>API d'intégration</a:t>
            </a:r>
          </a:p>
          <a:p>
            <a:pPr marL="342900" indent="-342900" algn="l">
              <a:buFont typeface="Arial" panose="020B0604020202020204" pitchFamily="34" charset="0"/>
              <a:buChar char="•"/>
            </a:pPr>
            <a:r>
              <a:rPr lang="fr-MA" dirty="0"/>
              <a:t>Module de configuration</a:t>
            </a:r>
          </a:p>
          <a:p>
            <a:pPr marL="342900" indent="-342900" algn="l">
              <a:buFont typeface="Arial" panose="020B0604020202020204" pitchFamily="34" charset="0"/>
              <a:buChar char="•"/>
            </a:pPr>
            <a:r>
              <a:rPr lang="fr-MA" dirty="0"/>
              <a:t>Tableau de bord analytique</a:t>
            </a:r>
          </a:p>
          <a:p>
            <a:endParaRPr lang="fr-FR" dirty="0"/>
          </a:p>
        </p:txBody>
      </p:sp>
    </p:spTree>
    <p:extLst>
      <p:ext uri="{BB962C8B-B14F-4D97-AF65-F5344CB8AC3E}">
        <p14:creationId xmlns:p14="http://schemas.microsoft.com/office/powerpoint/2010/main" val="3964855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33AF4-2459-885F-04C4-684C8FBB13E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1BF5233-104F-4830-1618-6BFC35AB0A55}"/>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E970175B-3E86-797B-B34B-BD270CCAC11F}"/>
              </a:ext>
            </a:extLst>
          </p:cNvPr>
          <p:cNvSpPr>
            <a:spLocks noGrp="1"/>
          </p:cNvSpPr>
          <p:nvPr>
            <p:ph type="body" idx="1"/>
          </p:nvPr>
        </p:nvSpPr>
        <p:spPr>
          <a:xfrm>
            <a:off x="738906" y="1976137"/>
            <a:ext cx="11065997" cy="4174141"/>
          </a:xfrm>
        </p:spPr>
        <p:txBody>
          <a:bodyPr>
            <a:normAutofit fontScale="85000" lnSpcReduction="10000"/>
          </a:bodyPr>
          <a:lstStyle/>
          <a:p>
            <a:pPr algn="l"/>
            <a:r>
              <a:rPr lang="fr-MA" b="1" dirty="0"/>
              <a:t>8. Application de Shopping Social</a:t>
            </a:r>
          </a:p>
          <a:p>
            <a:pPr algn="l"/>
            <a:r>
              <a:rPr lang="fr-MA" b="1" dirty="0"/>
              <a:t>Description :</a:t>
            </a:r>
            <a:r>
              <a:rPr lang="fr-MA" dirty="0"/>
              <a:t> Plateforme combinant e-commerce et réseaux sociaux pour des achats collaboratifs.</a:t>
            </a:r>
          </a:p>
          <a:p>
            <a:pPr algn="l"/>
            <a:r>
              <a:rPr lang="fr-MA" b="1" dirty="0"/>
              <a:t>Modules nécessaires :</a:t>
            </a:r>
            <a:endParaRPr lang="fr-MA" dirty="0"/>
          </a:p>
          <a:p>
            <a:pPr marL="342900" indent="-342900" algn="l">
              <a:buFont typeface="Arial" panose="020B0604020202020204" pitchFamily="34" charset="0"/>
              <a:buChar char="•"/>
            </a:pPr>
            <a:r>
              <a:rPr lang="fr-MA" dirty="0"/>
              <a:t>Profils utilisateurs sociaux</a:t>
            </a:r>
          </a:p>
          <a:p>
            <a:pPr marL="342900" indent="-342900" algn="l">
              <a:buFont typeface="Arial" panose="020B0604020202020204" pitchFamily="34" charset="0"/>
              <a:buChar char="•"/>
            </a:pPr>
            <a:r>
              <a:rPr lang="fr-MA" dirty="0"/>
              <a:t>Fil d'actualité shopping</a:t>
            </a:r>
          </a:p>
          <a:p>
            <a:pPr marL="342900" indent="-342900" algn="l">
              <a:buFont typeface="Arial" panose="020B0604020202020204" pitchFamily="34" charset="0"/>
              <a:buChar char="•"/>
            </a:pPr>
            <a:r>
              <a:rPr lang="fr-MA" dirty="0"/>
              <a:t>Partage et likes de produits</a:t>
            </a:r>
          </a:p>
          <a:p>
            <a:pPr marL="342900" indent="-342900" algn="l">
              <a:buFont typeface="Arial" panose="020B0604020202020204" pitchFamily="34" charset="0"/>
              <a:buChar char="•"/>
            </a:pPr>
            <a:r>
              <a:rPr lang="fr-MA" dirty="0"/>
              <a:t>Achats groupés</a:t>
            </a:r>
          </a:p>
          <a:p>
            <a:pPr marL="342900" indent="-342900" algn="l">
              <a:buFont typeface="Arial" panose="020B0604020202020204" pitchFamily="34" charset="0"/>
              <a:buChar char="•"/>
            </a:pPr>
            <a:r>
              <a:rPr lang="fr-MA" dirty="0"/>
              <a:t>Live shopping</a:t>
            </a:r>
          </a:p>
          <a:p>
            <a:pPr marL="342900" indent="-342900" algn="l">
              <a:buFont typeface="Arial" panose="020B0604020202020204" pitchFamily="34" charset="0"/>
              <a:buChar char="•"/>
            </a:pPr>
            <a:r>
              <a:rPr lang="fr-MA" dirty="0"/>
              <a:t>Chat et messagerie</a:t>
            </a:r>
          </a:p>
          <a:p>
            <a:pPr marL="342900" indent="-342900" algn="l">
              <a:buFont typeface="Arial" panose="020B0604020202020204" pitchFamily="34" charset="0"/>
              <a:buChar char="•"/>
            </a:pPr>
            <a:r>
              <a:rPr lang="fr-MA" dirty="0"/>
              <a:t>Influence et ambassadeurs</a:t>
            </a:r>
          </a:p>
          <a:p>
            <a:pPr marL="342900" indent="-342900" algn="l">
              <a:buFont typeface="Arial" panose="020B0604020202020204" pitchFamily="34" charset="0"/>
              <a:buChar char="•"/>
            </a:pPr>
            <a:r>
              <a:rPr lang="fr-MA" dirty="0"/>
              <a:t>Intégration réseaux sociaux</a:t>
            </a:r>
          </a:p>
          <a:p>
            <a:pPr marL="342900" indent="-342900" algn="l">
              <a:buFont typeface="Arial" panose="020B0604020202020204" pitchFamily="34" charset="0"/>
              <a:buChar char="•"/>
            </a:pPr>
            <a:r>
              <a:rPr lang="fr-MA" dirty="0"/>
              <a:t>Système de parrainage</a:t>
            </a:r>
          </a:p>
          <a:p>
            <a:pPr marL="342900" indent="-342900" algn="l">
              <a:buFont typeface="Arial" panose="020B0604020202020204" pitchFamily="34" charset="0"/>
              <a:buChar char="•"/>
            </a:pPr>
            <a:r>
              <a:rPr lang="fr-MA" dirty="0"/>
              <a:t>Notifications push</a:t>
            </a:r>
          </a:p>
          <a:p>
            <a:endParaRPr lang="fr-FR" dirty="0"/>
          </a:p>
        </p:txBody>
      </p:sp>
    </p:spTree>
    <p:extLst>
      <p:ext uri="{BB962C8B-B14F-4D97-AF65-F5344CB8AC3E}">
        <p14:creationId xmlns:p14="http://schemas.microsoft.com/office/powerpoint/2010/main" val="3378367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453365-2607-9B01-5BB6-9CBABAA9A64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14E6ED-6C24-1BD5-3F5F-FF98B5F9BF2F}"/>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30C33452-939C-6972-4293-7F3412CDCD39}"/>
              </a:ext>
            </a:extLst>
          </p:cNvPr>
          <p:cNvSpPr>
            <a:spLocks noGrp="1"/>
          </p:cNvSpPr>
          <p:nvPr>
            <p:ph type="body" idx="1"/>
          </p:nvPr>
        </p:nvSpPr>
        <p:spPr/>
        <p:txBody>
          <a:bodyPr>
            <a:normAutofit fontScale="85000" lnSpcReduction="10000"/>
          </a:bodyPr>
          <a:lstStyle/>
          <a:p>
            <a:pPr algn="l"/>
            <a:r>
              <a:rPr lang="fr-MA" b="1" dirty="0"/>
              <a:t>9. Système de Gestion des Promotions</a:t>
            </a:r>
          </a:p>
          <a:p>
            <a:pPr algn="l"/>
            <a:r>
              <a:rPr lang="fr-MA" b="1" dirty="0"/>
              <a:t>Description :</a:t>
            </a:r>
            <a:r>
              <a:rPr lang="fr-MA" dirty="0"/>
              <a:t> Plateforme centralisant la création et la gestion des campagnes promotionnelles.</a:t>
            </a:r>
          </a:p>
          <a:p>
            <a:pPr algn="l"/>
            <a:r>
              <a:rPr lang="fr-MA" b="1" dirty="0"/>
              <a:t>Modules nécessaires :</a:t>
            </a:r>
            <a:endParaRPr lang="fr-MA" dirty="0"/>
          </a:p>
          <a:p>
            <a:pPr marL="342900" indent="-342900" algn="l">
              <a:buFont typeface="Arial" panose="020B0604020202020204" pitchFamily="34" charset="0"/>
              <a:buChar char="•"/>
            </a:pPr>
            <a:r>
              <a:rPr lang="fr-MA" dirty="0"/>
              <a:t>Création de codes promo</a:t>
            </a:r>
          </a:p>
          <a:p>
            <a:pPr marL="342900" indent="-342900" algn="l">
              <a:buFont typeface="Arial" panose="020B0604020202020204" pitchFamily="34" charset="0"/>
              <a:buChar char="•"/>
            </a:pPr>
            <a:r>
              <a:rPr lang="fr-MA" dirty="0"/>
              <a:t>Règles de réduction configurables</a:t>
            </a:r>
          </a:p>
          <a:p>
            <a:pPr marL="342900" indent="-342900" algn="l">
              <a:buFont typeface="Arial" panose="020B0604020202020204" pitchFamily="34" charset="0"/>
              <a:buChar char="•"/>
            </a:pPr>
            <a:r>
              <a:rPr lang="fr-MA" dirty="0"/>
              <a:t>Campagnes temporelles</a:t>
            </a:r>
          </a:p>
          <a:p>
            <a:pPr marL="342900" indent="-342900" algn="l">
              <a:buFont typeface="Arial" panose="020B0604020202020204" pitchFamily="34" charset="0"/>
              <a:buChar char="•"/>
            </a:pPr>
            <a:r>
              <a:rPr lang="fr-MA" dirty="0"/>
              <a:t>Ciblage client</a:t>
            </a:r>
          </a:p>
          <a:p>
            <a:pPr marL="342900" indent="-342900" algn="l">
              <a:buFont typeface="Arial" panose="020B0604020202020204" pitchFamily="34" charset="0"/>
              <a:buChar char="•"/>
            </a:pPr>
            <a:r>
              <a:rPr lang="fr-MA" dirty="0"/>
              <a:t>Limite d'utilisation</a:t>
            </a:r>
          </a:p>
          <a:p>
            <a:pPr marL="342900" indent="-342900" algn="l">
              <a:buFont typeface="Arial" panose="020B0604020202020204" pitchFamily="34" charset="0"/>
              <a:buChar char="•"/>
            </a:pPr>
            <a:r>
              <a:rPr lang="fr-MA" dirty="0"/>
              <a:t>Stack de promotions</a:t>
            </a:r>
          </a:p>
          <a:p>
            <a:pPr marL="342900" indent="-342900" algn="l">
              <a:buFont typeface="Arial" panose="020B0604020202020204" pitchFamily="34" charset="0"/>
              <a:buChar char="•"/>
            </a:pPr>
            <a:r>
              <a:rPr lang="fr-MA" dirty="0"/>
              <a:t>Validation et contrôle</a:t>
            </a:r>
          </a:p>
          <a:p>
            <a:pPr marL="342900" indent="-342900" algn="l">
              <a:buFont typeface="Arial" panose="020B0604020202020204" pitchFamily="34" charset="0"/>
              <a:buChar char="•"/>
            </a:pPr>
            <a:r>
              <a:rPr lang="fr-MA" dirty="0" err="1"/>
              <a:t>Reporting</a:t>
            </a:r>
            <a:r>
              <a:rPr lang="fr-MA" dirty="0"/>
              <a:t> ROI</a:t>
            </a:r>
          </a:p>
          <a:p>
            <a:pPr marL="342900" indent="-342900" algn="l">
              <a:buFont typeface="Arial" panose="020B0604020202020204" pitchFamily="34" charset="0"/>
              <a:buChar char="•"/>
            </a:pPr>
            <a:r>
              <a:rPr lang="fr-MA" dirty="0"/>
              <a:t>Intégration caisse</a:t>
            </a:r>
          </a:p>
          <a:p>
            <a:pPr marL="342900" indent="-342900" algn="l">
              <a:buFont typeface="Arial" panose="020B0604020202020204" pitchFamily="34" charset="0"/>
              <a:buChar char="•"/>
            </a:pPr>
            <a:r>
              <a:rPr lang="fr-MA" dirty="0"/>
              <a:t>Module de diffusion</a:t>
            </a:r>
          </a:p>
          <a:p>
            <a:endParaRPr lang="fr-FR" dirty="0"/>
          </a:p>
        </p:txBody>
      </p:sp>
    </p:spTree>
    <p:extLst>
      <p:ext uri="{BB962C8B-B14F-4D97-AF65-F5344CB8AC3E}">
        <p14:creationId xmlns:p14="http://schemas.microsoft.com/office/powerpoint/2010/main" val="2463478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CA0F4-E2EA-F232-6D31-07001B18171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3DA9F3A-E9DF-1600-4E78-8D82D1D567F6}"/>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BFB8D621-A01D-60D7-6C1A-932E7AA6177D}"/>
              </a:ext>
            </a:extLst>
          </p:cNvPr>
          <p:cNvSpPr>
            <a:spLocks noGrp="1"/>
          </p:cNvSpPr>
          <p:nvPr>
            <p:ph type="body" idx="1"/>
          </p:nvPr>
        </p:nvSpPr>
        <p:spPr/>
        <p:txBody>
          <a:bodyPr>
            <a:normAutofit fontScale="92500" lnSpcReduction="20000"/>
          </a:bodyPr>
          <a:lstStyle/>
          <a:p>
            <a:pPr algn="l"/>
            <a:r>
              <a:rPr lang="fr-MA" b="1" dirty="0"/>
              <a:t>10. Solution d'Analyse Concurrentielle E-commerce</a:t>
            </a:r>
          </a:p>
          <a:p>
            <a:pPr algn="l"/>
            <a:r>
              <a:rPr lang="fr-MA" b="1" dirty="0"/>
              <a:t>Description :</a:t>
            </a:r>
            <a:r>
              <a:rPr lang="fr-MA" dirty="0"/>
              <a:t> Outil de veille concurrentielle pour monitorer prix, stocks et stratégies.</a:t>
            </a:r>
          </a:p>
          <a:p>
            <a:pPr algn="l"/>
            <a:r>
              <a:rPr lang="fr-MA" b="1" dirty="0"/>
              <a:t>Modules nécessaires :</a:t>
            </a:r>
            <a:endParaRPr lang="fr-MA" dirty="0"/>
          </a:p>
          <a:p>
            <a:pPr marL="342900" indent="-342900" algn="l">
              <a:buFont typeface="Arial" panose="020B0604020202020204" pitchFamily="34" charset="0"/>
              <a:buChar char="•"/>
            </a:pPr>
            <a:r>
              <a:rPr lang="fr-MA" dirty="0"/>
              <a:t>Monitoring automatique concurrents</a:t>
            </a:r>
          </a:p>
          <a:p>
            <a:pPr marL="342900" indent="-342900" algn="l">
              <a:buFont typeface="Arial" panose="020B0604020202020204" pitchFamily="34" charset="0"/>
              <a:buChar char="•"/>
            </a:pPr>
            <a:r>
              <a:rPr lang="fr-MA" dirty="0" err="1"/>
              <a:t>Scraping</a:t>
            </a:r>
            <a:r>
              <a:rPr lang="fr-MA" dirty="0"/>
              <a:t> </a:t>
            </a:r>
            <a:r>
              <a:rPr lang="fr-MA" dirty="0" err="1"/>
              <a:t>multi-sites</a:t>
            </a:r>
            <a:endParaRPr lang="fr-MA" dirty="0"/>
          </a:p>
          <a:p>
            <a:pPr marL="342900" indent="-342900" algn="l">
              <a:buFont typeface="Arial" panose="020B0604020202020204" pitchFamily="34" charset="0"/>
              <a:buChar char="•"/>
            </a:pPr>
            <a:r>
              <a:rPr lang="fr-MA" dirty="0"/>
              <a:t>Alertes en temps réel</a:t>
            </a:r>
          </a:p>
          <a:p>
            <a:pPr marL="342900" indent="-342900" algn="l">
              <a:buFont typeface="Arial" panose="020B0604020202020204" pitchFamily="34" charset="0"/>
              <a:buChar char="•"/>
            </a:pPr>
            <a:r>
              <a:rPr lang="fr-MA" dirty="0"/>
              <a:t>Analyse de </a:t>
            </a:r>
            <a:r>
              <a:rPr lang="fr-MA" dirty="0" err="1"/>
              <a:t>pricing</a:t>
            </a:r>
            <a:endParaRPr lang="fr-MA" dirty="0"/>
          </a:p>
          <a:p>
            <a:pPr marL="342900" indent="-342900" algn="l">
              <a:buFont typeface="Arial" panose="020B0604020202020204" pitchFamily="34" charset="0"/>
              <a:buChar char="•"/>
            </a:pPr>
            <a:r>
              <a:rPr lang="fr-MA" dirty="0"/>
              <a:t>Suivi assortiment</a:t>
            </a:r>
          </a:p>
          <a:p>
            <a:pPr marL="342900" indent="-342900" algn="l">
              <a:buFont typeface="Arial" panose="020B0604020202020204" pitchFamily="34" charset="0"/>
              <a:buChar char="•"/>
            </a:pPr>
            <a:r>
              <a:rPr lang="fr-MA" dirty="0"/>
              <a:t>Benchmarking</a:t>
            </a:r>
          </a:p>
          <a:p>
            <a:pPr marL="342900" indent="-342900" algn="l">
              <a:buFont typeface="Arial" panose="020B0604020202020204" pitchFamily="34" charset="0"/>
              <a:buChar char="•"/>
            </a:pPr>
            <a:r>
              <a:rPr lang="fr-MA" dirty="0"/>
              <a:t>Visualisation données</a:t>
            </a:r>
          </a:p>
          <a:p>
            <a:pPr marL="342900" indent="-342900" algn="l">
              <a:buFont typeface="Arial" panose="020B0604020202020204" pitchFamily="34" charset="0"/>
              <a:buChar char="•"/>
            </a:pPr>
            <a:r>
              <a:rPr lang="fr-MA" dirty="0"/>
              <a:t>Rapports automatisés</a:t>
            </a:r>
          </a:p>
          <a:p>
            <a:pPr marL="342900" indent="-342900" algn="l">
              <a:buFont typeface="Arial" panose="020B0604020202020204" pitchFamily="34" charset="0"/>
              <a:buChar char="•"/>
            </a:pPr>
            <a:r>
              <a:rPr lang="fr-MA" dirty="0"/>
              <a:t>Intelligence artificielle</a:t>
            </a:r>
          </a:p>
          <a:p>
            <a:endParaRPr lang="fr-FR" dirty="0"/>
          </a:p>
        </p:txBody>
      </p:sp>
    </p:spTree>
    <p:extLst>
      <p:ext uri="{BB962C8B-B14F-4D97-AF65-F5344CB8AC3E}">
        <p14:creationId xmlns:p14="http://schemas.microsoft.com/office/powerpoint/2010/main" val="503667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56538-EC77-50F6-4C83-EEF5675E27A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C0900D-527C-BCDB-1BA4-2B6ED552D89F}"/>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71A0C521-7389-10AE-CA63-78190D208B9B}"/>
              </a:ext>
            </a:extLst>
          </p:cNvPr>
          <p:cNvSpPr>
            <a:spLocks noGrp="1"/>
          </p:cNvSpPr>
          <p:nvPr>
            <p:ph type="body" idx="1"/>
          </p:nvPr>
        </p:nvSpPr>
        <p:spPr/>
        <p:txBody>
          <a:bodyPr>
            <a:normAutofit fontScale="85000" lnSpcReduction="20000"/>
          </a:bodyPr>
          <a:lstStyle/>
          <a:p>
            <a:pPr algn="ctr"/>
            <a:r>
              <a:rPr lang="fr-MA" b="1" dirty="0"/>
              <a:t>CATÉGORIE 2 : SANTÉ ET MÉDECINE (5 projets)</a:t>
            </a:r>
          </a:p>
          <a:p>
            <a:pPr algn="l"/>
            <a:r>
              <a:rPr lang="fr-MA" b="1" dirty="0"/>
              <a:t>11. Système de Gestion Hospitalière (HIS)</a:t>
            </a:r>
          </a:p>
          <a:p>
            <a:pPr algn="l"/>
            <a:r>
              <a:rPr lang="fr-MA" b="1" dirty="0"/>
              <a:t>Description :</a:t>
            </a:r>
            <a:r>
              <a:rPr lang="fr-MA" dirty="0"/>
              <a:t> Solution complète pour la gestion administrative et médicale d'un hôpital.</a:t>
            </a:r>
          </a:p>
          <a:p>
            <a:pPr algn="l"/>
            <a:r>
              <a:rPr lang="fr-MA" b="1" dirty="0"/>
              <a:t>Modules nécessaires :</a:t>
            </a:r>
            <a:endParaRPr lang="fr-MA" dirty="0"/>
          </a:p>
          <a:p>
            <a:pPr marL="342900" indent="-342900" algn="l">
              <a:buFont typeface="Arial" panose="020B0604020202020204" pitchFamily="34" charset="0"/>
              <a:buChar char="•"/>
            </a:pPr>
            <a:r>
              <a:rPr lang="fr-MA" dirty="0"/>
              <a:t>Dossier patient électronique (DPI)</a:t>
            </a:r>
          </a:p>
          <a:p>
            <a:pPr marL="342900" indent="-342900" algn="l">
              <a:buFont typeface="Arial" panose="020B0604020202020204" pitchFamily="34" charset="0"/>
              <a:buChar char="•"/>
            </a:pPr>
            <a:r>
              <a:rPr lang="fr-MA" dirty="0"/>
              <a:t>Gestion des admissions</a:t>
            </a:r>
          </a:p>
          <a:p>
            <a:pPr marL="342900" indent="-342900" algn="l">
              <a:buFont typeface="Arial" panose="020B0604020202020204" pitchFamily="34" charset="0"/>
              <a:buChar char="•"/>
            </a:pPr>
            <a:r>
              <a:rPr lang="fr-MA" dirty="0"/>
              <a:t>Planification des consultations</a:t>
            </a:r>
          </a:p>
          <a:p>
            <a:pPr marL="342900" indent="-342900" algn="l">
              <a:buFont typeface="Arial" panose="020B0604020202020204" pitchFamily="34" charset="0"/>
              <a:buChar char="•"/>
            </a:pPr>
            <a:r>
              <a:rPr lang="fr-MA" dirty="0"/>
              <a:t>Gestion des blocs opératoires</a:t>
            </a:r>
          </a:p>
          <a:p>
            <a:pPr marL="342900" indent="-342900" algn="l">
              <a:buFont typeface="Arial" panose="020B0604020202020204" pitchFamily="34" charset="0"/>
              <a:buChar char="•"/>
            </a:pPr>
            <a:r>
              <a:rPr lang="fr-MA" dirty="0"/>
              <a:t>Pharmacie hospitalière</a:t>
            </a:r>
          </a:p>
          <a:p>
            <a:pPr marL="342900" indent="-342900" algn="l">
              <a:buFont typeface="Arial" panose="020B0604020202020204" pitchFamily="34" charset="0"/>
              <a:buChar char="•"/>
            </a:pPr>
            <a:r>
              <a:rPr lang="fr-MA" dirty="0"/>
              <a:t>Laboratoire et imagerie</a:t>
            </a:r>
          </a:p>
          <a:p>
            <a:pPr marL="342900" indent="-342900" algn="l">
              <a:buFont typeface="Arial" panose="020B0604020202020204" pitchFamily="34" charset="0"/>
              <a:buChar char="•"/>
            </a:pPr>
            <a:r>
              <a:rPr lang="fr-MA" dirty="0"/>
              <a:t>Facturation et assurance</a:t>
            </a:r>
          </a:p>
          <a:p>
            <a:pPr marL="342900" indent="-342900" algn="l">
              <a:buFont typeface="Arial" panose="020B0604020202020204" pitchFamily="34" charset="0"/>
              <a:buChar char="•"/>
            </a:pPr>
            <a:r>
              <a:rPr lang="fr-MA" dirty="0"/>
              <a:t>Gestion des lits</a:t>
            </a:r>
          </a:p>
          <a:p>
            <a:pPr marL="342900" indent="-342900" algn="l">
              <a:buFont typeface="Arial" panose="020B0604020202020204" pitchFamily="34" charset="0"/>
              <a:buChar char="•"/>
            </a:pPr>
            <a:r>
              <a:rPr lang="fr-MA" dirty="0"/>
              <a:t>Ressources humaines médicales</a:t>
            </a:r>
          </a:p>
          <a:p>
            <a:pPr marL="342900" indent="-342900" algn="l">
              <a:buFont typeface="Arial" panose="020B0604020202020204" pitchFamily="34" charset="0"/>
              <a:buChar char="•"/>
            </a:pPr>
            <a:r>
              <a:rPr lang="fr-MA" dirty="0" err="1"/>
              <a:t>Reporting</a:t>
            </a:r>
            <a:r>
              <a:rPr lang="fr-MA" dirty="0"/>
              <a:t> et statistiques sanitaires</a:t>
            </a:r>
          </a:p>
          <a:p>
            <a:endParaRPr lang="fr-FR" dirty="0"/>
          </a:p>
        </p:txBody>
      </p:sp>
    </p:spTree>
    <p:extLst>
      <p:ext uri="{BB962C8B-B14F-4D97-AF65-F5344CB8AC3E}">
        <p14:creationId xmlns:p14="http://schemas.microsoft.com/office/powerpoint/2010/main" val="3839066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99F3B-014B-A7A8-C0EF-F370FAEF6A8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5913805-F04A-FFB4-68D5-4B2C6C07B67A}"/>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5D831EDC-D8CE-CA8D-25AE-2DA80B1E4FFF}"/>
              </a:ext>
            </a:extLst>
          </p:cNvPr>
          <p:cNvSpPr>
            <a:spLocks noGrp="1"/>
          </p:cNvSpPr>
          <p:nvPr>
            <p:ph type="body" idx="1"/>
          </p:nvPr>
        </p:nvSpPr>
        <p:spPr/>
        <p:txBody>
          <a:bodyPr>
            <a:normAutofit fontScale="92500" lnSpcReduction="20000"/>
          </a:bodyPr>
          <a:lstStyle/>
          <a:p>
            <a:pPr algn="l"/>
            <a:r>
              <a:rPr lang="fr-MA" b="1" dirty="0"/>
              <a:t>12. Application de Télémédecine</a:t>
            </a:r>
          </a:p>
          <a:p>
            <a:pPr algn="l"/>
            <a:r>
              <a:rPr lang="fr-MA" b="1" dirty="0"/>
              <a:t>Description :</a:t>
            </a:r>
            <a:r>
              <a:rPr lang="fr-MA" dirty="0"/>
              <a:t> Plateforme de consultations médicales à distance avec visioconférence.</a:t>
            </a:r>
          </a:p>
          <a:p>
            <a:pPr algn="l"/>
            <a:r>
              <a:rPr lang="fr-MA" b="1" dirty="0"/>
              <a:t>Modules nécessaires :</a:t>
            </a:r>
            <a:endParaRPr lang="fr-MA" dirty="0"/>
          </a:p>
          <a:p>
            <a:pPr marL="342900" indent="-342900" algn="l">
              <a:buFont typeface="Arial" panose="020B0604020202020204" pitchFamily="34" charset="0"/>
              <a:buChar char="•"/>
            </a:pPr>
            <a:r>
              <a:rPr lang="fr-MA" dirty="0"/>
              <a:t>Visioconférence sécurisée</a:t>
            </a:r>
          </a:p>
          <a:p>
            <a:pPr marL="342900" indent="-342900" algn="l">
              <a:buFont typeface="Arial" panose="020B0604020202020204" pitchFamily="34" charset="0"/>
              <a:buChar char="•"/>
            </a:pPr>
            <a:r>
              <a:rPr lang="fr-MA" dirty="0"/>
              <a:t>Agenda médecins</a:t>
            </a:r>
          </a:p>
          <a:p>
            <a:pPr marL="342900" indent="-342900" algn="l">
              <a:buFont typeface="Arial" panose="020B0604020202020204" pitchFamily="34" charset="0"/>
              <a:buChar char="•"/>
            </a:pPr>
            <a:r>
              <a:rPr lang="fr-MA" dirty="0"/>
              <a:t>Prise de rendez-vous en ligne</a:t>
            </a:r>
          </a:p>
          <a:p>
            <a:pPr marL="342900" indent="-342900" algn="l">
              <a:buFont typeface="Arial" panose="020B0604020202020204" pitchFamily="34" charset="0"/>
              <a:buChar char="•"/>
            </a:pPr>
            <a:r>
              <a:rPr lang="fr-MA" dirty="0"/>
              <a:t>Dossier médical partagé</a:t>
            </a:r>
          </a:p>
          <a:p>
            <a:pPr marL="342900" indent="-342900" algn="l">
              <a:buFont typeface="Arial" panose="020B0604020202020204" pitchFamily="34" charset="0"/>
              <a:buChar char="•"/>
            </a:pPr>
            <a:r>
              <a:rPr lang="fr-MA" dirty="0"/>
              <a:t>Prescription électronique</a:t>
            </a:r>
          </a:p>
          <a:p>
            <a:pPr marL="342900" indent="-342900" algn="l">
              <a:buFont typeface="Arial" panose="020B0604020202020204" pitchFamily="34" charset="0"/>
              <a:buChar char="•"/>
            </a:pPr>
            <a:r>
              <a:rPr lang="fr-MA" dirty="0"/>
              <a:t>Paiement en ligne</a:t>
            </a:r>
          </a:p>
          <a:p>
            <a:pPr marL="342900" indent="-342900" algn="l">
              <a:buFont typeface="Arial" panose="020B0604020202020204" pitchFamily="34" charset="0"/>
              <a:buChar char="•"/>
            </a:pPr>
            <a:r>
              <a:rPr lang="fr-MA" dirty="0"/>
              <a:t>Messagerie sécurisée</a:t>
            </a:r>
          </a:p>
          <a:p>
            <a:pPr marL="342900" indent="-342900" algn="l">
              <a:buFont typeface="Arial" panose="020B0604020202020204" pitchFamily="34" charset="0"/>
              <a:buChar char="•"/>
            </a:pPr>
            <a:r>
              <a:rPr lang="fr-MA" dirty="0"/>
              <a:t>Partage de documents</a:t>
            </a:r>
          </a:p>
          <a:p>
            <a:pPr marL="342900" indent="-342900" algn="l">
              <a:buFont typeface="Arial" panose="020B0604020202020204" pitchFamily="34" charset="0"/>
              <a:buChar char="•"/>
            </a:pPr>
            <a:r>
              <a:rPr lang="fr-MA" dirty="0"/>
              <a:t>Conformité RGPD/HIPAA</a:t>
            </a:r>
          </a:p>
          <a:p>
            <a:pPr marL="342900" indent="-342900" algn="l">
              <a:buFont typeface="Arial" panose="020B0604020202020204" pitchFamily="34" charset="0"/>
              <a:buChar char="•"/>
            </a:pPr>
            <a:r>
              <a:rPr lang="fr-MA" dirty="0"/>
              <a:t>Application mobile</a:t>
            </a:r>
          </a:p>
          <a:p>
            <a:pPr algn="l"/>
            <a:endParaRPr lang="fr-FR" dirty="0"/>
          </a:p>
        </p:txBody>
      </p:sp>
    </p:spTree>
    <p:extLst>
      <p:ext uri="{BB962C8B-B14F-4D97-AF65-F5344CB8AC3E}">
        <p14:creationId xmlns:p14="http://schemas.microsoft.com/office/powerpoint/2010/main" val="2197190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BAC5B-5D74-93C7-D771-59F51076D5A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76AA3B5-26DD-2E6D-321F-60447807A429}"/>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E1ACF1D9-2C45-A2BE-CA50-FB07E0715A43}"/>
              </a:ext>
            </a:extLst>
          </p:cNvPr>
          <p:cNvSpPr>
            <a:spLocks noGrp="1"/>
          </p:cNvSpPr>
          <p:nvPr>
            <p:ph type="body" idx="1"/>
          </p:nvPr>
        </p:nvSpPr>
        <p:spPr/>
        <p:txBody>
          <a:bodyPr>
            <a:normAutofit fontScale="92500" lnSpcReduction="20000"/>
          </a:bodyPr>
          <a:lstStyle/>
          <a:p>
            <a:pPr algn="l"/>
            <a:r>
              <a:rPr lang="fr-MA" b="1" dirty="0"/>
              <a:t>13. Système de Gestion de Pharmacie</a:t>
            </a:r>
          </a:p>
          <a:p>
            <a:pPr algn="l"/>
            <a:r>
              <a:rPr lang="fr-MA" b="1" dirty="0"/>
              <a:t>Description :</a:t>
            </a:r>
            <a:r>
              <a:rPr lang="fr-MA" dirty="0"/>
              <a:t> Solution complète pour la gestion d'une officine pharmaceutique.</a:t>
            </a:r>
          </a:p>
          <a:p>
            <a:pPr algn="l"/>
            <a:r>
              <a:rPr lang="fr-MA" b="1" dirty="0"/>
              <a:t>Modules nécessaires :</a:t>
            </a:r>
            <a:endParaRPr lang="fr-MA" dirty="0"/>
          </a:p>
          <a:p>
            <a:pPr marL="342900" indent="-342900" algn="l">
              <a:buFont typeface="Arial" panose="020B0604020202020204" pitchFamily="34" charset="0"/>
              <a:buChar char="•"/>
            </a:pPr>
            <a:r>
              <a:rPr lang="fr-MA" dirty="0"/>
              <a:t>Gestion des stocks médicaments</a:t>
            </a:r>
          </a:p>
          <a:p>
            <a:pPr marL="342900" indent="-342900" algn="l">
              <a:buFont typeface="Arial" panose="020B0604020202020204" pitchFamily="34" charset="0"/>
              <a:buChar char="•"/>
            </a:pPr>
            <a:r>
              <a:rPr lang="fr-MA" dirty="0"/>
              <a:t>Dispensation et ordonnances</a:t>
            </a:r>
          </a:p>
          <a:p>
            <a:pPr marL="342900" indent="-342900" algn="l">
              <a:buFont typeface="Arial" panose="020B0604020202020204" pitchFamily="34" charset="0"/>
              <a:buChar char="•"/>
            </a:pPr>
            <a:r>
              <a:rPr lang="fr-MA" dirty="0"/>
              <a:t>Dossier pharmaceutique</a:t>
            </a:r>
          </a:p>
          <a:p>
            <a:pPr marL="342900" indent="-342900" algn="l">
              <a:buFont typeface="Arial" panose="020B0604020202020204" pitchFamily="34" charset="0"/>
              <a:buChar char="•"/>
            </a:pPr>
            <a:r>
              <a:rPr lang="fr-MA" dirty="0"/>
              <a:t>Tiers payant</a:t>
            </a:r>
          </a:p>
          <a:p>
            <a:pPr marL="342900" indent="-342900" algn="l">
              <a:buFont typeface="Arial" panose="020B0604020202020204" pitchFamily="34" charset="0"/>
              <a:buChar char="•"/>
            </a:pPr>
            <a:r>
              <a:rPr lang="fr-MA" dirty="0"/>
              <a:t>Gestion des péremptions</a:t>
            </a:r>
          </a:p>
          <a:p>
            <a:pPr marL="342900" indent="-342900" algn="l">
              <a:buFont typeface="Arial" panose="020B0604020202020204" pitchFamily="34" charset="0"/>
              <a:buChar char="•"/>
            </a:pPr>
            <a:r>
              <a:rPr lang="fr-MA" dirty="0"/>
              <a:t>Commandes fournisseurs</a:t>
            </a:r>
          </a:p>
          <a:p>
            <a:pPr marL="342900" indent="-342900" algn="l">
              <a:buFont typeface="Arial" panose="020B0604020202020204" pitchFamily="34" charset="0"/>
              <a:buChar char="•"/>
            </a:pPr>
            <a:r>
              <a:rPr lang="fr-MA" dirty="0"/>
              <a:t>Caisse et facturation</a:t>
            </a:r>
          </a:p>
          <a:p>
            <a:pPr marL="342900" indent="-342900" algn="l">
              <a:buFont typeface="Arial" panose="020B0604020202020204" pitchFamily="34" charset="0"/>
              <a:buChar char="•"/>
            </a:pPr>
            <a:r>
              <a:rPr lang="fr-MA" dirty="0"/>
              <a:t>Conseils pharmaceutiques</a:t>
            </a:r>
          </a:p>
          <a:p>
            <a:pPr marL="342900" indent="-342900" algn="l">
              <a:buFont typeface="Arial" panose="020B0604020202020204" pitchFamily="34" charset="0"/>
              <a:buChar char="•"/>
            </a:pPr>
            <a:r>
              <a:rPr lang="fr-MA" dirty="0"/>
              <a:t>Alertes interactions médicamenteuses</a:t>
            </a:r>
          </a:p>
          <a:p>
            <a:pPr marL="342900" indent="-342900" algn="l">
              <a:buFont typeface="Arial" panose="020B0604020202020204" pitchFamily="34" charset="0"/>
              <a:buChar char="•"/>
            </a:pPr>
            <a:r>
              <a:rPr lang="fr-MA" dirty="0" err="1"/>
              <a:t>Reporting</a:t>
            </a:r>
            <a:r>
              <a:rPr lang="fr-MA" dirty="0"/>
              <a:t> réglementaire</a:t>
            </a:r>
          </a:p>
          <a:p>
            <a:pPr algn="l"/>
            <a:endParaRPr lang="fr-FR" dirty="0"/>
          </a:p>
        </p:txBody>
      </p:sp>
    </p:spTree>
    <p:extLst>
      <p:ext uri="{BB962C8B-B14F-4D97-AF65-F5344CB8AC3E}">
        <p14:creationId xmlns:p14="http://schemas.microsoft.com/office/powerpoint/2010/main" val="1521998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DEE2E-79FB-DBE5-D3E3-9028D32B8B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2EFC2E6-D425-0921-8565-FCB55C721466}"/>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427DF7B2-C5BA-53F4-07D0-B728FE185DF4}"/>
              </a:ext>
            </a:extLst>
          </p:cNvPr>
          <p:cNvSpPr>
            <a:spLocks noGrp="1"/>
          </p:cNvSpPr>
          <p:nvPr>
            <p:ph type="body" idx="1"/>
          </p:nvPr>
        </p:nvSpPr>
        <p:spPr/>
        <p:txBody>
          <a:bodyPr>
            <a:normAutofit fontScale="85000" lnSpcReduction="20000"/>
          </a:bodyPr>
          <a:lstStyle/>
          <a:p>
            <a:pPr algn="l"/>
            <a:r>
              <a:rPr lang="fr-MA" b="1" dirty="0"/>
              <a:t>14. Plateforme de Suivi des Patients Chroniques</a:t>
            </a:r>
          </a:p>
          <a:p>
            <a:pPr algn="l"/>
            <a:r>
              <a:rPr lang="fr-MA" b="1" dirty="0"/>
              <a:t>Description :</a:t>
            </a:r>
            <a:r>
              <a:rPr lang="fr-MA" dirty="0"/>
              <a:t> Application de monitoring et d’accompagnement des patients atteints de maladies chroniques.</a:t>
            </a:r>
          </a:p>
          <a:p>
            <a:pPr algn="l"/>
            <a:r>
              <a:rPr lang="fr-MA" b="1" dirty="0"/>
              <a:t>Modules nécessaires :</a:t>
            </a:r>
            <a:endParaRPr lang="fr-MA" dirty="0"/>
          </a:p>
          <a:p>
            <a:pPr marL="342900" indent="-342900" algn="l">
              <a:buFont typeface="Arial" panose="020B0604020202020204" pitchFamily="34" charset="0"/>
              <a:buChar char="•"/>
            </a:pPr>
            <a:r>
              <a:rPr lang="fr-MA" dirty="0"/>
              <a:t>Carnet de santé numérique</a:t>
            </a:r>
          </a:p>
          <a:p>
            <a:pPr marL="342900" indent="-342900" algn="l">
              <a:buFont typeface="Arial" panose="020B0604020202020204" pitchFamily="34" charset="0"/>
              <a:buChar char="•"/>
            </a:pPr>
            <a:r>
              <a:rPr lang="fr-MA" dirty="0"/>
              <a:t>Suivi des paramètres vitaux</a:t>
            </a:r>
          </a:p>
          <a:p>
            <a:pPr marL="342900" indent="-342900" algn="l">
              <a:buFont typeface="Arial" panose="020B0604020202020204" pitchFamily="34" charset="0"/>
              <a:buChar char="•"/>
            </a:pPr>
            <a:r>
              <a:rPr lang="fr-MA" dirty="0"/>
              <a:t>Rappels médicamenteux</a:t>
            </a:r>
          </a:p>
          <a:p>
            <a:pPr marL="342900" indent="-342900" algn="l">
              <a:buFont typeface="Arial" panose="020B0604020202020204" pitchFamily="34" charset="0"/>
              <a:buChar char="•"/>
            </a:pPr>
            <a:r>
              <a:rPr lang="fr-MA" dirty="0"/>
              <a:t>Télésurveillance</a:t>
            </a:r>
          </a:p>
          <a:p>
            <a:pPr marL="342900" indent="-342900" algn="l">
              <a:buFont typeface="Arial" panose="020B0604020202020204" pitchFamily="34" charset="0"/>
              <a:buChar char="•"/>
            </a:pPr>
            <a:r>
              <a:rPr lang="fr-MA" dirty="0"/>
              <a:t>Objectifs santé personnalisés</a:t>
            </a:r>
          </a:p>
          <a:p>
            <a:pPr marL="342900" indent="-342900" algn="l">
              <a:buFont typeface="Arial" panose="020B0604020202020204" pitchFamily="34" charset="0"/>
              <a:buChar char="•"/>
            </a:pPr>
            <a:r>
              <a:rPr lang="fr-MA" dirty="0"/>
              <a:t>Communication patient-médecin</a:t>
            </a:r>
          </a:p>
          <a:p>
            <a:pPr marL="342900" indent="-342900" algn="l">
              <a:buFont typeface="Arial" panose="020B0604020202020204" pitchFamily="34" charset="0"/>
              <a:buChar char="•"/>
            </a:pPr>
            <a:r>
              <a:rPr lang="fr-MA" dirty="0"/>
              <a:t>Intégration objets connectés</a:t>
            </a:r>
          </a:p>
          <a:p>
            <a:pPr marL="342900" indent="-342900" algn="l">
              <a:buFont typeface="Arial" panose="020B0604020202020204" pitchFamily="34" charset="0"/>
              <a:buChar char="•"/>
            </a:pPr>
            <a:r>
              <a:rPr lang="fr-MA" dirty="0"/>
              <a:t>Alertes automatiques</a:t>
            </a:r>
          </a:p>
          <a:p>
            <a:pPr marL="342900" indent="-342900" algn="l">
              <a:buFont typeface="Arial" panose="020B0604020202020204" pitchFamily="34" charset="0"/>
              <a:buChar char="•"/>
            </a:pPr>
            <a:r>
              <a:rPr lang="fr-MA" dirty="0"/>
              <a:t>Éducation thérapeutique</a:t>
            </a:r>
          </a:p>
          <a:p>
            <a:pPr marL="342900" indent="-342900" algn="l">
              <a:buFont typeface="Arial" panose="020B0604020202020204" pitchFamily="34" charset="0"/>
              <a:buChar char="•"/>
            </a:pPr>
            <a:r>
              <a:rPr lang="fr-MA" dirty="0"/>
              <a:t>Analyses et rapports</a:t>
            </a:r>
          </a:p>
          <a:p>
            <a:pPr algn="l"/>
            <a:endParaRPr lang="fr-FR" dirty="0"/>
          </a:p>
        </p:txBody>
      </p:sp>
    </p:spTree>
    <p:extLst>
      <p:ext uri="{BB962C8B-B14F-4D97-AF65-F5344CB8AC3E}">
        <p14:creationId xmlns:p14="http://schemas.microsoft.com/office/powerpoint/2010/main" val="3599302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CE357-6A4B-7ACC-3650-508D3B76445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9FA115-D649-C1C0-E6B1-EE2D0F5F72B9}"/>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9565BBD1-5D6D-BD0D-6AD5-F28AEAC98BDD}"/>
              </a:ext>
            </a:extLst>
          </p:cNvPr>
          <p:cNvSpPr>
            <a:spLocks noGrp="1"/>
          </p:cNvSpPr>
          <p:nvPr>
            <p:ph type="body" idx="1"/>
          </p:nvPr>
        </p:nvSpPr>
        <p:spPr/>
        <p:txBody>
          <a:bodyPr>
            <a:normAutofit fontScale="85000" lnSpcReduction="10000"/>
          </a:bodyPr>
          <a:lstStyle/>
          <a:p>
            <a:pPr algn="l"/>
            <a:r>
              <a:rPr lang="fr-MA" b="1" dirty="0"/>
              <a:t>15. Système de Gestion de Laboratoire (LIMS)</a:t>
            </a:r>
          </a:p>
          <a:p>
            <a:pPr algn="l"/>
            <a:r>
              <a:rPr lang="fr-MA" b="1" dirty="0"/>
              <a:t>Description :</a:t>
            </a:r>
            <a:r>
              <a:rPr lang="fr-MA" dirty="0"/>
              <a:t> Solution pour la gestion des analyses et des échantillons en laboratoire médical.</a:t>
            </a:r>
          </a:p>
          <a:p>
            <a:pPr algn="l"/>
            <a:r>
              <a:rPr lang="fr-MA" b="1" dirty="0"/>
              <a:t>Modules nécessaires :</a:t>
            </a:r>
            <a:endParaRPr lang="fr-MA" dirty="0"/>
          </a:p>
          <a:p>
            <a:pPr marL="342900" indent="-342900" algn="l">
              <a:buFont typeface="Arial" panose="020B0604020202020204" pitchFamily="34" charset="0"/>
              <a:buChar char="•"/>
            </a:pPr>
            <a:r>
              <a:rPr lang="fr-MA" dirty="0"/>
              <a:t>Gestion des échantillons</a:t>
            </a:r>
          </a:p>
          <a:p>
            <a:pPr marL="342900" indent="-342900" algn="l">
              <a:buFont typeface="Arial" panose="020B0604020202020204" pitchFamily="34" charset="0"/>
              <a:buChar char="•"/>
            </a:pPr>
            <a:r>
              <a:rPr lang="fr-MA" dirty="0"/>
              <a:t>Workflow des analyses</a:t>
            </a:r>
          </a:p>
          <a:p>
            <a:pPr marL="342900" indent="-342900" algn="l">
              <a:buFont typeface="Arial" panose="020B0604020202020204" pitchFamily="34" charset="0"/>
              <a:buChar char="•"/>
            </a:pPr>
            <a:r>
              <a:rPr lang="fr-MA" dirty="0"/>
              <a:t>Saisie et validation des résultats</a:t>
            </a:r>
          </a:p>
          <a:p>
            <a:pPr marL="342900" indent="-342900" algn="l">
              <a:buFont typeface="Arial" panose="020B0604020202020204" pitchFamily="34" charset="0"/>
              <a:buChar char="•"/>
            </a:pPr>
            <a:r>
              <a:rPr lang="fr-MA" dirty="0"/>
              <a:t>Gestion des équipements</a:t>
            </a:r>
          </a:p>
          <a:p>
            <a:pPr marL="342900" indent="-342900" algn="l">
              <a:buFont typeface="Arial" panose="020B0604020202020204" pitchFamily="34" charset="0"/>
              <a:buChar char="•"/>
            </a:pPr>
            <a:r>
              <a:rPr lang="fr-MA" dirty="0"/>
              <a:t>Contrôle qualité</a:t>
            </a:r>
          </a:p>
          <a:p>
            <a:pPr marL="342900" indent="-342900" algn="l">
              <a:buFont typeface="Arial" panose="020B0604020202020204" pitchFamily="34" charset="0"/>
              <a:buChar char="•"/>
            </a:pPr>
            <a:r>
              <a:rPr lang="fr-MA" dirty="0"/>
              <a:t>Traçabilité complète</a:t>
            </a:r>
          </a:p>
          <a:p>
            <a:pPr marL="342900" indent="-342900" algn="l">
              <a:buFont typeface="Arial" panose="020B0604020202020204" pitchFamily="34" charset="0"/>
              <a:buChar char="•"/>
            </a:pPr>
            <a:r>
              <a:rPr lang="fr-MA" dirty="0"/>
              <a:t>Interface avec automates</a:t>
            </a:r>
          </a:p>
          <a:p>
            <a:pPr marL="342900" indent="-342900" algn="l">
              <a:buFont typeface="Arial" panose="020B0604020202020204" pitchFamily="34" charset="0"/>
              <a:buChar char="•"/>
            </a:pPr>
            <a:r>
              <a:rPr lang="fr-MA" dirty="0"/>
              <a:t>Génération de comptes-rendus</a:t>
            </a:r>
          </a:p>
          <a:p>
            <a:pPr marL="342900" indent="-342900" algn="l">
              <a:buFont typeface="Arial" panose="020B0604020202020204" pitchFamily="34" charset="0"/>
              <a:buChar char="•"/>
            </a:pPr>
            <a:r>
              <a:rPr lang="fr-MA" dirty="0"/>
              <a:t>Facturation</a:t>
            </a:r>
          </a:p>
          <a:p>
            <a:pPr marL="342900" indent="-342900" algn="l">
              <a:buFont typeface="Arial" panose="020B0604020202020204" pitchFamily="34" charset="0"/>
              <a:buChar char="•"/>
            </a:pPr>
            <a:r>
              <a:rPr lang="fr-MA" dirty="0"/>
              <a:t>Statistiques et accréditation</a:t>
            </a:r>
          </a:p>
          <a:p>
            <a:endParaRPr lang="fr-FR" dirty="0"/>
          </a:p>
        </p:txBody>
      </p:sp>
    </p:spTree>
    <p:extLst>
      <p:ext uri="{BB962C8B-B14F-4D97-AF65-F5344CB8AC3E}">
        <p14:creationId xmlns:p14="http://schemas.microsoft.com/office/powerpoint/2010/main" val="2361935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1B61D-76D2-0EB0-7126-2DBFE43B44A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2D82E92-5178-12B5-14F9-731300B081D2}"/>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2824565F-C396-73E1-F036-ECA19BC91A7D}"/>
              </a:ext>
            </a:extLst>
          </p:cNvPr>
          <p:cNvSpPr>
            <a:spLocks noGrp="1"/>
          </p:cNvSpPr>
          <p:nvPr>
            <p:ph type="body" idx="1"/>
          </p:nvPr>
        </p:nvSpPr>
        <p:spPr/>
        <p:txBody>
          <a:bodyPr>
            <a:normAutofit fontScale="70000" lnSpcReduction="20000"/>
          </a:bodyPr>
          <a:lstStyle/>
          <a:p>
            <a:pPr algn="ctr"/>
            <a:r>
              <a:rPr lang="fr-MA" b="1" dirty="0"/>
              <a:t>CATÉGORIE 3 : ÉDUCATION ET FORMATION (5 projets)</a:t>
            </a:r>
          </a:p>
          <a:p>
            <a:pPr algn="l"/>
            <a:r>
              <a:rPr lang="fr-MA" b="1" dirty="0"/>
              <a:t>16. Plateforme E-Learning Complète (LMS)</a:t>
            </a:r>
          </a:p>
          <a:p>
            <a:pPr algn="l"/>
            <a:r>
              <a:rPr lang="fr-MA" b="1" dirty="0"/>
              <a:t>Description :</a:t>
            </a:r>
            <a:r>
              <a:rPr lang="fr-MA" dirty="0"/>
              <a:t> Système de gestion de l'apprentissage en ligne avec cours, évaluations et suivi.</a:t>
            </a:r>
          </a:p>
          <a:p>
            <a:pPr algn="l"/>
            <a:r>
              <a:rPr lang="fr-MA" b="1" dirty="0"/>
              <a:t>Modules nécessaires :</a:t>
            </a:r>
            <a:endParaRPr lang="fr-MA" dirty="0"/>
          </a:p>
          <a:p>
            <a:pPr marL="342900" indent="-342900" algn="l">
              <a:buFont typeface="Arial" panose="020B0604020202020204" pitchFamily="34" charset="0"/>
              <a:buChar char="•"/>
            </a:pPr>
            <a:r>
              <a:rPr lang="fr-MA" dirty="0"/>
              <a:t>Gestion des cours et contenus</a:t>
            </a:r>
          </a:p>
          <a:p>
            <a:pPr marL="342900" indent="-342900" algn="l">
              <a:buFont typeface="Arial" panose="020B0604020202020204" pitchFamily="34" charset="0"/>
              <a:buChar char="•"/>
            </a:pPr>
            <a:r>
              <a:rPr lang="fr-MA" dirty="0"/>
              <a:t>Système d'inscription</a:t>
            </a:r>
          </a:p>
          <a:p>
            <a:pPr marL="342900" indent="-342900" algn="l">
              <a:buFont typeface="Arial" panose="020B0604020202020204" pitchFamily="34" charset="0"/>
              <a:buChar char="•"/>
            </a:pPr>
            <a:r>
              <a:rPr lang="fr-MA" dirty="0"/>
              <a:t>Classes virtuelles (</a:t>
            </a:r>
            <a:r>
              <a:rPr lang="fr-MA" dirty="0" err="1"/>
              <a:t>visio</a:t>
            </a:r>
            <a:r>
              <a:rPr lang="fr-MA" dirty="0"/>
              <a:t>)</a:t>
            </a:r>
          </a:p>
          <a:p>
            <a:pPr marL="342900" indent="-342900" algn="l">
              <a:buFont typeface="Arial" panose="020B0604020202020204" pitchFamily="34" charset="0"/>
              <a:buChar char="•"/>
            </a:pPr>
            <a:r>
              <a:rPr lang="fr-MA" dirty="0"/>
              <a:t>Quiz et évaluations</a:t>
            </a:r>
          </a:p>
          <a:p>
            <a:pPr marL="342900" indent="-342900" algn="l">
              <a:buFont typeface="Arial" panose="020B0604020202020204" pitchFamily="34" charset="0"/>
              <a:buChar char="•"/>
            </a:pPr>
            <a:r>
              <a:rPr lang="fr-MA" dirty="0"/>
              <a:t>Suivi de progression</a:t>
            </a:r>
          </a:p>
          <a:p>
            <a:pPr marL="342900" indent="-342900" algn="l">
              <a:buFont typeface="Arial" panose="020B0604020202020204" pitchFamily="34" charset="0"/>
              <a:buChar char="•"/>
            </a:pPr>
            <a:r>
              <a:rPr lang="fr-MA" dirty="0"/>
              <a:t>Forums et discussions</a:t>
            </a:r>
          </a:p>
          <a:p>
            <a:pPr marL="342900" indent="-342900" algn="l">
              <a:buFont typeface="Arial" panose="020B0604020202020204" pitchFamily="34" charset="0"/>
              <a:buChar char="•"/>
            </a:pPr>
            <a:r>
              <a:rPr lang="fr-MA" dirty="0"/>
              <a:t>Système de notation</a:t>
            </a:r>
          </a:p>
          <a:p>
            <a:pPr marL="342900" indent="-342900" algn="l">
              <a:buFont typeface="Arial" panose="020B0604020202020204" pitchFamily="34" charset="0"/>
              <a:buChar char="•"/>
            </a:pPr>
            <a:r>
              <a:rPr lang="fr-MA" dirty="0"/>
              <a:t>Certificats et badges</a:t>
            </a:r>
          </a:p>
          <a:p>
            <a:pPr marL="342900" indent="-342900" algn="l">
              <a:buFont typeface="Arial" panose="020B0604020202020204" pitchFamily="34" charset="0"/>
              <a:buChar char="•"/>
            </a:pPr>
            <a:r>
              <a:rPr lang="fr-MA" dirty="0"/>
              <a:t>Espace personnel étudiant</a:t>
            </a:r>
          </a:p>
          <a:p>
            <a:pPr marL="342900" indent="-342900" algn="l">
              <a:buFont typeface="Arial" panose="020B0604020202020204" pitchFamily="34" charset="0"/>
              <a:buChar char="•"/>
            </a:pPr>
            <a:r>
              <a:rPr lang="fr-MA" dirty="0"/>
              <a:t>Tableau de bord enseignant</a:t>
            </a:r>
          </a:p>
          <a:p>
            <a:pPr marL="342900" indent="-342900" algn="l">
              <a:buFont typeface="Arial" panose="020B0604020202020204" pitchFamily="34" charset="0"/>
              <a:buChar char="•"/>
            </a:pPr>
            <a:r>
              <a:rPr lang="fr-MA" dirty="0" err="1"/>
              <a:t>Reporting</a:t>
            </a:r>
            <a:r>
              <a:rPr lang="fr-MA" dirty="0"/>
              <a:t> et </a:t>
            </a:r>
            <a:r>
              <a:rPr lang="fr-MA" dirty="0" err="1"/>
              <a:t>analytics</a:t>
            </a:r>
            <a:endParaRPr lang="fr-MA" dirty="0"/>
          </a:p>
          <a:p>
            <a:pPr marL="342900" indent="-342900" algn="l">
              <a:buFont typeface="Arial" panose="020B0604020202020204" pitchFamily="34" charset="0"/>
              <a:buChar char="•"/>
            </a:pPr>
            <a:r>
              <a:rPr lang="fr-MA" dirty="0"/>
              <a:t>Bibliothèque de ressources</a:t>
            </a:r>
          </a:p>
          <a:p>
            <a:endParaRPr lang="fr-FR" dirty="0"/>
          </a:p>
        </p:txBody>
      </p:sp>
    </p:spTree>
    <p:extLst>
      <p:ext uri="{BB962C8B-B14F-4D97-AF65-F5344CB8AC3E}">
        <p14:creationId xmlns:p14="http://schemas.microsoft.com/office/powerpoint/2010/main" val="1509292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CB1E3-4B7D-631F-8D6D-C081488C9EA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8C4BC32-28B2-F71B-B87B-C7F721818FE2}"/>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CE8EB15E-60CB-E22C-F476-F97F5BF3F60D}"/>
              </a:ext>
            </a:extLst>
          </p:cNvPr>
          <p:cNvSpPr>
            <a:spLocks noGrp="1"/>
          </p:cNvSpPr>
          <p:nvPr>
            <p:ph type="body" idx="1"/>
          </p:nvPr>
        </p:nvSpPr>
        <p:spPr/>
        <p:txBody>
          <a:bodyPr>
            <a:normAutofit fontScale="85000" lnSpcReduction="20000"/>
          </a:bodyPr>
          <a:lstStyle/>
          <a:p>
            <a:pPr algn="l"/>
            <a:r>
              <a:rPr lang="fr-MA" b="1" dirty="0"/>
              <a:t>17. Application de Gestion Scolaire</a:t>
            </a:r>
          </a:p>
          <a:p>
            <a:pPr algn="l"/>
            <a:r>
              <a:rPr lang="fr-MA" b="1" dirty="0"/>
              <a:t>Description :</a:t>
            </a:r>
            <a:r>
              <a:rPr lang="fr-MA" dirty="0"/>
              <a:t> Solution complète pour l'administration d'un établissement scolaire.</a:t>
            </a:r>
          </a:p>
          <a:p>
            <a:pPr algn="l"/>
            <a:r>
              <a:rPr lang="fr-MA" b="1" dirty="0"/>
              <a:t>Modules nécessaires :</a:t>
            </a:r>
            <a:endParaRPr lang="fr-MA" dirty="0"/>
          </a:p>
          <a:p>
            <a:pPr marL="342900" indent="-342900" algn="l">
              <a:buFont typeface="Arial" panose="020B0604020202020204" pitchFamily="34" charset="0"/>
              <a:buChar char="•"/>
            </a:pPr>
            <a:r>
              <a:rPr lang="fr-MA" dirty="0"/>
              <a:t>Gestion des élèves et parents</a:t>
            </a:r>
          </a:p>
          <a:p>
            <a:pPr marL="342900" indent="-342900" algn="l">
              <a:buFont typeface="Arial" panose="020B0604020202020204" pitchFamily="34" charset="0"/>
              <a:buChar char="•"/>
            </a:pPr>
            <a:r>
              <a:rPr lang="fr-MA" dirty="0"/>
              <a:t>Emploi du temps</a:t>
            </a:r>
          </a:p>
          <a:p>
            <a:pPr marL="342900" indent="-342900" algn="l">
              <a:buFont typeface="Arial" panose="020B0604020202020204" pitchFamily="34" charset="0"/>
              <a:buChar char="•"/>
            </a:pPr>
            <a:r>
              <a:rPr lang="fr-MA" dirty="0"/>
              <a:t>Gestion des absences</a:t>
            </a:r>
          </a:p>
          <a:p>
            <a:pPr marL="342900" indent="-342900" algn="l">
              <a:buFont typeface="Arial" panose="020B0604020202020204" pitchFamily="34" charset="0"/>
              <a:buChar char="•"/>
            </a:pPr>
            <a:r>
              <a:rPr lang="fr-MA" dirty="0"/>
              <a:t>Carnet de notes</a:t>
            </a:r>
          </a:p>
          <a:p>
            <a:pPr marL="342900" indent="-342900" algn="l">
              <a:buFont typeface="Arial" panose="020B0604020202020204" pitchFamily="34" charset="0"/>
              <a:buChar char="•"/>
            </a:pPr>
            <a:r>
              <a:rPr lang="fr-MA" dirty="0"/>
              <a:t>Bulletin scolaire</a:t>
            </a:r>
          </a:p>
          <a:p>
            <a:pPr marL="342900" indent="-342900" algn="l">
              <a:buFont typeface="Arial" panose="020B0604020202020204" pitchFamily="34" charset="0"/>
              <a:buChar char="•"/>
            </a:pPr>
            <a:r>
              <a:rPr lang="fr-MA" dirty="0"/>
              <a:t>Messagerie école-famille</a:t>
            </a:r>
          </a:p>
          <a:p>
            <a:pPr marL="342900" indent="-342900" algn="l">
              <a:buFont typeface="Arial" panose="020B0604020202020204" pitchFamily="34" charset="0"/>
              <a:buChar char="•"/>
            </a:pPr>
            <a:r>
              <a:rPr lang="fr-MA" dirty="0"/>
              <a:t>Gestion des inscriptions</a:t>
            </a:r>
          </a:p>
          <a:p>
            <a:pPr marL="342900" indent="-342900" algn="l">
              <a:buFont typeface="Arial" panose="020B0604020202020204" pitchFamily="34" charset="0"/>
              <a:buChar char="•"/>
            </a:pPr>
            <a:r>
              <a:rPr lang="fr-MA" dirty="0"/>
              <a:t>Comptabilité et facturation</a:t>
            </a:r>
          </a:p>
          <a:p>
            <a:pPr marL="342900" indent="-342900" algn="l">
              <a:buFont typeface="Arial" panose="020B0604020202020204" pitchFamily="34" charset="0"/>
              <a:buChar char="•"/>
            </a:pPr>
            <a:r>
              <a:rPr lang="fr-MA" dirty="0"/>
              <a:t>Cantine et transport</a:t>
            </a:r>
          </a:p>
          <a:p>
            <a:pPr marL="342900" indent="-342900" algn="l">
              <a:buFont typeface="Arial" panose="020B0604020202020204" pitchFamily="34" charset="0"/>
              <a:buChar char="•"/>
            </a:pPr>
            <a:r>
              <a:rPr lang="fr-MA" dirty="0"/>
              <a:t>Vie scolaire</a:t>
            </a:r>
          </a:p>
          <a:p>
            <a:pPr marL="342900" indent="-342900" algn="l">
              <a:buFont typeface="Arial" panose="020B0604020202020204" pitchFamily="34" charset="0"/>
              <a:buChar char="•"/>
            </a:pPr>
            <a:r>
              <a:rPr lang="fr-MA" dirty="0"/>
              <a:t>Réunions parents-professeurs</a:t>
            </a:r>
          </a:p>
          <a:p>
            <a:pPr algn="l"/>
            <a:endParaRPr lang="fr-FR" dirty="0"/>
          </a:p>
        </p:txBody>
      </p:sp>
    </p:spTree>
    <p:extLst>
      <p:ext uri="{BB962C8B-B14F-4D97-AF65-F5344CB8AC3E}">
        <p14:creationId xmlns:p14="http://schemas.microsoft.com/office/powerpoint/2010/main" val="12243417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34B84-8ED4-2FB7-B9CE-DD25D68838F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03FA214-F22B-9ACB-F2A7-BD20D4F83ECD}"/>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7EE26068-201F-7105-F5E6-C3F205A5D43D}"/>
              </a:ext>
            </a:extLst>
          </p:cNvPr>
          <p:cNvSpPr>
            <a:spLocks noGrp="1"/>
          </p:cNvSpPr>
          <p:nvPr>
            <p:ph type="body" idx="1"/>
          </p:nvPr>
        </p:nvSpPr>
        <p:spPr/>
        <p:txBody>
          <a:bodyPr>
            <a:normAutofit fontScale="92500" lnSpcReduction="20000"/>
          </a:bodyPr>
          <a:lstStyle/>
          <a:p>
            <a:pPr algn="l"/>
            <a:r>
              <a:rPr lang="fr-MA" b="1" dirty="0"/>
              <a:t>18. Système de Gestion de Bibliothèque</a:t>
            </a:r>
          </a:p>
          <a:p>
            <a:pPr algn="l"/>
            <a:r>
              <a:rPr lang="fr-MA" b="1" dirty="0"/>
              <a:t>Description :</a:t>
            </a:r>
            <a:r>
              <a:rPr lang="fr-MA" dirty="0"/>
              <a:t> Application pour la gestion d'une bibliothèque universitaire ou publique.</a:t>
            </a:r>
          </a:p>
          <a:p>
            <a:pPr algn="l"/>
            <a:r>
              <a:rPr lang="fr-MA" b="1" dirty="0"/>
              <a:t>Modules nécessaires :</a:t>
            </a:r>
            <a:endParaRPr lang="fr-MA" dirty="0"/>
          </a:p>
          <a:p>
            <a:pPr marL="342900" indent="-342900" algn="l">
              <a:buFont typeface="Arial" panose="020B0604020202020204" pitchFamily="34" charset="0"/>
              <a:buChar char="•"/>
            </a:pPr>
            <a:r>
              <a:rPr lang="fr-MA" dirty="0"/>
              <a:t>Catalogue en ligne (OPAC)</a:t>
            </a:r>
          </a:p>
          <a:p>
            <a:pPr marL="342900" indent="-342900" algn="l">
              <a:buFont typeface="Arial" panose="020B0604020202020204" pitchFamily="34" charset="0"/>
              <a:buChar char="•"/>
            </a:pPr>
            <a:r>
              <a:rPr lang="fr-MA" dirty="0"/>
              <a:t>Gestion des prêts et retours</a:t>
            </a:r>
          </a:p>
          <a:p>
            <a:pPr marL="342900" indent="-342900" algn="l">
              <a:buFont typeface="Arial" panose="020B0604020202020204" pitchFamily="34" charset="0"/>
              <a:buChar char="•"/>
            </a:pPr>
            <a:r>
              <a:rPr lang="fr-MA" dirty="0"/>
              <a:t>Réservations</a:t>
            </a:r>
          </a:p>
          <a:p>
            <a:pPr marL="342900" indent="-342900" algn="l">
              <a:buFont typeface="Arial" panose="020B0604020202020204" pitchFamily="34" charset="0"/>
              <a:buChar char="•"/>
            </a:pPr>
            <a:r>
              <a:rPr lang="fr-MA" dirty="0"/>
              <a:t>Gestion des adhérents</a:t>
            </a:r>
          </a:p>
          <a:p>
            <a:pPr marL="342900" indent="-342900" algn="l">
              <a:buFont typeface="Arial" panose="020B0604020202020204" pitchFamily="34" charset="0"/>
              <a:buChar char="•"/>
            </a:pPr>
            <a:r>
              <a:rPr lang="fr-MA" dirty="0"/>
              <a:t>Acquisitions et commandes</a:t>
            </a:r>
          </a:p>
          <a:p>
            <a:pPr marL="342900" indent="-342900" algn="l">
              <a:buFont typeface="Arial" panose="020B0604020202020204" pitchFamily="34" charset="0"/>
              <a:buChar char="•"/>
            </a:pPr>
            <a:r>
              <a:rPr lang="fr-MA" dirty="0"/>
              <a:t>Relances automatiques</a:t>
            </a:r>
          </a:p>
          <a:p>
            <a:pPr marL="342900" indent="-342900" algn="l">
              <a:buFont typeface="Arial" panose="020B0604020202020204" pitchFamily="34" charset="0"/>
              <a:buChar char="•"/>
            </a:pPr>
            <a:r>
              <a:rPr lang="fr-MA" dirty="0"/>
              <a:t>Statistiques de fréquentation</a:t>
            </a:r>
          </a:p>
          <a:p>
            <a:pPr marL="342900" indent="-342900" algn="l">
              <a:buFont typeface="Arial" panose="020B0604020202020204" pitchFamily="34" charset="0"/>
              <a:buChar char="•"/>
            </a:pPr>
            <a:r>
              <a:rPr lang="fr-MA" dirty="0"/>
              <a:t>Inventaire</a:t>
            </a:r>
          </a:p>
          <a:p>
            <a:pPr marL="342900" indent="-342900" algn="l">
              <a:buFont typeface="Arial" panose="020B0604020202020204" pitchFamily="34" charset="0"/>
              <a:buChar char="•"/>
            </a:pPr>
            <a:r>
              <a:rPr lang="fr-MA" dirty="0"/>
              <a:t>Ressources numériques</a:t>
            </a:r>
          </a:p>
          <a:p>
            <a:pPr marL="342900" indent="-342900" algn="l">
              <a:buFont typeface="Arial" panose="020B0604020202020204" pitchFamily="34" charset="0"/>
              <a:buChar char="•"/>
            </a:pPr>
            <a:r>
              <a:rPr lang="fr-MA" dirty="0"/>
              <a:t>Recommandations de lecture</a:t>
            </a:r>
          </a:p>
          <a:p>
            <a:pPr algn="l"/>
            <a:endParaRPr lang="fr-FR" dirty="0"/>
          </a:p>
        </p:txBody>
      </p:sp>
    </p:spTree>
    <p:extLst>
      <p:ext uri="{BB962C8B-B14F-4D97-AF65-F5344CB8AC3E}">
        <p14:creationId xmlns:p14="http://schemas.microsoft.com/office/powerpoint/2010/main" val="918320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33C23-6EA4-0D76-3BDD-907762F01D6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209E748-D431-9B4A-549A-5D90FC959BF5}"/>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35206CC0-6D95-7446-1A0B-8D68A3DD9AE5}"/>
              </a:ext>
            </a:extLst>
          </p:cNvPr>
          <p:cNvSpPr>
            <a:spLocks noGrp="1"/>
          </p:cNvSpPr>
          <p:nvPr>
            <p:ph type="body" idx="1"/>
          </p:nvPr>
        </p:nvSpPr>
        <p:spPr/>
        <p:txBody>
          <a:bodyPr>
            <a:normAutofit fontScale="92500" lnSpcReduction="20000"/>
          </a:bodyPr>
          <a:lstStyle/>
          <a:p>
            <a:pPr algn="l"/>
            <a:r>
              <a:rPr lang="fr-MA" b="1" dirty="0"/>
              <a:t>19. Plateforme de Formation en Ligne avec Certification</a:t>
            </a:r>
          </a:p>
          <a:p>
            <a:pPr algn="l"/>
            <a:r>
              <a:rPr lang="fr-MA" b="1" dirty="0"/>
              <a:t>Description :</a:t>
            </a:r>
            <a:r>
              <a:rPr lang="fr-MA" dirty="0"/>
              <a:t> Système de MOOC avec parcours certifiants et évaluations.</a:t>
            </a:r>
          </a:p>
          <a:p>
            <a:pPr algn="l"/>
            <a:r>
              <a:rPr lang="fr-MA" b="1" dirty="0"/>
              <a:t>Modules nécessaires :</a:t>
            </a:r>
            <a:endParaRPr lang="fr-MA" dirty="0"/>
          </a:p>
          <a:p>
            <a:pPr marL="342900" indent="-342900" algn="l">
              <a:buFont typeface="Arial" panose="020B0604020202020204" pitchFamily="34" charset="0"/>
              <a:buChar char="•"/>
            </a:pPr>
            <a:r>
              <a:rPr lang="fr-MA" dirty="0"/>
              <a:t>Création de parcours pédagogiques</a:t>
            </a:r>
          </a:p>
          <a:p>
            <a:pPr marL="342900" indent="-342900" algn="l">
              <a:buFont typeface="Arial" panose="020B0604020202020204" pitchFamily="34" charset="0"/>
              <a:buChar char="•"/>
            </a:pPr>
            <a:r>
              <a:rPr lang="fr-MA" dirty="0"/>
              <a:t>Vidéos et contenus multimédia</a:t>
            </a:r>
          </a:p>
          <a:p>
            <a:pPr marL="342900" indent="-342900" algn="l">
              <a:buFont typeface="Arial" panose="020B0604020202020204" pitchFamily="34" charset="0"/>
              <a:buChar char="•"/>
            </a:pPr>
            <a:r>
              <a:rPr lang="fr-MA" dirty="0"/>
              <a:t>Exercices interactifs</a:t>
            </a:r>
          </a:p>
          <a:p>
            <a:pPr marL="342900" indent="-342900" algn="l">
              <a:buFont typeface="Arial" panose="020B0604020202020204" pitchFamily="34" charset="0"/>
              <a:buChar char="•"/>
            </a:pPr>
            <a:r>
              <a:rPr lang="fr-MA" dirty="0"/>
              <a:t>Examens en ligne</a:t>
            </a:r>
          </a:p>
          <a:p>
            <a:pPr marL="342900" indent="-342900" algn="l">
              <a:buFont typeface="Arial" panose="020B0604020202020204" pitchFamily="34" charset="0"/>
              <a:buChar char="•"/>
            </a:pPr>
            <a:r>
              <a:rPr lang="fr-MA" dirty="0"/>
              <a:t>Émission de certificats</a:t>
            </a:r>
          </a:p>
          <a:p>
            <a:pPr marL="342900" indent="-342900" algn="l">
              <a:buFont typeface="Arial" panose="020B0604020202020204" pitchFamily="34" charset="0"/>
              <a:buChar char="•"/>
            </a:pPr>
            <a:r>
              <a:rPr lang="fr-MA" dirty="0"/>
              <a:t>Paiement et abonnements</a:t>
            </a:r>
          </a:p>
          <a:p>
            <a:pPr marL="342900" indent="-342900" algn="l">
              <a:buFont typeface="Arial" panose="020B0604020202020204" pitchFamily="34" charset="0"/>
              <a:buChar char="•"/>
            </a:pPr>
            <a:r>
              <a:rPr lang="fr-MA" dirty="0"/>
              <a:t>Communauté apprenants</a:t>
            </a:r>
          </a:p>
          <a:p>
            <a:pPr marL="342900" indent="-342900" algn="l">
              <a:buFont typeface="Arial" panose="020B0604020202020204" pitchFamily="34" charset="0"/>
              <a:buChar char="•"/>
            </a:pPr>
            <a:r>
              <a:rPr lang="fr-MA" dirty="0"/>
              <a:t>Gamification</a:t>
            </a:r>
          </a:p>
          <a:p>
            <a:pPr marL="342900" indent="-342900" algn="l">
              <a:buFont typeface="Arial" panose="020B0604020202020204" pitchFamily="34" charset="0"/>
              <a:buChar char="•"/>
            </a:pPr>
            <a:r>
              <a:rPr lang="fr-MA" dirty="0"/>
              <a:t>Suivi employeur (B2B)</a:t>
            </a:r>
          </a:p>
          <a:p>
            <a:pPr algn="l"/>
            <a:endParaRPr lang="fr-FR" dirty="0"/>
          </a:p>
        </p:txBody>
      </p:sp>
    </p:spTree>
    <p:extLst>
      <p:ext uri="{BB962C8B-B14F-4D97-AF65-F5344CB8AC3E}">
        <p14:creationId xmlns:p14="http://schemas.microsoft.com/office/powerpoint/2010/main" val="4676410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23564-1660-ED8D-CE43-12F98DD47AC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8218690-5303-7BB7-1704-79F34F9FF68E}"/>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D60F5E35-0F64-F745-23D2-02B3CFA78303}"/>
              </a:ext>
            </a:extLst>
          </p:cNvPr>
          <p:cNvSpPr>
            <a:spLocks noGrp="1"/>
          </p:cNvSpPr>
          <p:nvPr>
            <p:ph type="body" idx="1"/>
          </p:nvPr>
        </p:nvSpPr>
        <p:spPr/>
        <p:txBody>
          <a:bodyPr>
            <a:normAutofit fontScale="92500" lnSpcReduction="20000"/>
          </a:bodyPr>
          <a:lstStyle/>
          <a:p>
            <a:pPr algn="l"/>
            <a:r>
              <a:rPr lang="fr-MA" b="1" dirty="0"/>
              <a:t>20. Application de Tutorat en Ligne</a:t>
            </a:r>
          </a:p>
          <a:p>
            <a:pPr algn="l"/>
            <a:r>
              <a:rPr lang="fr-MA" b="1" dirty="0"/>
              <a:t>Description :</a:t>
            </a:r>
            <a:r>
              <a:rPr lang="fr-MA" dirty="0"/>
              <a:t> Plateforme mettant en relation élèves et tuteurs pour du soutien scolaire.</a:t>
            </a:r>
          </a:p>
          <a:p>
            <a:pPr algn="l"/>
            <a:r>
              <a:rPr lang="fr-MA" b="1" dirty="0"/>
              <a:t>Modules nécessaires :</a:t>
            </a:r>
            <a:endParaRPr lang="fr-MA" dirty="0"/>
          </a:p>
          <a:p>
            <a:pPr marL="342900" indent="-342900" algn="l">
              <a:buFont typeface="Arial" panose="020B0604020202020204" pitchFamily="34" charset="0"/>
              <a:buChar char="•"/>
            </a:pPr>
            <a:r>
              <a:rPr lang="fr-MA" dirty="0"/>
              <a:t>Profils tuteurs et élèves</a:t>
            </a:r>
          </a:p>
          <a:p>
            <a:pPr marL="342900" indent="-342900" algn="l">
              <a:buFont typeface="Arial" panose="020B0604020202020204" pitchFamily="34" charset="0"/>
              <a:buChar char="•"/>
            </a:pPr>
            <a:r>
              <a:rPr lang="fr-MA" dirty="0"/>
              <a:t>Système de </a:t>
            </a:r>
            <a:r>
              <a:rPr lang="fr-MA" dirty="0" err="1"/>
              <a:t>matching</a:t>
            </a:r>
            <a:endParaRPr lang="fr-MA" dirty="0"/>
          </a:p>
          <a:p>
            <a:pPr marL="342900" indent="-342900" algn="l">
              <a:buFont typeface="Arial" panose="020B0604020202020204" pitchFamily="34" charset="0"/>
              <a:buChar char="•"/>
            </a:pPr>
            <a:r>
              <a:rPr lang="fr-MA" dirty="0"/>
              <a:t>Réservation de sessions</a:t>
            </a:r>
          </a:p>
          <a:p>
            <a:pPr marL="342900" indent="-342900" algn="l">
              <a:buFont typeface="Arial" panose="020B0604020202020204" pitchFamily="34" charset="0"/>
              <a:buChar char="•"/>
            </a:pPr>
            <a:r>
              <a:rPr lang="fr-MA" dirty="0"/>
              <a:t>Visioconférence intégrée</a:t>
            </a:r>
          </a:p>
          <a:p>
            <a:pPr marL="342900" indent="-342900" algn="l">
              <a:buFont typeface="Arial" panose="020B0604020202020204" pitchFamily="34" charset="0"/>
              <a:buChar char="•"/>
            </a:pPr>
            <a:r>
              <a:rPr lang="fr-MA" dirty="0"/>
              <a:t>Tableau blanc virtuel</a:t>
            </a:r>
          </a:p>
          <a:p>
            <a:pPr marL="342900" indent="-342900" algn="l">
              <a:buFont typeface="Arial" panose="020B0604020202020204" pitchFamily="34" charset="0"/>
              <a:buChar char="•"/>
            </a:pPr>
            <a:r>
              <a:rPr lang="fr-MA" dirty="0"/>
              <a:t>Partage de documents</a:t>
            </a:r>
          </a:p>
          <a:p>
            <a:pPr marL="342900" indent="-342900" algn="l">
              <a:buFont typeface="Arial" panose="020B0604020202020204" pitchFamily="34" charset="0"/>
              <a:buChar char="•"/>
            </a:pPr>
            <a:r>
              <a:rPr lang="fr-MA" dirty="0"/>
              <a:t>Paiement et facturation</a:t>
            </a:r>
          </a:p>
          <a:p>
            <a:pPr marL="342900" indent="-342900" algn="l">
              <a:buFont typeface="Arial" panose="020B0604020202020204" pitchFamily="34" charset="0"/>
              <a:buChar char="•"/>
            </a:pPr>
            <a:r>
              <a:rPr lang="fr-MA" dirty="0"/>
              <a:t>Système d'évaluation</a:t>
            </a:r>
          </a:p>
          <a:p>
            <a:pPr marL="342900" indent="-342900" algn="l">
              <a:buFont typeface="Arial" panose="020B0604020202020204" pitchFamily="34" charset="0"/>
              <a:buChar char="•"/>
            </a:pPr>
            <a:r>
              <a:rPr lang="fr-MA" dirty="0"/>
              <a:t>Messagerie</a:t>
            </a:r>
          </a:p>
          <a:p>
            <a:pPr marL="342900" indent="-342900" algn="l">
              <a:buFont typeface="Arial" panose="020B0604020202020204" pitchFamily="34" charset="0"/>
              <a:buChar char="•"/>
            </a:pPr>
            <a:r>
              <a:rPr lang="fr-MA" dirty="0"/>
              <a:t>Suivi de progression</a:t>
            </a:r>
          </a:p>
          <a:p>
            <a:pPr algn="l"/>
            <a:endParaRPr lang="fr-FR" dirty="0"/>
          </a:p>
        </p:txBody>
      </p:sp>
    </p:spTree>
    <p:extLst>
      <p:ext uri="{BB962C8B-B14F-4D97-AF65-F5344CB8AC3E}">
        <p14:creationId xmlns:p14="http://schemas.microsoft.com/office/powerpoint/2010/main" val="1803069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70656-9F09-349A-6854-6DD8EA01665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0997F1-8C91-3440-C774-A09EADD16D55}"/>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6CACB575-0789-766B-90FF-4AFBBC435B2C}"/>
              </a:ext>
            </a:extLst>
          </p:cNvPr>
          <p:cNvSpPr>
            <a:spLocks noGrp="1"/>
          </p:cNvSpPr>
          <p:nvPr>
            <p:ph type="body" idx="1"/>
          </p:nvPr>
        </p:nvSpPr>
        <p:spPr/>
        <p:txBody>
          <a:bodyPr>
            <a:normAutofit fontScale="77500" lnSpcReduction="20000"/>
          </a:bodyPr>
          <a:lstStyle/>
          <a:p>
            <a:pPr algn="ctr"/>
            <a:r>
              <a:rPr lang="fr-MA" b="1" dirty="0"/>
              <a:t>CATÉGORIE 4 : RESSOURCES HUMAINES (5 projets)</a:t>
            </a:r>
          </a:p>
          <a:p>
            <a:pPr algn="l"/>
            <a:r>
              <a:rPr lang="fr-MA" b="1" dirty="0"/>
              <a:t>21. Système Intégré de Gestion RH (SIRH)</a:t>
            </a:r>
          </a:p>
          <a:p>
            <a:pPr algn="l"/>
            <a:r>
              <a:rPr lang="fr-MA" b="1" dirty="0"/>
              <a:t>Description :</a:t>
            </a:r>
            <a:r>
              <a:rPr lang="fr-MA" dirty="0"/>
              <a:t> Solution complète pour tous les aspects de la gestion des ressources humaines.</a:t>
            </a:r>
          </a:p>
          <a:p>
            <a:pPr algn="l"/>
            <a:r>
              <a:rPr lang="fr-MA" b="1" dirty="0"/>
              <a:t>Modules nécessaires :</a:t>
            </a:r>
            <a:endParaRPr lang="fr-MA" dirty="0"/>
          </a:p>
          <a:p>
            <a:pPr marL="342900" indent="-342900" algn="l">
              <a:buFont typeface="Arial" panose="020B0604020202020204" pitchFamily="34" charset="0"/>
              <a:buChar char="•"/>
            </a:pPr>
            <a:r>
              <a:rPr lang="fr-MA" dirty="0"/>
              <a:t>Gestion administrative du personnel</a:t>
            </a:r>
          </a:p>
          <a:p>
            <a:pPr marL="342900" indent="-342900" algn="l">
              <a:buFont typeface="Arial" panose="020B0604020202020204" pitchFamily="34" charset="0"/>
              <a:buChar char="•"/>
            </a:pPr>
            <a:r>
              <a:rPr lang="fr-MA" dirty="0"/>
              <a:t>Gestion des paies</a:t>
            </a:r>
          </a:p>
          <a:p>
            <a:pPr marL="342900" indent="-342900" algn="l">
              <a:buFont typeface="Arial" panose="020B0604020202020204" pitchFamily="34" charset="0"/>
              <a:buChar char="•"/>
            </a:pPr>
            <a:r>
              <a:rPr lang="fr-MA" dirty="0"/>
              <a:t>Gestion des temps et activités</a:t>
            </a:r>
          </a:p>
          <a:p>
            <a:pPr marL="342900" indent="-342900" algn="l">
              <a:buFont typeface="Arial" panose="020B0604020202020204" pitchFamily="34" charset="0"/>
              <a:buChar char="•"/>
            </a:pPr>
            <a:r>
              <a:rPr lang="fr-MA" dirty="0"/>
              <a:t>Recrutement (ATS)</a:t>
            </a:r>
          </a:p>
          <a:p>
            <a:pPr marL="342900" indent="-342900" algn="l">
              <a:buFont typeface="Arial" panose="020B0604020202020204" pitchFamily="34" charset="0"/>
              <a:buChar char="•"/>
            </a:pPr>
            <a:r>
              <a:rPr lang="fr-MA" dirty="0"/>
              <a:t>Formation et compétences</a:t>
            </a:r>
          </a:p>
          <a:p>
            <a:pPr marL="342900" indent="-342900" algn="l">
              <a:buFont typeface="Arial" panose="020B0604020202020204" pitchFamily="34" charset="0"/>
              <a:buChar char="•"/>
            </a:pPr>
            <a:r>
              <a:rPr lang="fr-MA" dirty="0"/>
              <a:t>Évaluation de performance</a:t>
            </a:r>
          </a:p>
          <a:p>
            <a:pPr marL="342900" indent="-342900" algn="l">
              <a:buFont typeface="Arial" panose="020B0604020202020204" pitchFamily="34" charset="0"/>
              <a:buChar char="•"/>
            </a:pPr>
            <a:r>
              <a:rPr lang="fr-MA" dirty="0"/>
              <a:t>Gestion des absences et congés</a:t>
            </a:r>
          </a:p>
          <a:p>
            <a:pPr marL="342900" indent="-342900" algn="l">
              <a:buFont typeface="Arial" panose="020B0604020202020204" pitchFamily="34" charset="0"/>
              <a:buChar char="•"/>
            </a:pPr>
            <a:r>
              <a:rPr lang="fr-MA" dirty="0"/>
              <a:t>Organigramme</a:t>
            </a:r>
          </a:p>
          <a:p>
            <a:pPr marL="342900" indent="-342900" algn="l">
              <a:buFont typeface="Arial" panose="020B0604020202020204" pitchFamily="34" charset="0"/>
              <a:buChar char="•"/>
            </a:pPr>
            <a:r>
              <a:rPr lang="fr-MA" dirty="0"/>
              <a:t>Gestion des talents</a:t>
            </a:r>
          </a:p>
          <a:p>
            <a:pPr marL="342900" indent="-342900" algn="l">
              <a:buFont typeface="Arial" panose="020B0604020202020204" pitchFamily="34" charset="0"/>
              <a:buChar char="•"/>
            </a:pPr>
            <a:r>
              <a:rPr lang="fr-MA" dirty="0" err="1"/>
              <a:t>Reporting</a:t>
            </a:r>
            <a:r>
              <a:rPr lang="fr-MA" dirty="0"/>
              <a:t> RH et KPI</a:t>
            </a:r>
          </a:p>
          <a:p>
            <a:pPr marL="342900" indent="-342900" algn="l">
              <a:buFont typeface="Arial" panose="020B0604020202020204" pitchFamily="34" charset="0"/>
              <a:buChar char="•"/>
            </a:pPr>
            <a:r>
              <a:rPr lang="fr-MA" dirty="0"/>
              <a:t>Portail employé self-service</a:t>
            </a:r>
          </a:p>
          <a:p>
            <a:pPr algn="l"/>
            <a:endParaRPr lang="fr-FR" dirty="0"/>
          </a:p>
        </p:txBody>
      </p:sp>
    </p:spTree>
    <p:extLst>
      <p:ext uri="{BB962C8B-B14F-4D97-AF65-F5344CB8AC3E}">
        <p14:creationId xmlns:p14="http://schemas.microsoft.com/office/powerpoint/2010/main" val="259273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E97F2-5A83-1359-D63B-F91E5AB8849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F6E53C8-FABA-A695-81CA-72BB9CF006F2}"/>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DDD94087-04EE-F508-68E9-13A4D0621087}"/>
              </a:ext>
            </a:extLst>
          </p:cNvPr>
          <p:cNvSpPr>
            <a:spLocks noGrp="1"/>
          </p:cNvSpPr>
          <p:nvPr>
            <p:ph type="body" idx="1"/>
          </p:nvPr>
        </p:nvSpPr>
        <p:spPr/>
        <p:txBody>
          <a:bodyPr>
            <a:normAutofit fontScale="92500" lnSpcReduction="20000"/>
          </a:bodyPr>
          <a:lstStyle/>
          <a:p>
            <a:pPr algn="l"/>
            <a:r>
              <a:rPr lang="fr-MA" b="1" dirty="0"/>
              <a:t>22. Plateforme de Recrutement (ATS)</a:t>
            </a:r>
          </a:p>
          <a:p>
            <a:pPr algn="l"/>
            <a:r>
              <a:rPr lang="fr-MA" b="1" dirty="0"/>
              <a:t>Description :</a:t>
            </a:r>
            <a:r>
              <a:rPr lang="fr-MA" dirty="0"/>
              <a:t> Application de suivi des candidatures et gestion du processus de recrutement.</a:t>
            </a:r>
          </a:p>
          <a:p>
            <a:pPr algn="l"/>
            <a:r>
              <a:rPr lang="fr-MA" b="1" dirty="0"/>
              <a:t>Modules nécessaires :</a:t>
            </a:r>
            <a:endParaRPr lang="fr-MA" dirty="0"/>
          </a:p>
          <a:p>
            <a:pPr marL="342900" indent="-342900" algn="l">
              <a:buFont typeface="Arial" panose="020B0604020202020204" pitchFamily="34" charset="0"/>
              <a:buChar char="•"/>
            </a:pPr>
            <a:r>
              <a:rPr lang="fr-MA" dirty="0"/>
              <a:t>Multidiffusion d'offres d'emploi</a:t>
            </a:r>
          </a:p>
          <a:p>
            <a:pPr marL="342900" indent="-342900" algn="l">
              <a:buFont typeface="Arial" panose="020B0604020202020204" pitchFamily="34" charset="0"/>
              <a:buChar char="•"/>
            </a:pPr>
            <a:r>
              <a:rPr lang="fr-MA" dirty="0"/>
              <a:t>Base de données candidats</a:t>
            </a:r>
          </a:p>
          <a:p>
            <a:pPr marL="342900" indent="-342900" algn="l">
              <a:buFont typeface="Arial" panose="020B0604020202020204" pitchFamily="34" charset="0"/>
              <a:buChar char="•"/>
            </a:pPr>
            <a:r>
              <a:rPr lang="fr-MA" dirty="0" err="1"/>
              <a:t>Parsing</a:t>
            </a:r>
            <a:r>
              <a:rPr lang="fr-MA" dirty="0"/>
              <a:t> de CV</a:t>
            </a:r>
          </a:p>
          <a:p>
            <a:pPr marL="342900" indent="-342900" algn="l">
              <a:buFont typeface="Arial" panose="020B0604020202020204" pitchFamily="34" charset="0"/>
              <a:buChar char="•"/>
            </a:pPr>
            <a:r>
              <a:rPr lang="fr-MA" dirty="0"/>
              <a:t>Tri et </a:t>
            </a:r>
            <a:r>
              <a:rPr lang="fr-MA" dirty="0" err="1"/>
              <a:t>scoring</a:t>
            </a:r>
            <a:r>
              <a:rPr lang="fr-MA" dirty="0"/>
              <a:t> automatique</a:t>
            </a:r>
          </a:p>
          <a:p>
            <a:pPr marL="342900" indent="-342900" algn="l">
              <a:buFont typeface="Arial" panose="020B0604020202020204" pitchFamily="34" charset="0"/>
              <a:buChar char="•"/>
            </a:pPr>
            <a:r>
              <a:rPr lang="fr-MA" dirty="0"/>
              <a:t>Workflow de validation</a:t>
            </a:r>
          </a:p>
          <a:p>
            <a:pPr marL="342900" indent="-342900" algn="l">
              <a:buFont typeface="Arial" panose="020B0604020202020204" pitchFamily="34" charset="0"/>
              <a:buChar char="•"/>
            </a:pPr>
            <a:r>
              <a:rPr lang="fr-MA" dirty="0"/>
              <a:t>Planification d'entretiens</a:t>
            </a:r>
          </a:p>
          <a:p>
            <a:pPr marL="342900" indent="-342900" algn="l">
              <a:buFont typeface="Arial" panose="020B0604020202020204" pitchFamily="34" charset="0"/>
              <a:buChar char="•"/>
            </a:pPr>
            <a:r>
              <a:rPr lang="fr-MA" dirty="0"/>
              <a:t>Tests et évaluations</a:t>
            </a:r>
          </a:p>
          <a:p>
            <a:pPr marL="342900" indent="-342900" algn="l">
              <a:buFont typeface="Arial" panose="020B0604020202020204" pitchFamily="34" charset="0"/>
              <a:buChar char="•"/>
            </a:pPr>
            <a:r>
              <a:rPr lang="fr-MA" dirty="0"/>
              <a:t>Vivier de talents</a:t>
            </a:r>
          </a:p>
          <a:p>
            <a:pPr marL="342900" indent="-342900" algn="l">
              <a:buFont typeface="Arial" panose="020B0604020202020204" pitchFamily="34" charset="0"/>
              <a:buChar char="•"/>
            </a:pPr>
            <a:r>
              <a:rPr lang="fr-MA" dirty="0"/>
              <a:t>Analytics recrutement</a:t>
            </a:r>
          </a:p>
          <a:p>
            <a:pPr algn="l"/>
            <a:endParaRPr lang="fr-FR" dirty="0"/>
          </a:p>
        </p:txBody>
      </p:sp>
    </p:spTree>
    <p:extLst>
      <p:ext uri="{BB962C8B-B14F-4D97-AF65-F5344CB8AC3E}">
        <p14:creationId xmlns:p14="http://schemas.microsoft.com/office/powerpoint/2010/main" val="22142736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C77D9-2BE8-4A9A-9064-6C05A0CC54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6692E51-1A75-60F3-CDC8-D534E53ACF96}"/>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98CB5405-B589-E1CB-BE8B-DA3AA32A9BE4}"/>
              </a:ext>
            </a:extLst>
          </p:cNvPr>
          <p:cNvSpPr>
            <a:spLocks noGrp="1"/>
          </p:cNvSpPr>
          <p:nvPr>
            <p:ph type="body" idx="1"/>
          </p:nvPr>
        </p:nvSpPr>
        <p:spPr/>
        <p:txBody>
          <a:bodyPr>
            <a:normAutofit fontScale="92500" lnSpcReduction="20000"/>
          </a:bodyPr>
          <a:lstStyle/>
          <a:p>
            <a:pPr algn="l"/>
            <a:r>
              <a:rPr lang="fr-MA" b="1" dirty="0"/>
              <a:t>23. Système de Gestion de la Formation</a:t>
            </a:r>
          </a:p>
          <a:p>
            <a:pPr algn="l"/>
            <a:r>
              <a:rPr lang="fr-MA" b="1" dirty="0"/>
              <a:t>Description :</a:t>
            </a:r>
            <a:r>
              <a:rPr lang="fr-MA" dirty="0"/>
              <a:t> Plateforme de gestion du plan de formation et suivi des compétences.</a:t>
            </a:r>
          </a:p>
          <a:p>
            <a:pPr algn="l"/>
            <a:r>
              <a:rPr lang="fr-MA" b="1" dirty="0"/>
              <a:t>Modules nécessaires :</a:t>
            </a:r>
            <a:endParaRPr lang="fr-MA" dirty="0"/>
          </a:p>
          <a:p>
            <a:pPr marL="342900" indent="-342900" algn="l">
              <a:buFont typeface="Arial" panose="020B0604020202020204" pitchFamily="34" charset="0"/>
              <a:buChar char="•"/>
            </a:pPr>
            <a:r>
              <a:rPr lang="fr-MA" dirty="0"/>
              <a:t>Catalogue de formations</a:t>
            </a:r>
          </a:p>
          <a:p>
            <a:pPr marL="342900" indent="-342900" algn="l">
              <a:buFont typeface="Arial" panose="020B0604020202020204" pitchFamily="34" charset="0"/>
              <a:buChar char="•"/>
            </a:pPr>
            <a:r>
              <a:rPr lang="fr-MA" dirty="0"/>
              <a:t>Plan de formation annuel</a:t>
            </a:r>
          </a:p>
          <a:p>
            <a:pPr marL="342900" indent="-342900" algn="l">
              <a:buFont typeface="Arial" panose="020B0604020202020204" pitchFamily="34" charset="0"/>
              <a:buChar char="•"/>
            </a:pPr>
            <a:r>
              <a:rPr lang="fr-MA" dirty="0"/>
              <a:t>Inscriptions et convocations</a:t>
            </a:r>
          </a:p>
          <a:p>
            <a:pPr marL="342900" indent="-342900" algn="l">
              <a:buFont typeface="Arial" panose="020B0604020202020204" pitchFamily="34" charset="0"/>
              <a:buChar char="•"/>
            </a:pPr>
            <a:r>
              <a:rPr lang="fr-MA" dirty="0"/>
              <a:t>Gestion des sessions</a:t>
            </a:r>
          </a:p>
          <a:p>
            <a:pPr marL="342900" indent="-342900" algn="l">
              <a:buFont typeface="Arial" panose="020B0604020202020204" pitchFamily="34" charset="0"/>
              <a:buChar char="•"/>
            </a:pPr>
            <a:r>
              <a:rPr lang="fr-MA" dirty="0"/>
              <a:t>Budget formation</a:t>
            </a:r>
          </a:p>
          <a:p>
            <a:pPr marL="342900" indent="-342900" algn="l">
              <a:buFont typeface="Arial" panose="020B0604020202020204" pitchFamily="34" charset="0"/>
              <a:buChar char="•"/>
            </a:pPr>
            <a:r>
              <a:rPr lang="fr-MA" dirty="0"/>
              <a:t>Évaluation des formations</a:t>
            </a:r>
          </a:p>
          <a:p>
            <a:pPr marL="342900" indent="-342900" algn="l">
              <a:buFont typeface="Arial" panose="020B0604020202020204" pitchFamily="34" charset="0"/>
              <a:buChar char="•"/>
            </a:pPr>
            <a:r>
              <a:rPr lang="fr-MA" dirty="0"/>
              <a:t>Suivi des compétences</a:t>
            </a:r>
          </a:p>
          <a:p>
            <a:pPr marL="342900" indent="-342900" algn="l">
              <a:buFont typeface="Arial" panose="020B0604020202020204" pitchFamily="34" charset="0"/>
              <a:buChar char="•"/>
            </a:pPr>
            <a:r>
              <a:rPr lang="fr-MA" dirty="0"/>
              <a:t>Parcours de développement</a:t>
            </a:r>
          </a:p>
          <a:p>
            <a:pPr marL="342900" indent="-342900" algn="l">
              <a:buFont typeface="Arial" panose="020B0604020202020204" pitchFamily="34" charset="0"/>
              <a:buChar char="•"/>
            </a:pPr>
            <a:r>
              <a:rPr lang="fr-MA" dirty="0"/>
              <a:t>Certifications</a:t>
            </a:r>
          </a:p>
          <a:p>
            <a:pPr marL="342900" indent="-342900" algn="l">
              <a:buFont typeface="Arial" panose="020B0604020202020204" pitchFamily="34" charset="0"/>
              <a:buChar char="•"/>
            </a:pPr>
            <a:r>
              <a:rPr lang="fr-MA" dirty="0"/>
              <a:t>Tableau de bord formation</a:t>
            </a:r>
          </a:p>
          <a:p>
            <a:endParaRPr lang="fr-FR" dirty="0"/>
          </a:p>
        </p:txBody>
      </p:sp>
    </p:spTree>
    <p:extLst>
      <p:ext uri="{BB962C8B-B14F-4D97-AF65-F5344CB8AC3E}">
        <p14:creationId xmlns:p14="http://schemas.microsoft.com/office/powerpoint/2010/main" val="18839453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A064C-2B72-9F9A-FE4F-D81AB9F97A3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9123F49-2D33-432B-F651-3205118AEB34}"/>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D1255732-17A2-8DE4-E1EF-F1AB903AD2E8}"/>
              </a:ext>
            </a:extLst>
          </p:cNvPr>
          <p:cNvSpPr>
            <a:spLocks noGrp="1"/>
          </p:cNvSpPr>
          <p:nvPr>
            <p:ph type="body" idx="1"/>
          </p:nvPr>
        </p:nvSpPr>
        <p:spPr/>
        <p:txBody>
          <a:bodyPr>
            <a:normAutofit fontScale="92500" lnSpcReduction="20000"/>
          </a:bodyPr>
          <a:lstStyle/>
          <a:p>
            <a:pPr algn="l"/>
            <a:r>
              <a:rPr lang="fr-MA" b="1" dirty="0"/>
              <a:t>24. Application de Gestion des Temps et Absences</a:t>
            </a:r>
          </a:p>
          <a:p>
            <a:pPr algn="l"/>
            <a:r>
              <a:rPr lang="fr-MA" b="1" dirty="0"/>
              <a:t>Description :</a:t>
            </a:r>
            <a:r>
              <a:rPr lang="fr-MA" dirty="0"/>
              <a:t> Système de pointage et gestion des plannings et congés.</a:t>
            </a:r>
          </a:p>
          <a:p>
            <a:pPr algn="l"/>
            <a:r>
              <a:rPr lang="fr-MA" b="1" dirty="0"/>
              <a:t>Modules nécessaires :</a:t>
            </a:r>
            <a:endParaRPr lang="fr-MA" dirty="0"/>
          </a:p>
          <a:p>
            <a:pPr marL="342900" indent="-342900" algn="l">
              <a:buFont typeface="Arial" panose="020B0604020202020204" pitchFamily="34" charset="0"/>
              <a:buChar char="•"/>
            </a:pPr>
            <a:r>
              <a:rPr lang="fr-MA" dirty="0"/>
              <a:t>Badgeage et pointage</a:t>
            </a:r>
          </a:p>
          <a:p>
            <a:pPr marL="342900" indent="-342900" algn="l">
              <a:buFont typeface="Arial" panose="020B0604020202020204" pitchFamily="34" charset="0"/>
              <a:buChar char="•"/>
            </a:pPr>
            <a:r>
              <a:rPr lang="fr-MA" dirty="0"/>
              <a:t>Gestion des plannings</a:t>
            </a:r>
          </a:p>
          <a:p>
            <a:pPr marL="342900" indent="-342900" algn="l">
              <a:buFont typeface="Arial" panose="020B0604020202020204" pitchFamily="34" charset="0"/>
              <a:buChar char="•"/>
            </a:pPr>
            <a:r>
              <a:rPr lang="fr-MA" dirty="0"/>
              <a:t>Demandes de congés</a:t>
            </a:r>
          </a:p>
          <a:p>
            <a:pPr marL="342900" indent="-342900" algn="l">
              <a:buFont typeface="Arial" panose="020B0604020202020204" pitchFamily="34" charset="0"/>
              <a:buChar char="•"/>
            </a:pPr>
            <a:r>
              <a:rPr lang="fr-MA" dirty="0"/>
              <a:t>Validation hiérarchique</a:t>
            </a:r>
          </a:p>
          <a:p>
            <a:pPr marL="342900" indent="-342900" algn="l">
              <a:buFont typeface="Arial" panose="020B0604020202020204" pitchFamily="34" charset="0"/>
              <a:buChar char="•"/>
            </a:pPr>
            <a:r>
              <a:rPr lang="fr-MA" dirty="0"/>
              <a:t>Gestion des RTT</a:t>
            </a:r>
          </a:p>
          <a:p>
            <a:pPr marL="342900" indent="-342900" algn="l">
              <a:buFont typeface="Arial" panose="020B0604020202020204" pitchFamily="34" charset="0"/>
              <a:buChar char="•"/>
            </a:pPr>
            <a:r>
              <a:rPr lang="fr-MA" dirty="0"/>
              <a:t>Suivi des heures supplémentaires</a:t>
            </a:r>
          </a:p>
          <a:p>
            <a:pPr marL="342900" indent="-342900" algn="l">
              <a:buFont typeface="Arial" panose="020B0604020202020204" pitchFamily="34" charset="0"/>
              <a:buChar char="•"/>
            </a:pPr>
            <a:r>
              <a:rPr lang="fr-MA" dirty="0"/>
              <a:t>Gestion des astreintes</a:t>
            </a:r>
          </a:p>
          <a:p>
            <a:pPr marL="342900" indent="-342900" algn="l">
              <a:buFont typeface="Arial" panose="020B0604020202020204" pitchFamily="34" charset="0"/>
              <a:buChar char="•"/>
            </a:pPr>
            <a:r>
              <a:rPr lang="fr-MA" dirty="0"/>
              <a:t>Interface mobile</a:t>
            </a:r>
          </a:p>
          <a:p>
            <a:pPr marL="342900" indent="-342900" algn="l">
              <a:buFont typeface="Arial" panose="020B0604020202020204" pitchFamily="34" charset="0"/>
              <a:buChar char="•"/>
            </a:pPr>
            <a:r>
              <a:rPr lang="fr-MA" dirty="0"/>
              <a:t>Intégration paie</a:t>
            </a:r>
          </a:p>
          <a:p>
            <a:pPr marL="342900" indent="-342900" algn="l">
              <a:buFont typeface="Arial" panose="020B0604020202020204" pitchFamily="34" charset="0"/>
              <a:buChar char="•"/>
            </a:pPr>
            <a:r>
              <a:rPr lang="fr-MA" dirty="0" err="1"/>
              <a:t>Reporting</a:t>
            </a:r>
            <a:r>
              <a:rPr lang="fr-MA" dirty="0"/>
              <a:t> conformité</a:t>
            </a:r>
          </a:p>
          <a:p>
            <a:pPr algn="l"/>
            <a:endParaRPr lang="fr-FR" dirty="0"/>
          </a:p>
        </p:txBody>
      </p:sp>
    </p:spTree>
    <p:extLst>
      <p:ext uri="{BB962C8B-B14F-4D97-AF65-F5344CB8AC3E}">
        <p14:creationId xmlns:p14="http://schemas.microsoft.com/office/powerpoint/2010/main" val="1955924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58374-34FF-78D0-9294-1B388D9050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3D73C3C-42C5-841A-C402-2C7F5DEC5D58}"/>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B88D2953-1185-62AA-4398-494E59233342}"/>
              </a:ext>
            </a:extLst>
          </p:cNvPr>
          <p:cNvSpPr>
            <a:spLocks noGrp="1"/>
          </p:cNvSpPr>
          <p:nvPr>
            <p:ph type="body" idx="1"/>
          </p:nvPr>
        </p:nvSpPr>
        <p:spPr/>
        <p:txBody>
          <a:bodyPr>
            <a:normAutofit fontScale="92500" lnSpcReduction="20000"/>
          </a:bodyPr>
          <a:lstStyle/>
          <a:p>
            <a:pPr algn="l"/>
            <a:r>
              <a:rPr lang="fr-MA" b="1" dirty="0"/>
              <a:t>5. Plateforme d'Évaluation de Performance</a:t>
            </a:r>
          </a:p>
          <a:p>
            <a:pPr algn="l"/>
            <a:r>
              <a:rPr lang="fr-MA" b="1" dirty="0"/>
              <a:t>Description :</a:t>
            </a:r>
            <a:r>
              <a:rPr lang="fr-MA" dirty="0"/>
              <a:t> Système de gestion des entretiens annuels et de l’évaluation continue.</a:t>
            </a:r>
          </a:p>
          <a:p>
            <a:pPr algn="l"/>
            <a:r>
              <a:rPr lang="fr-MA" b="1" dirty="0"/>
              <a:t>Modules nécessaires :</a:t>
            </a:r>
            <a:endParaRPr lang="fr-MA" dirty="0"/>
          </a:p>
          <a:p>
            <a:pPr marL="342900" indent="-342900" algn="l">
              <a:buFont typeface="Arial" panose="020B0604020202020204" pitchFamily="34" charset="0"/>
              <a:buChar char="•"/>
            </a:pPr>
            <a:r>
              <a:rPr lang="fr-MA" dirty="0"/>
              <a:t>Campagnes d'évaluation</a:t>
            </a:r>
          </a:p>
          <a:p>
            <a:pPr marL="342900" indent="-342900" algn="l">
              <a:buFont typeface="Arial" panose="020B0604020202020204" pitchFamily="34" charset="0"/>
              <a:buChar char="•"/>
            </a:pPr>
            <a:r>
              <a:rPr lang="fr-MA" dirty="0"/>
              <a:t>Entretiens annuels structurés</a:t>
            </a:r>
          </a:p>
          <a:p>
            <a:pPr marL="342900" indent="-342900" algn="l">
              <a:buFont typeface="Arial" panose="020B0604020202020204" pitchFamily="34" charset="0"/>
              <a:buChar char="•"/>
            </a:pPr>
            <a:r>
              <a:rPr lang="fr-MA" dirty="0"/>
              <a:t>Objectifs et KPI</a:t>
            </a:r>
          </a:p>
          <a:p>
            <a:pPr marL="342900" indent="-342900" algn="l">
              <a:buFont typeface="Arial" panose="020B0604020202020204" pitchFamily="34" charset="0"/>
              <a:buChar char="•"/>
            </a:pPr>
            <a:r>
              <a:rPr lang="fr-MA" dirty="0"/>
              <a:t>Feedback 360°</a:t>
            </a:r>
          </a:p>
          <a:p>
            <a:pPr marL="342900" indent="-342900" algn="l">
              <a:buFont typeface="Arial" panose="020B0604020202020204" pitchFamily="34" charset="0"/>
              <a:buChar char="•"/>
            </a:pPr>
            <a:r>
              <a:rPr lang="fr-MA" dirty="0"/>
              <a:t>Matrices de compétences</a:t>
            </a:r>
          </a:p>
          <a:p>
            <a:pPr marL="342900" indent="-342900" algn="l">
              <a:buFont typeface="Arial" panose="020B0604020202020204" pitchFamily="34" charset="0"/>
              <a:buChar char="•"/>
            </a:pPr>
            <a:r>
              <a:rPr lang="fr-MA" dirty="0"/>
              <a:t>Plans de développement</a:t>
            </a:r>
          </a:p>
          <a:p>
            <a:pPr marL="342900" indent="-342900" algn="l">
              <a:buFont typeface="Arial" panose="020B0604020202020204" pitchFamily="34" charset="0"/>
              <a:buChar char="•"/>
            </a:pPr>
            <a:r>
              <a:rPr lang="fr-MA" dirty="0"/>
              <a:t>Suivi des actions</a:t>
            </a:r>
          </a:p>
          <a:p>
            <a:pPr marL="342900" indent="-342900" algn="l">
              <a:buFont typeface="Arial" panose="020B0604020202020204" pitchFamily="34" charset="0"/>
              <a:buChar char="•"/>
            </a:pPr>
            <a:r>
              <a:rPr lang="fr-MA" dirty="0"/>
              <a:t>Calibration</a:t>
            </a:r>
          </a:p>
          <a:p>
            <a:pPr marL="342900" indent="-342900" algn="l">
              <a:buFont typeface="Arial" panose="020B0604020202020204" pitchFamily="34" charset="0"/>
              <a:buChar char="•"/>
            </a:pPr>
            <a:r>
              <a:rPr lang="fr-MA" dirty="0"/>
              <a:t>Lien avec rémunération</a:t>
            </a:r>
          </a:p>
          <a:p>
            <a:pPr marL="342900" indent="-342900" algn="l">
              <a:buFont typeface="Arial" panose="020B0604020202020204" pitchFamily="34" charset="0"/>
              <a:buChar char="•"/>
            </a:pPr>
            <a:r>
              <a:rPr lang="fr-MA" dirty="0"/>
              <a:t>Analytics performance</a:t>
            </a:r>
          </a:p>
          <a:p>
            <a:pPr algn="l"/>
            <a:endParaRPr lang="fr-FR" dirty="0"/>
          </a:p>
        </p:txBody>
      </p:sp>
    </p:spTree>
    <p:extLst>
      <p:ext uri="{BB962C8B-B14F-4D97-AF65-F5344CB8AC3E}">
        <p14:creationId xmlns:p14="http://schemas.microsoft.com/office/powerpoint/2010/main" val="2521111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05EAE-4230-4436-C301-E74654AAF0F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62AE713-AFCD-54D0-7B15-3E2CD6706FC1}"/>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53743073-93E2-E065-E3B6-4DED99B83E4C}"/>
              </a:ext>
            </a:extLst>
          </p:cNvPr>
          <p:cNvSpPr>
            <a:spLocks noGrp="1"/>
          </p:cNvSpPr>
          <p:nvPr>
            <p:ph type="body" idx="1"/>
          </p:nvPr>
        </p:nvSpPr>
        <p:spPr/>
        <p:txBody>
          <a:bodyPr>
            <a:normAutofit fontScale="85000" lnSpcReduction="20000"/>
          </a:bodyPr>
          <a:lstStyle/>
          <a:p>
            <a:pPr algn="ctr"/>
            <a:r>
              <a:rPr lang="fr-MA" b="1" dirty="0"/>
              <a:t>CATÉGORIE 5 : FINANCE ET COMPTABILITÉ (5 projets)</a:t>
            </a:r>
          </a:p>
          <a:p>
            <a:pPr algn="l"/>
            <a:r>
              <a:rPr lang="fr-MA" b="1" dirty="0"/>
              <a:t>26. Système de Comptabilité Générale</a:t>
            </a:r>
          </a:p>
          <a:p>
            <a:pPr algn="l"/>
            <a:r>
              <a:rPr lang="fr-MA" b="1" dirty="0"/>
              <a:t>Description :</a:t>
            </a:r>
            <a:r>
              <a:rPr lang="fr-MA" dirty="0"/>
              <a:t> Solution complète de gestion comptable pour PME.</a:t>
            </a:r>
          </a:p>
          <a:p>
            <a:pPr algn="l"/>
            <a:r>
              <a:rPr lang="fr-MA" b="1" dirty="0"/>
              <a:t>Modules nécessaires :</a:t>
            </a:r>
            <a:endParaRPr lang="fr-MA" dirty="0"/>
          </a:p>
          <a:p>
            <a:pPr marL="342900" indent="-342900" algn="l">
              <a:buFont typeface="Arial" panose="020B0604020202020204" pitchFamily="34" charset="0"/>
              <a:buChar char="•"/>
            </a:pPr>
            <a:r>
              <a:rPr lang="fr-MA" dirty="0"/>
              <a:t>Saisie des écritures comptables</a:t>
            </a:r>
          </a:p>
          <a:p>
            <a:pPr marL="342900" indent="-342900" algn="l">
              <a:buFont typeface="Arial" panose="020B0604020202020204" pitchFamily="34" charset="0"/>
              <a:buChar char="•"/>
            </a:pPr>
            <a:r>
              <a:rPr lang="fr-MA" dirty="0"/>
              <a:t>Plan comptable configurable</a:t>
            </a:r>
          </a:p>
          <a:p>
            <a:pPr marL="342900" indent="-342900" algn="l">
              <a:buFont typeface="Arial" panose="020B0604020202020204" pitchFamily="34" charset="0"/>
              <a:buChar char="•"/>
            </a:pPr>
            <a:r>
              <a:rPr lang="fr-MA" dirty="0"/>
              <a:t>Grand livre et balance</a:t>
            </a:r>
          </a:p>
          <a:p>
            <a:pPr marL="342900" indent="-342900" algn="l">
              <a:buFont typeface="Arial" panose="020B0604020202020204" pitchFamily="34" charset="0"/>
              <a:buChar char="•"/>
            </a:pPr>
            <a:r>
              <a:rPr lang="fr-MA" dirty="0"/>
              <a:t>Rapprochement bancaire</a:t>
            </a:r>
          </a:p>
          <a:p>
            <a:pPr marL="342900" indent="-342900" algn="l">
              <a:buFont typeface="Arial" panose="020B0604020202020204" pitchFamily="34" charset="0"/>
              <a:buChar char="•"/>
            </a:pPr>
            <a:r>
              <a:rPr lang="fr-MA" dirty="0"/>
              <a:t>Gestion des immobilisations</a:t>
            </a:r>
          </a:p>
          <a:p>
            <a:pPr marL="342900" indent="-342900" algn="l">
              <a:buFont typeface="Arial" panose="020B0604020202020204" pitchFamily="34" charset="0"/>
              <a:buChar char="•"/>
            </a:pPr>
            <a:r>
              <a:rPr lang="fr-MA" dirty="0"/>
              <a:t>TVA et déclarations fiscales</a:t>
            </a:r>
          </a:p>
          <a:p>
            <a:pPr marL="342900" indent="-342900" algn="l">
              <a:buFont typeface="Arial" panose="020B0604020202020204" pitchFamily="34" charset="0"/>
              <a:buChar char="•"/>
            </a:pPr>
            <a:r>
              <a:rPr lang="fr-MA" dirty="0"/>
              <a:t>Clôture des comptes</a:t>
            </a:r>
          </a:p>
          <a:p>
            <a:pPr marL="342900" indent="-342900" algn="l">
              <a:buFont typeface="Arial" panose="020B0604020202020204" pitchFamily="34" charset="0"/>
              <a:buChar char="•"/>
            </a:pPr>
            <a:r>
              <a:rPr lang="fr-MA" dirty="0"/>
              <a:t>États financiers</a:t>
            </a:r>
          </a:p>
          <a:p>
            <a:pPr marL="342900" indent="-342900" algn="l">
              <a:buFont typeface="Arial" panose="020B0604020202020204" pitchFamily="34" charset="0"/>
              <a:buChar char="•"/>
            </a:pPr>
            <a:r>
              <a:rPr lang="fr-MA" dirty="0"/>
              <a:t>Analytique</a:t>
            </a:r>
          </a:p>
          <a:p>
            <a:pPr marL="342900" indent="-342900" algn="l">
              <a:buFont typeface="Arial" panose="020B0604020202020204" pitchFamily="34" charset="0"/>
              <a:buChar char="•"/>
            </a:pPr>
            <a:r>
              <a:rPr lang="fr-MA" dirty="0"/>
              <a:t>Exports comptables</a:t>
            </a:r>
          </a:p>
          <a:p>
            <a:pPr algn="l"/>
            <a:endParaRPr lang="fr-FR" dirty="0"/>
          </a:p>
        </p:txBody>
      </p:sp>
    </p:spTree>
    <p:extLst>
      <p:ext uri="{BB962C8B-B14F-4D97-AF65-F5344CB8AC3E}">
        <p14:creationId xmlns:p14="http://schemas.microsoft.com/office/powerpoint/2010/main" val="17825118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80C1-B898-FD08-173E-5244A4B3614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5F52A23-B9AE-9B4D-3796-8BADA08B7B78}"/>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3A5EE432-4A9D-972F-78D2-CF9807FE7095}"/>
              </a:ext>
            </a:extLst>
          </p:cNvPr>
          <p:cNvSpPr>
            <a:spLocks noGrp="1"/>
          </p:cNvSpPr>
          <p:nvPr>
            <p:ph type="body" idx="1"/>
          </p:nvPr>
        </p:nvSpPr>
        <p:spPr/>
        <p:txBody>
          <a:bodyPr>
            <a:normAutofit fontScale="92500" lnSpcReduction="20000"/>
          </a:bodyPr>
          <a:lstStyle/>
          <a:p>
            <a:pPr algn="l"/>
            <a:r>
              <a:rPr lang="fr-MA" b="1" dirty="0"/>
              <a:t>27. Application de Gestion de Trésorerie</a:t>
            </a:r>
          </a:p>
          <a:p>
            <a:pPr algn="l"/>
            <a:r>
              <a:rPr lang="fr-MA" b="1" dirty="0"/>
              <a:t>Description :</a:t>
            </a:r>
            <a:r>
              <a:rPr lang="fr-MA" dirty="0"/>
              <a:t> Outil de suivi et prévision de la trésorerie d'entreprise.</a:t>
            </a:r>
          </a:p>
          <a:p>
            <a:pPr algn="l"/>
            <a:r>
              <a:rPr lang="fr-MA" b="1" dirty="0"/>
              <a:t>Modules nécessaires :</a:t>
            </a:r>
            <a:endParaRPr lang="fr-MA" dirty="0"/>
          </a:p>
          <a:p>
            <a:pPr marL="342900" indent="-342900" algn="l">
              <a:buFont typeface="Arial" panose="020B0604020202020204" pitchFamily="34" charset="0"/>
              <a:buChar char="•"/>
            </a:pPr>
            <a:r>
              <a:rPr lang="fr-MA" dirty="0"/>
              <a:t>Suivi des comptes bancaires</a:t>
            </a:r>
          </a:p>
          <a:p>
            <a:pPr marL="342900" indent="-342900" algn="l">
              <a:buFont typeface="Arial" panose="020B0604020202020204" pitchFamily="34" charset="0"/>
              <a:buChar char="•"/>
            </a:pPr>
            <a:r>
              <a:rPr lang="fr-MA" dirty="0"/>
              <a:t>Prévisions de trésorerie</a:t>
            </a:r>
          </a:p>
          <a:p>
            <a:pPr marL="342900" indent="-342900" algn="l">
              <a:buFont typeface="Arial" panose="020B0604020202020204" pitchFamily="34" charset="0"/>
              <a:buChar char="•"/>
            </a:pPr>
            <a:r>
              <a:rPr lang="fr-MA" dirty="0"/>
              <a:t>Rapprochement bancaire</a:t>
            </a:r>
          </a:p>
          <a:p>
            <a:pPr marL="342900" indent="-342900" algn="l">
              <a:buFont typeface="Arial" panose="020B0604020202020204" pitchFamily="34" charset="0"/>
              <a:buChar char="•"/>
            </a:pPr>
            <a:r>
              <a:rPr lang="fr-MA" dirty="0"/>
              <a:t>Gestion des flux</a:t>
            </a:r>
          </a:p>
          <a:p>
            <a:pPr marL="342900" indent="-342900" algn="l">
              <a:buFont typeface="Arial" panose="020B0604020202020204" pitchFamily="34" charset="0"/>
              <a:buChar char="•"/>
            </a:pPr>
            <a:r>
              <a:rPr lang="fr-MA" dirty="0"/>
              <a:t>Placement et financement</a:t>
            </a:r>
          </a:p>
          <a:p>
            <a:pPr marL="342900" indent="-342900" algn="l">
              <a:buFont typeface="Arial" panose="020B0604020202020204" pitchFamily="34" charset="0"/>
              <a:buChar char="•"/>
            </a:pPr>
            <a:r>
              <a:rPr lang="fr-MA" dirty="0"/>
              <a:t>Alertes de seuil</a:t>
            </a:r>
          </a:p>
          <a:p>
            <a:pPr marL="342900" indent="-342900" algn="l">
              <a:buFont typeface="Arial" panose="020B0604020202020204" pitchFamily="34" charset="0"/>
              <a:buChar char="•"/>
            </a:pPr>
            <a:r>
              <a:rPr lang="fr-MA" dirty="0"/>
              <a:t>Consolidation multi-entités</a:t>
            </a:r>
          </a:p>
          <a:p>
            <a:pPr marL="342900" indent="-342900" algn="l">
              <a:buFont typeface="Arial" panose="020B0604020202020204" pitchFamily="34" charset="0"/>
              <a:buChar char="•"/>
            </a:pPr>
            <a:r>
              <a:rPr lang="fr-MA" dirty="0"/>
              <a:t>Scénarios et simulations</a:t>
            </a:r>
          </a:p>
          <a:p>
            <a:pPr marL="342900" indent="-342900" algn="l">
              <a:buFont typeface="Arial" panose="020B0604020202020204" pitchFamily="34" charset="0"/>
              <a:buChar char="•"/>
            </a:pPr>
            <a:r>
              <a:rPr lang="fr-MA" dirty="0" err="1"/>
              <a:t>Reporting</a:t>
            </a:r>
            <a:r>
              <a:rPr lang="fr-MA" dirty="0"/>
              <a:t> financier</a:t>
            </a:r>
          </a:p>
          <a:p>
            <a:pPr marL="342900" indent="-342900" algn="l">
              <a:buFont typeface="Arial" panose="020B0604020202020204" pitchFamily="34" charset="0"/>
              <a:buChar char="•"/>
            </a:pPr>
            <a:r>
              <a:rPr lang="fr-MA" dirty="0"/>
              <a:t>Interfaces bancaires</a:t>
            </a:r>
          </a:p>
          <a:p>
            <a:pPr algn="l"/>
            <a:endParaRPr lang="fr-FR" dirty="0"/>
          </a:p>
        </p:txBody>
      </p:sp>
    </p:spTree>
    <p:extLst>
      <p:ext uri="{BB962C8B-B14F-4D97-AF65-F5344CB8AC3E}">
        <p14:creationId xmlns:p14="http://schemas.microsoft.com/office/powerpoint/2010/main" val="905912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B227E-1126-50F6-DB04-D3CB228AA67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4323A2-FC51-F294-2EBA-5E24BB980C51}"/>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C4A5C2DE-3C38-4401-13D0-8E1521A6EAE5}"/>
              </a:ext>
            </a:extLst>
          </p:cNvPr>
          <p:cNvSpPr>
            <a:spLocks noGrp="1"/>
          </p:cNvSpPr>
          <p:nvPr>
            <p:ph type="body" idx="1"/>
          </p:nvPr>
        </p:nvSpPr>
        <p:spPr/>
        <p:txBody>
          <a:bodyPr>
            <a:normAutofit fontScale="92500" lnSpcReduction="20000"/>
          </a:bodyPr>
          <a:lstStyle/>
          <a:p>
            <a:pPr algn="l"/>
            <a:r>
              <a:rPr lang="fr-MA" b="1" dirty="0"/>
              <a:t>28. Système de Facturation et Devis</a:t>
            </a:r>
          </a:p>
          <a:p>
            <a:pPr algn="l"/>
            <a:r>
              <a:rPr lang="fr-MA" b="1" dirty="0"/>
              <a:t>Description :</a:t>
            </a:r>
            <a:r>
              <a:rPr lang="fr-MA" dirty="0"/>
              <a:t> Application de création et de suivi des devis, factures et avoirs.</a:t>
            </a:r>
          </a:p>
          <a:p>
            <a:pPr algn="l"/>
            <a:r>
              <a:rPr lang="fr-MA" b="1" dirty="0"/>
              <a:t>Modules nécessaires :</a:t>
            </a:r>
            <a:endParaRPr lang="fr-MA" dirty="0"/>
          </a:p>
          <a:p>
            <a:pPr marL="342900" indent="-342900" algn="l">
              <a:buFont typeface="Arial" panose="020B0604020202020204" pitchFamily="34" charset="0"/>
              <a:buChar char="•"/>
            </a:pPr>
            <a:r>
              <a:rPr lang="fr-MA" dirty="0"/>
              <a:t>Création de devis</a:t>
            </a:r>
          </a:p>
          <a:p>
            <a:pPr marL="342900" indent="-342900" algn="l">
              <a:buFont typeface="Arial" panose="020B0604020202020204" pitchFamily="34" charset="0"/>
              <a:buChar char="•"/>
            </a:pPr>
            <a:r>
              <a:rPr lang="fr-MA" dirty="0"/>
              <a:t>Génération de factures</a:t>
            </a:r>
          </a:p>
          <a:p>
            <a:pPr marL="342900" indent="-342900" algn="l">
              <a:buFont typeface="Arial" panose="020B0604020202020204" pitchFamily="34" charset="0"/>
              <a:buChar char="•"/>
            </a:pPr>
            <a:r>
              <a:rPr lang="fr-MA" dirty="0"/>
              <a:t>Gestion des avoirs</a:t>
            </a:r>
          </a:p>
          <a:p>
            <a:pPr marL="342900" indent="-342900" algn="l">
              <a:buFont typeface="Arial" panose="020B0604020202020204" pitchFamily="34" charset="0"/>
              <a:buChar char="•"/>
            </a:pPr>
            <a:r>
              <a:rPr lang="fr-MA" dirty="0"/>
              <a:t>Suivi des paiements</a:t>
            </a:r>
          </a:p>
          <a:p>
            <a:pPr marL="342900" indent="-342900" algn="l">
              <a:buFont typeface="Arial" panose="020B0604020202020204" pitchFamily="34" charset="0"/>
              <a:buChar char="•"/>
            </a:pPr>
            <a:r>
              <a:rPr lang="fr-MA" dirty="0"/>
              <a:t>Relances automatiques</a:t>
            </a:r>
          </a:p>
          <a:p>
            <a:pPr marL="342900" indent="-342900" algn="l">
              <a:buFont typeface="Arial" panose="020B0604020202020204" pitchFamily="34" charset="0"/>
              <a:buChar char="•"/>
            </a:pPr>
            <a:r>
              <a:rPr lang="fr-MA" dirty="0" err="1"/>
              <a:t>Multi-devises</a:t>
            </a:r>
            <a:endParaRPr lang="fr-MA" dirty="0"/>
          </a:p>
          <a:p>
            <a:pPr marL="342900" indent="-342900" algn="l">
              <a:buFont typeface="Arial" panose="020B0604020202020204" pitchFamily="34" charset="0"/>
              <a:buChar char="•"/>
            </a:pPr>
            <a:r>
              <a:rPr lang="fr-MA" dirty="0"/>
              <a:t>Modèles personnalisables</a:t>
            </a:r>
          </a:p>
          <a:p>
            <a:pPr marL="342900" indent="-342900" algn="l">
              <a:buFont typeface="Arial" panose="020B0604020202020204" pitchFamily="34" charset="0"/>
              <a:buChar char="•"/>
            </a:pPr>
            <a:r>
              <a:rPr lang="fr-MA" dirty="0"/>
              <a:t>Signature électronique</a:t>
            </a:r>
          </a:p>
          <a:p>
            <a:pPr marL="342900" indent="-342900" algn="l">
              <a:buFont typeface="Arial" panose="020B0604020202020204" pitchFamily="34" charset="0"/>
              <a:buChar char="•"/>
            </a:pPr>
            <a:r>
              <a:rPr lang="fr-MA" dirty="0"/>
              <a:t>Portail client</a:t>
            </a:r>
          </a:p>
          <a:p>
            <a:pPr marL="342900" indent="-342900" algn="l">
              <a:buFont typeface="Arial" panose="020B0604020202020204" pitchFamily="34" charset="0"/>
              <a:buChar char="•"/>
            </a:pPr>
            <a:r>
              <a:rPr lang="fr-MA" dirty="0"/>
              <a:t>Intégration comptable</a:t>
            </a:r>
          </a:p>
          <a:p>
            <a:pPr algn="l"/>
            <a:endParaRPr lang="fr-FR" dirty="0"/>
          </a:p>
        </p:txBody>
      </p:sp>
    </p:spTree>
    <p:extLst>
      <p:ext uri="{BB962C8B-B14F-4D97-AF65-F5344CB8AC3E}">
        <p14:creationId xmlns:p14="http://schemas.microsoft.com/office/powerpoint/2010/main" val="2060276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06D0A-5161-9FB5-368F-5EF8A879E8B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9D7862B-5E61-BD46-EE98-AB4F7275912D}"/>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91D10454-F27F-AFAF-4F90-2987D740B9BA}"/>
              </a:ext>
            </a:extLst>
          </p:cNvPr>
          <p:cNvSpPr>
            <a:spLocks noGrp="1"/>
          </p:cNvSpPr>
          <p:nvPr>
            <p:ph type="body" idx="1"/>
          </p:nvPr>
        </p:nvSpPr>
        <p:spPr/>
        <p:txBody>
          <a:bodyPr>
            <a:normAutofit fontScale="92500" lnSpcReduction="20000"/>
          </a:bodyPr>
          <a:lstStyle/>
          <a:p>
            <a:pPr algn="l"/>
            <a:r>
              <a:rPr lang="fr-MA" b="1" dirty="0"/>
              <a:t>29. Plateforme de Crédit et Microfinance</a:t>
            </a:r>
          </a:p>
          <a:p>
            <a:pPr algn="l"/>
            <a:r>
              <a:rPr lang="fr-MA" b="1" dirty="0"/>
              <a:t>Description :</a:t>
            </a:r>
            <a:r>
              <a:rPr lang="fr-MA" dirty="0"/>
              <a:t> Système de gestion des prêts pour institution de microfinance.</a:t>
            </a:r>
          </a:p>
          <a:p>
            <a:pPr algn="l"/>
            <a:r>
              <a:rPr lang="fr-MA" b="1" dirty="0"/>
              <a:t>Modules nécessaires :</a:t>
            </a:r>
            <a:endParaRPr lang="fr-MA" dirty="0"/>
          </a:p>
          <a:p>
            <a:pPr marL="342900" indent="-342900" algn="l">
              <a:buFont typeface="Arial" panose="020B0604020202020204" pitchFamily="34" charset="0"/>
              <a:buChar char="•"/>
            </a:pPr>
            <a:r>
              <a:rPr lang="fr-MA" dirty="0"/>
              <a:t>Gestion des clients/emprunteurs</a:t>
            </a:r>
          </a:p>
          <a:p>
            <a:pPr marL="342900" indent="-342900" algn="l">
              <a:buFont typeface="Arial" panose="020B0604020202020204" pitchFamily="34" charset="0"/>
              <a:buChar char="•"/>
            </a:pPr>
            <a:r>
              <a:rPr lang="fr-MA" dirty="0"/>
              <a:t>Demandes de crédit</a:t>
            </a:r>
          </a:p>
          <a:p>
            <a:pPr marL="342900" indent="-342900" algn="l">
              <a:buFont typeface="Arial" panose="020B0604020202020204" pitchFamily="34" charset="0"/>
              <a:buChar char="•"/>
            </a:pPr>
            <a:r>
              <a:rPr lang="fr-MA" dirty="0" err="1"/>
              <a:t>Scoring</a:t>
            </a:r>
            <a:r>
              <a:rPr lang="fr-MA" dirty="0"/>
              <a:t> et analyse risque</a:t>
            </a:r>
          </a:p>
          <a:p>
            <a:pPr marL="342900" indent="-342900" algn="l">
              <a:buFont typeface="Arial" panose="020B0604020202020204" pitchFamily="34" charset="0"/>
              <a:buChar char="•"/>
            </a:pPr>
            <a:r>
              <a:rPr lang="fr-MA" dirty="0"/>
              <a:t>Gestion des prêts</a:t>
            </a:r>
          </a:p>
          <a:p>
            <a:pPr marL="342900" indent="-342900" algn="l">
              <a:buFont typeface="Arial" panose="020B0604020202020204" pitchFamily="34" charset="0"/>
              <a:buChar char="•"/>
            </a:pPr>
            <a:r>
              <a:rPr lang="fr-MA" dirty="0"/>
              <a:t>Échéanciers</a:t>
            </a:r>
          </a:p>
          <a:p>
            <a:pPr marL="342900" indent="-342900" algn="l">
              <a:buFont typeface="Arial" panose="020B0604020202020204" pitchFamily="34" charset="0"/>
              <a:buChar char="•"/>
            </a:pPr>
            <a:r>
              <a:rPr lang="fr-MA" dirty="0"/>
              <a:t>Recouvrement</a:t>
            </a:r>
          </a:p>
          <a:p>
            <a:pPr marL="342900" indent="-342900" algn="l">
              <a:buFont typeface="Arial" panose="020B0604020202020204" pitchFamily="34" charset="0"/>
              <a:buChar char="•"/>
            </a:pPr>
            <a:r>
              <a:rPr lang="fr-MA" dirty="0"/>
              <a:t>Comptabilité spécialisée</a:t>
            </a:r>
          </a:p>
          <a:p>
            <a:pPr marL="342900" indent="-342900" algn="l">
              <a:buFont typeface="Arial" panose="020B0604020202020204" pitchFamily="34" charset="0"/>
              <a:buChar char="•"/>
            </a:pPr>
            <a:r>
              <a:rPr lang="fr-MA" dirty="0"/>
              <a:t>Gestion de l'épargne</a:t>
            </a:r>
          </a:p>
          <a:p>
            <a:pPr marL="342900" indent="-342900" algn="l">
              <a:buFont typeface="Arial" panose="020B0604020202020204" pitchFamily="34" charset="0"/>
              <a:buChar char="•"/>
            </a:pPr>
            <a:r>
              <a:rPr lang="fr-MA" dirty="0" err="1"/>
              <a:t>Reporting</a:t>
            </a:r>
            <a:r>
              <a:rPr lang="fr-MA" dirty="0"/>
              <a:t> réglementaire</a:t>
            </a:r>
          </a:p>
          <a:p>
            <a:pPr marL="342900" indent="-342900" algn="l">
              <a:buFont typeface="Arial" panose="020B0604020202020204" pitchFamily="34" charset="0"/>
              <a:buChar char="•"/>
            </a:pPr>
            <a:r>
              <a:rPr lang="fr-MA" dirty="0"/>
              <a:t>Mobile money</a:t>
            </a:r>
          </a:p>
          <a:p>
            <a:pPr algn="l"/>
            <a:endParaRPr lang="fr-FR" dirty="0"/>
          </a:p>
        </p:txBody>
      </p:sp>
    </p:spTree>
    <p:extLst>
      <p:ext uri="{BB962C8B-B14F-4D97-AF65-F5344CB8AC3E}">
        <p14:creationId xmlns:p14="http://schemas.microsoft.com/office/powerpoint/2010/main" val="12765196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4946E-2B3C-2289-9328-F73B0EA8368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29F76FC-5609-4336-7343-A4D1AEEA8A2A}"/>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062121B6-4F99-5D4A-BE8D-B44827FA11DB}"/>
              </a:ext>
            </a:extLst>
          </p:cNvPr>
          <p:cNvSpPr>
            <a:spLocks noGrp="1"/>
          </p:cNvSpPr>
          <p:nvPr>
            <p:ph type="body" idx="1"/>
          </p:nvPr>
        </p:nvSpPr>
        <p:spPr/>
        <p:txBody>
          <a:bodyPr>
            <a:normAutofit fontScale="85000" lnSpcReduction="10000"/>
          </a:bodyPr>
          <a:lstStyle/>
          <a:p>
            <a:pPr algn="l"/>
            <a:r>
              <a:rPr lang="fr-MA" b="1" dirty="0"/>
              <a:t>30. Application de Gestion de Patrimoine</a:t>
            </a:r>
          </a:p>
          <a:p>
            <a:pPr algn="l"/>
            <a:r>
              <a:rPr lang="fr-MA" b="1" dirty="0"/>
              <a:t>Description :</a:t>
            </a:r>
            <a:r>
              <a:rPr lang="fr-MA" dirty="0"/>
              <a:t> Outil de conseil et de suivi de portefeuille pour gestionnaires de patrimoine.</a:t>
            </a:r>
          </a:p>
          <a:p>
            <a:pPr algn="l"/>
            <a:r>
              <a:rPr lang="fr-MA" b="1" dirty="0"/>
              <a:t>Modules nécessaires :</a:t>
            </a:r>
            <a:endParaRPr lang="fr-MA" dirty="0"/>
          </a:p>
          <a:p>
            <a:pPr marL="342900" indent="-342900" algn="l">
              <a:buFont typeface="Arial" panose="020B0604020202020204" pitchFamily="34" charset="0"/>
              <a:buChar char="•"/>
            </a:pPr>
            <a:r>
              <a:rPr lang="fr-MA" dirty="0"/>
              <a:t>Profil investisseur</a:t>
            </a:r>
          </a:p>
          <a:p>
            <a:pPr marL="342900" indent="-342900" algn="l">
              <a:buFont typeface="Arial" panose="020B0604020202020204" pitchFamily="34" charset="0"/>
              <a:buChar char="•"/>
            </a:pPr>
            <a:r>
              <a:rPr lang="fr-MA" dirty="0"/>
              <a:t>Portefeuille multi-actifs</a:t>
            </a:r>
          </a:p>
          <a:p>
            <a:pPr marL="342900" indent="-342900" algn="l">
              <a:buFont typeface="Arial" panose="020B0604020202020204" pitchFamily="34" charset="0"/>
              <a:buChar char="•"/>
            </a:pPr>
            <a:r>
              <a:rPr lang="fr-MA" dirty="0"/>
              <a:t>Valorisation temps réel</a:t>
            </a:r>
          </a:p>
          <a:p>
            <a:pPr marL="342900" indent="-342900" algn="l">
              <a:buFont typeface="Arial" panose="020B0604020202020204" pitchFamily="34" charset="0"/>
              <a:buChar char="•"/>
            </a:pPr>
            <a:r>
              <a:rPr lang="fr-MA" dirty="0"/>
              <a:t>Analyse de performance</a:t>
            </a:r>
          </a:p>
          <a:p>
            <a:pPr marL="342900" indent="-342900" algn="l">
              <a:buFont typeface="Arial" panose="020B0604020202020204" pitchFamily="34" charset="0"/>
              <a:buChar char="•"/>
            </a:pPr>
            <a:r>
              <a:rPr lang="fr-MA" dirty="0"/>
              <a:t>Recommandations d'investissement</a:t>
            </a:r>
          </a:p>
          <a:p>
            <a:pPr marL="342900" indent="-342900" algn="l">
              <a:buFont typeface="Arial" panose="020B0604020202020204" pitchFamily="34" charset="0"/>
              <a:buChar char="•"/>
            </a:pPr>
            <a:r>
              <a:rPr lang="fr-MA" dirty="0"/>
              <a:t>Gestion des alertes</a:t>
            </a:r>
          </a:p>
          <a:p>
            <a:pPr marL="342900" indent="-342900" algn="l">
              <a:buFont typeface="Arial" panose="020B0604020202020204" pitchFamily="34" charset="0"/>
              <a:buChar char="•"/>
            </a:pPr>
            <a:r>
              <a:rPr lang="fr-MA" dirty="0"/>
              <a:t>Documents contractuels</a:t>
            </a:r>
          </a:p>
          <a:p>
            <a:pPr marL="342900" indent="-342900" algn="l">
              <a:buFont typeface="Arial" panose="020B0604020202020204" pitchFamily="34" charset="0"/>
              <a:buChar char="•"/>
            </a:pPr>
            <a:r>
              <a:rPr lang="fr-MA" dirty="0" err="1"/>
              <a:t>Reporting</a:t>
            </a:r>
            <a:r>
              <a:rPr lang="fr-MA" dirty="0"/>
              <a:t> client</a:t>
            </a:r>
          </a:p>
          <a:p>
            <a:pPr marL="342900" indent="-342900" algn="l">
              <a:buFont typeface="Arial" panose="020B0604020202020204" pitchFamily="34" charset="0"/>
              <a:buChar char="•"/>
            </a:pPr>
            <a:r>
              <a:rPr lang="fr-MA" dirty="0"/>
              <a:t>Conformité réglementaire</a:t>
            </a:r>
          </a:p>
          <a:p>
            <a:pPr marL="342900" indent="-342900" algn="l">
              <a:buFont typeface="Arial" panose="020B0604020202020204" pitchFamily="34" charset="0"/>
              <a:buChar char="•"/>
            </a:pPr>
            <a:r>
              <a:rPr lang="fr-MA" dirty="0"/>
              <a:t>Agrégation bancaire</a:t>
            </a:r>
          </a:p>
          <a:p>
            <a:pPr algn="l"/>
            <a:endParaRPr lang="fr-FR" dirty="0"/>
          </a:p>
        </p:txBody>
      </p:sp>
    </p:spTree>
    <p:extLst>
      <p:ext uri="{BB962C8B-B14F-4D97-AF65-F5344CB8AC3E}">
        <p14:creationId xmlns:p14="http://schemas.microsoft.com/office/powerpoint/2010/main" val="8057254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B5EAA-2388-3EDC-FDBB-06F90254626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3ED6E1E-6A07-540D-F769-ECB399E445C1}"/>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BD03268C-7BEB-3ACE-1850-04725341D89E}"/>
              </a:ext>
            </a:extLst>
          </p:cNvPr>
          <p:cNvSpPr>
            <a:spLocks noGrp="1"/>
          </p:cNvSpPr>
          <p:nvPr>
            <p:ph type="body" idx="1"/>
          </p:nvPr>
        </p:nvSpPr>
        <p:spPr/>
        <p:txBody>
          <a:bodyPr>
            <a:normAutofit fontScale="85000" lnSpcReduction="20000"/>
          </a:bodyPr>
          <a:lstStyle/>
          <a:p>
            <a:pPr algn="ctr"/>
            <a:r>
              <a:rPr lang="fr-MA" b="1" dirty="0"/>
              <a:t>CATÉGORIE 6 : TRANSPORT ET LOGISTIQUE (5 projets)</a:t>
            </a:r>
          </a:p>
          <a:p>
            <a:pPr algn="l"/>
            <a:r>
              <a:rPr lang="fr-MA" b="1" dirty="0"/>
              <a:t>31. Système de Gestion de Transport (TMS)</a:t>
            </a:r>
          </a:p>
          <a:p>
            <a:pPr algn="l"/>
            <a:r>
              <a:rPr lang="fr-MA" b="1" dirty="0"/>
              <a:t>Description :</a:t>
            </a:r>
            <a:r>
              <a:rPr lang="fr-MA" dirty="0"/>
              <a:t> Solution de planification et d’optimisation des transports de marchandises.</a:t>
            </a:r>
          </a:p>
          <a:p>
            <a:pPr algn="l"/>
            <a:r>
              <a:rPr lang="fr-MA" b="1" dirty="0"/>
              <a:t>Modules nécessaires :</a:t>
            </a:r>
            <a:endParaRPr lang="fr-MA" dirty="0"/>
          </a:p>
          <a:p>
            <a:pPr marL="342900" indent="-342900" algn="l">
              <a:buFont typeface="Arial" panose="020B0604020202020204" pitchFamily="34" charset="0"/>
              <a:buChar char="•"/>
            </a:pPr>
            <a:r>
              <a:rPr lang="fr-MA" dirty="0"/>
              <a:t>Planification des tournées</a:t>
            </a:r>
          </a:p>
          <a:p>
            <a:pPr marL="342900" indent="-342900" algn="l">
              <a:buFont typeface="Arial" panose="020B0604020202020204" pitchFamily="34" charset="0"/>
              <a:buChar char="•"/>
            </a:pPr>
            <a:r>
              <a:rPr lang="fr-MA" dirty="0"/>
              <a:t>Optimisation des itinéraires</a:t>
            </a:r>
          </a:p>
          <a:p>
            <a:pPr marL="342900" indent="-342900" algn="l">
              <a:buFont typeface="Arial" panose="020B0604020202020204" pitchFamily="34" charset="0"/>
              <a:buChar char="•"/>
            </a:pPr>
            <a:r>
              <a:rPr lang="fr-MA" dirty="0"/>
              <a:t>Gestion de flotte</a:t>
            </a:r>
          </a:p>
          <a:p>
            <a:pPr marL="342900" indent="-342900" algn="l">
              <a:buFont typeface="Arial" panose="020B0604020202020204" pitchFamily="34" charset="0"/>
              <a:buChar char="•"/>
            </a:pPr>
            <a:r>
              <a:rPr lang="fr-MA" dirty="0"/>
              <a:t>Suivi GPS temps réel</a:t>
            </a:r>
          </a:p>
          <a:p>
            <a:pPr marL="342900" indent="-342900" algn="l">
              <a:buFont typeface="Arial" panose="020B0604020202020204" pitchFamily="34" charset="0"/>
              <a:buChar char="•"/>
            </a:pPr>
            <a:r>
              <a:rPr lang="fr-MA" dirty="0"/>
              <a:t>Gestion des chargements</a:t>
            </a:r>
          </a:p>
          <a:p>
            <a:pPr marL="342900" indent="-342900" algn="l">
              <a:buFont typeface="Arial" panose="020B0604020202020204" pitchFamily="34" charset="0"/>
              <a:buChar char="•"/>
            </a:pPr>
            <a:r>
              <a:rPr lang="fr-MA" dirty="0"/>
              <a:t>Preuve de livraison</a:t>
            </a:r>
          </a:p>
          <a:p>
            <a:pPr marL="342900" indent="-342900" algn="l">
              <a:buFont typeface="Arial" panose="020B0604020202020204" pitchFamily="34" charset="0"/>
              <a:buChar char="•"/>
            </a:pPr>
            <a:r>
              <a:rPr lang="fr-MA" dirty="0"/>
              <a:t>Calcul des coûts</a:t>
            </a:r>
          </a:p>
          <a:p>
            <a:pPr marL="342900" indent="-342900" algn="l">
              <a:buFont typeface="Arial" panose="020B0604020202020204" pitchFamily="34" charset="0"/>
              <a:buChar char="•"/>
            </a:pPr>
            <a:r>
              <a:rPr lang="fr-MA" dirty="0"/>
              <a:t>Interface chauffeurs mobile</a:t>
            </a:r>
          </a:p>
          <a:p>
            <a:pPr marL="342900" indent="-342900" algn="l">
              <a:buFont typeface="Arial" panose="020B0604020202020204" pitchFamily="34" charset="0"/>
              <a:buChar char="•"/>
            </a:pPr>
            <a:r>
              <a:rPr lang="fr-MA" dirty="0"/>
              <a:t>Gestion des sous-traitants</a:t>
            </a:r>
          </a:p>
          <a:p>
            <a:pPr marL="342900" indent="-342900" algn="l">
              <a:buFont typeface="Arial" panose="020B0604020202020204" pitchFamily="34" charset="0"/>
              <a:buChar char="•"/>
            </a:pPr>
            <a:r>
              <a:rPr lang="fr-MA" dirty="0"/>
              <a:t>Analytics et KPI logistiques</a:t>
            </a:r>
          </a:p>
          <a:p>
            <a:pPr algn="l"/>
            <a:endParaRPr lang="fr-FR" dirty="0"/>
          </a:p>
        </p:txBody>
      </p:sp>
    </p:spTree>
    <p:extLst>
      <p:ext uri="{BB962C8B-B14F-4D97-AF65-F5344CB8AC3E}">
        <p14:creationId xmlns:p14="http://schemas.microsoft.com/office/powerpoint/2010/main" val="41731314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6FCE0-D4FE-70E4-A518-6EDA5B58AF5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48FCF0B-9F5A-B71C-5B60-25EE88C6EEE7}"/>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9DE16CAA-B0CF-91E6-0B84-5D99EA9E5C90}"/>
              </a:ext>
            </a:extLst>
          </p:cNvPr>
          <p:cNvSpPr>
            <a:spLocks noGrp="1"/>
          </p:cNvSpPr>
          <p:nvPr>
            <p:ph type="body" idx="1"/>
          </p:nvPr>
        </p:nvSpPr>
        <p:spPr/>
        <p:txBody>
          <a:bodyPr>
            <a:normAutofit fontScale="92500" lnSpcReduction="20000"/>
          </a:bodyPr>
          <a:lstStyle/>
          <a:p>
            <a:pPr algn="l"/>
            <a:r>
              <a:rPr lang="fr-MA" b="1" dirty="0"/>
              <a:t>32. Application de Covoiturage d'Entreprise</a:t>
            </a:r>
          </a:p>
          <a:p>
            <a:pPr algn="l"/>
            <a:r>
              <a:rPr lang="fr-MA" b="1" dirty="0"/>
              <a:t>Description :</a:t>
            </a:r>
            <a:r>
              <a:rPr lang="fr-MA" dirty="0"/>
              <a:t> Plateforme de mise en relation pour covoiturage entre collègues.</a:t>
            </a:r>
          </a:p>
          <a:p>
            <a:pPr algn="l"/>
            <a:r>
              <a:rPr lang="fr-MA" b="1" dirty="0"/>
              <a:t>Modules nécessaires :</a:t>
            </a:r>
            <a:endParaRPr lang="fr-MA" dirty="0"/>
          </a:p>
          <a:p>
            <a:pPr marL="342900" indent="-342900" algn="l">
              <a:buFont typeface="Arial" panose="020B0604020202020204" pitchFamily="34" charset="0"/>
              <a:buChar char="•"/>
            </a:pPr>
            <a:r>
              <a:rPr lang="fr-MA" dirty="0"/>
              <a:t>Profils utilisateurs</a:t>
            </a:r>
          </a:p>
          <a:p>
            <a:pPr marL="342900" indent="-342900" algn="l">
              <a:buFont typeface="Arial" panose="020B0604020202020204" pitchFamily="34" charset="0"/>
              <a:buChar char="•"/>
            </a:pPr>
            <a:r>
              <a:rPr lang="fr-MA" dirty="0"/>
              <a:t>Recherche de trajets</a:t>
            </a:r>
          </a:p>
          <a:p>
            <a:pPr marL="342900" indent="-342900" algn="l">
              <a:buFont typeface="Arial" panose="020B0604020202020204" pitchFamily="34" charset="0"/>
              <a:buChar char="•"/>
            </a:pPr>
            <a:r>
              <a:rPr lang="fr-MA" dirty="0"/>
              <a:t>Matching intelligent</a:t>
            </a:r>
          </a:p>
          <a:p>
            <a:pPr marL="342900" indent="-342900" algn="l">
              <a:buFont typeface="Arial" panose="020B0604020202020204" pitchFamily="34" charset="0"/>
              <a:buChar char="•"/>
            </a:pPr>
            <a:r>
              <a:rPr lang="fr-MA" dirty="0"/>
              <a:t>Réservation</a:t>
            </a:r>
          </a:p>
          <a:p>
            <a:pPr marL="342900" indent="-342900" algn="l">
              <a:buFont typeface="Arial" panose="020B0604020202020204" pitchFamily="34" charset="0"/>
              <a:buChar char="•"/>
            </a:pPr>
            <a:r>
              <a:rPr lang="fr-MA" dirty="0"/>
              <a:t>Notifications</a:t>
            </a:r>
          </a:p>
          <a:p>
            <a:pPr marL="342900" indent="-342900" algn="l">
              <a:buFont typeface="Arial" panose="020B0604020202020204" pitchFamily="34" charset="0"/>
              <a:buChar char="•"/>
            </a:pPr>
            <a:r>
              <a:rPr lang="fr-MA" dirty="0"/>
              <a:t>Calcul des frais</a:t>
            </a:r>
          </a:p>
          <a:p>
            <a:pPr marL="342900" indent="-342900" algn="l">
              <a:buFont typeface="Arial" panose="020B0604020202020204" pitchFamily="34" charset="0"/>
              <a:buChar char="•"/>
            </a:pPr>
            <a:r>
              <a:rPr lang="fr-MA" dirty="0"/>
              <a:t>Système de notation</a:t>
            </a:r>
          </a:p>
          <a:p>
            <a:pPr marL="342900" indent="-342900" algn="l">
              <a:buFont typeface="Arial" panose="020B0604020202020204" pitchFamily="34" charset="0"/>
              <a:buChar char="•"/>
            </a:pPr>
            <a:r>
              <a:rPr lang="fr-MA" dirty="0"/>
              <a:t>Géolocalisation</a:t>
            </a:r>
          </a:p>
          <a:p>
            <a:pPr marL="342900" indent="-342900" algn="l">
              <a:buFont typeface="Arial" panose="020B0604020202020204" pitchFamily="34" charset="0"/>
              <a:buChar char="•"/>
            </a:pPr>
            <a:r>
              <a:rPr lang="fr-MA" dirty="0"/>
              <a:t>Interface mobile</a:t>
            </a:r>
          </a:p>
          <a:p>
            <a:pPr marL="342900" indent="-342900" algn="l">
              <a:buFont typeface="Arial" panose="020B0604020202020204" pitchFamily="34" charset="0"/>
              <a:buChar char="•"/>
            </a:pPr>
            <a:r>
              <a:rPr lang="fr-MA" dirty="0"/>
              <a:t>Statistiques écologiques</a:t>
            </a:r>
          </a:p>
          <a:p>
            <a:pPr algn="l"/>
            <a:endParaRPr lang="fr-FR" dirty="0"/>
          </a:p>
        </p:txBody>
      </p:sp>
    </p:spTree>
    <p:extLst>
      <p:ext uri="{BB962C8B-B14F-4D97-AF65-F5344CB8AC3E}">
        <p14:creationId xmlns:p14="http://schemas.microsoft.com/office/powerpoint/2010/main" val="42721312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6C0B8-FDA7-85F9-5132-6A08463B164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863B409-B950-A532-0867-CC927B175C6D}"/>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53E54D12-BB05-9BB9-3093-0124157E0E5A}"/>
              </a:ext>
            </a:extLst>
          </p:cNvPr>
          <p:cNvSpPr>
            <a:spLocks noGrp="1"/>
          </p:cNvSpPr>
          <p:nvPr>
            <p:ph type="body" idx="1"/>
          </p:nvPr>
        </p:nvSpPr>
        <p:spPr/>
        <p:txBody>
          <a:bodyPr>
            <a:normAutofit fontScale="92500" lnSpcReduction="20000"/>
          </a:bodyPr>
          <a:lstStyle/>
          <a:p>
            <a:pPr algn="l"/>
            <a:r>
              <a:rPr lang="fr-MA" b="1" dirty="0"/>
              <a:t>33. Système de Gestion d'Entrepôt (WMS)</a:t>
            </a:r>
          </a:p>
          <a:p>
            <a:pPr algn="l"/>
            <a:r>
              <a:rPr lang="fr-MA" b="1" dirty="0"/>
              <a:t>Description :</a:t>
            </a:r>
            <a:r>
              <a:rPr lang="fr-MA" dirty="0"/>
              <a:t> Solution complète pour la gestion des opérations d'entrepôt.</a:t>
            </a:r>
          </a:p>
          <a:p>
            <a:pPr algn="l"/>
            <a:r>
              <a:rPr lang="fr-MA" b="1" dirty="0"/>
              <a:t>Modules nécessaires :</a:t>
            </a:r>
            <a:endParaRPr lang="fr-MA" dirty="0"/>
          </a:p>
          <a:p>
            <a:pPr marL="342900" indent="-342900" algn="l">
              <a:buFont typeface="Arial" panose="020B0604020202020204" pitchFamily="34" charset="0"/>
              <a:buChar char="•"/>
            </a:pPr>
            <a:r>
              <a:rPr lang="fr-MA" dirty="0"/>
              <a:t>Gestion des emplacements</a:t>
            </a:r>
          </a:p>
          <a:p>
            <a:pPr marL="342900" indent="-342900" algn="l">
              <a:buFont typeface="Arial" panose="020B0604020202020204" pitchFamily="34" charset="0"/>
              <a:buChar char="•"/>
            </a:pPr>
            <a:r>
              <a:rPr lang="fr-MA" dirty="0"/>
              <a:t>Réception marchandises</a:t>
            </a:r>
          </a:p>
          <a:p>
            <a:pPr marL="342900" indent="-342900" algn="l">
              <a:buFont typeface="Arial" panose="020B0604020202020204" pitchFamily="34" charset="0"/>
              <a:buChar char="•"/>
            </a:pPr>
            <a:r>
              <a:rPr lang="fr-MA" dirty="0"/>
              <a:t>Préparation de commandes (picking)</a:t>
            </a:r>
          </a:p>
          <a:p>
            <a:pPr marL="342900" indent="-342900" algn="l">
              <a:buFont typeface="Arial" panose="020B0604020202020204" pitchFamily="34" charset="0"/>
              <a:buChar char="•"/>
            </a:pPr>
            <a:r>
              <a:rPr lang="fr-MA" dirty="0"/>
              <a:t>Emballage et expédition</a:t>
            </a:r>
          </a:p>
          <a:p>
            <a:pPr marL="342900" indent="-342900" algn="l">
              <a:buFont typeface="Arial" panose="020B0604020202020204" pitchFamily="34" charset="0"/>
              <a:buChar char="•"/>
            </a:pPr>
            <a:r>
              <a:rPr lang="fr-MA" dirty="0"/>
              <a:t>Inventaire en temps réel</a:t>
            </a:r>
          </a:p>
          <a:p>
            <a:pPr marL="342900" indent="-342900" algn="l">
              <a:buFont typeface="Arial" panose="020B0604020202020204" pitchFamily="34" charset="0"/>
              <a:buChar char="•"/>
            </a:pPr>
            <a:r>
              <a:rPr lang="fr-MA" dirty="0"/>
              <a:t>Gestion des lots et DLUO</a:t>
            </a:r>
          </a:p>
          <a:p>
            <a:pPr marL="342900" indent="-342900" algn="l">
              <a:buFont typeface="Arial" panose="020B0604020202020204" pitchFamily="34" charset="0"/>
              <a:buChar char="•"/>
            </a:pPr>
            <a:r>
              <a:rPr lang="fr-MA" dirty="0"/>
              <a:t>Optimisation du stockage</a:t>
            </a:r>
          </a:p>
          <a:p>
            <a:pPr marL="342900" indent="-342900" algn="l">
              <a:buFont typeface="Arial" panose="020B0604020202020204" pitchFamily="34" charset="0"/>
              <a:buChar char="•"/>
            </a:pPr>
            <a:r>
              <a:rPr lang="fr-MA" dirty="0"/>
              <a:t>Interface terminaux mobiles</a:t>
            </a:r>
          </a:p>
          <a:p>
            <a:pPr marL="342900" indent="-342900" algn="l">
              <a:buFont typeface="Arial" panose="020B0604020202020204" pitchFamily="34" charset="0"/>
              <a:buChar char="•"/>
            </a:pPr>
            <a:r>
              <a:rPr lang="fr-MA" dirty="0"/>
              <a:t>Intégration transporteurs</a:t>
            </a:r>
          </a:p>
          <a:p>
            <a:pPr algn="l"/>
            <a:endParaRPr lang="fr-FR" dirty="0"/>
          </a:p>
        </p:txBody>
      </p:sp>
    </p:spTree>
    <p:extLst>
      <p:ext uri="{BB962C8B-B14F-4D97-AF65-F5344CB8AC3E}">
        <p14:creationId xmlns:p14="http://schemas.microsoft.com/office/powerpoint/2010/main" val="19002177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6B7D4-54FD-D7DB-DB82-B9325EDA31A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F302B5-C0D5-FCE1-E7BD-E22047640823}"/>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B9064BF6-362A-0EE2-CF45-0D4B22C2C012}"/>
              </a:ext>
            </a:extLst>
          </p:cNvPr>
          <p:cNvSpPr>
            <a:spLocks noGrp="1"/>
          </p:cNvSpPr>
          <p:nvPr>
            <p:ph type="body" idx="1"/>
          </p:nvPr>
        </p:nvSpPr>
        <p:spPr/>
        <p:txBody>
          <a:bodyPr>
            <a:normAutofit fontScale="92500" lnSpcReduction="20000"/>
          </a:bodyPr>
          <a:lstStyle/>
          <a:p>
            <a:pPr algn="l"/>
            <a:r>
              <a:rPr lang="fr-MA" b="1" dirty="0"/>
              <a:t>4. Plateforme de Réservation de Parking</a:t>
            </a:r>
          </a:p>
          <a:p>
            <a:pPr algn="l"/>
            <a:r>
              <a:rPr lang="fr-MA" b="1" dirty="0"/>
              <a:t>Description :</a:t>
            </a:r>
            <a:r>
              <a:rPr lang="fr-MA" dirty="0"/>
              <a:t> Application de réservation et de paiement de places de parking.</a:t>
            </a:r>
          </a:p>
          <a:p>
            <a:pPr algn="l"/>
            <a:r>
              <a:rPr lang="fr-MA" b="1" dirty="0"/>
              <a:t>Modules nécessaires :</a:t>
            </a:r>
            <a:endParaRPr lang="fr-MA" dirty="0"/>
          </a:p>
          <a:p>
            <a:pPr marL="342900" indent="-342900" algn="l">
              <a:buFont typeface="Arial" panose="020B0604020202020204" pitchFamily="34" charset="0"/>
              <a:buChar char="•"/>
            </a:pPr>
            <a:r>
              <a:rPr lang="fr-MA" dirty="0"/>
              <a:t>Cartographie des parkings</a:t>
            </a:r>
          </a:p>
          <a:p>
            <a:pPr marL="342900" indent="-342900" algn="l">
              <a:buFont typeface="Arial" panose="020B0604020202020204" pitchFamily="34" charset="0"/>
              <a:buChar char="•"/>
            </a:pPr>
            <a:r>
              <a:rPr lang="fr-MA" dirty="0"/>
              <a:t>Disponibilité temps réel</a:t>
            </a:r>
          </a:p>
          <a:p>
            <a:pPr marL="342900" indent="-342900" algn="l">
              <a:buFont typeface="Arial" panose="020B0604020202020204" pitchFamily="34" charset="0"/>
              <a:buChar char="•"/>
            </a:pPr>
            <a:r>
              <a:rPr lang="fr-MA" dirty="0"/>
              <a:t>Réservation en ligne</a:t>
            </a:r>
          </a:p>
          <a:p>
            <a:pPr marL="342900" indent="-342900" algn="l">
              <a:buFont typeface="Arial" panose="020B0604020202020204" pitchFamily="34" charset="0"/>
              <a:buChar char="•"/>
            </a:pPr>
            <a:r>
              <a:rPr lang="fr-MA" dirty="0"/>
              <a:t>Paiement mobile</a:t>
            </a:r>
          </a:p>
          <a:p>
            <a:pPr marL="342900" indent="-342900" algn="l">
              <a:buFont typeface="Arial" panose="020B0604020202020204" pitchFamily="34" charset="0"/>
              <a:buChar char="•"/>
            </a:pPr>
            <a:r>
              <a:rPr lang="fr-MA" dirty="0"/>
              <a:t>QR Code d'accès</a:t>
            </a:r>
          </a:p>
          <a:p>
            <a:pPr marL="342900" indent="-342900" algn="l">
              <a:buFont typeface="Arial" panose="020B0604020202020204" pitchFamily="34" charset="0"/>
              <a:buChar char="•"/>
            </a:pPr>
            <a:r>
              <a:rPr lang="fr-MA" dirty="0"/>
              <a:t>Gestion multi-parkings</a:t>
            </a:r>
          </a:p>
          <a:p>
            <a:pPr marL="342900" indent="-342900" algn="l">
              <a:buFont typeface="Arial" panose="020B0604020202020204" pitchFamily="34" charset="0"/>
              <a:buChar char="•"/>
            </a:pPr>
            <a:r>
              <a:rPr lang="fr-MA" dirty="0"/>
              <a:t>Abonnements</a:t>
            </a:r>
          </a:p>
          <a:p>
            <a:pPr marL="342900" indent="-342900" algn="l">
              <a:buFont typeface="Arial" panose="020B0604020202020204" pitchFamily="34" charset="0"/>
              <a:buChar char="•"/>
            </a:pPr>
            <a:r>
              <a:rPr lang="fr-MA" dirty="0"/>
              <a:t>Historique</a:t>
            </a:r>
          </a:p>
          <a:p>
            <a:pPr marL="342900" indent="-342900" algn="l">
              <a:buFont typeface="Arial" panose="020B0604020202020204" pitchFamily="34" charset="0"/>
              <a:buChar char="•"/>
            </a:pPr>
            <a:r>
              <a:rPr lang="fr-MA" dirty="0"/>
              <a:t>Notifications</a:t>
            </a:r>
          </a:p>
          <a:p>
            <a:pPr marL="342900" indent="-342900" algn="l">
              <a:buFont typeface="Arial" panose="020B0604020202020204" pitchFamily="34" charset="0"/>
              <a:buChar char="•"/>
            </a:pPr>
            <a:r>
              <a:rPr lang="fr-MA" dirty="0"/>
              <a:t>Interface gestionnaire</a:t>
            </a:r>
          </a:p>
          <a:p>
            <a:pPr algn="l"/>
            <a:endParaRPr lang="fr-FR" dirty="0"/>
          </a:p>
        </p:txBody>
      </p:sp>
    </p:spTree>
    <p:extLst>
      <p:ext uri="{BB962C8B-B14F-4D97-AF65-F5344CB8AC3E}">
        <p14:creationId xmlns:p14="http://schemas.microsoft.com/office/powerpoint/2010/main" val="37050663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31DF5-B4DA-7A88-1550-D3596738269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4167952-EF4B-8BEA-046A-744148C2247B}"/>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274CC623-93B4-5A3B-0775-211230AF02FE}"/>
              </a:ext>
            </a:extLst>
          </p:cNvPr>
          <p:cNvSpPr>
            <a:spLocks noGrp="1"/>
          </p:cNvSpPr>
          <p:nvPr>
            <p:ph type="body" idx="1"/>
          </p:nvPr>
        </p:nvSpPr>
        <p:spPr/>
        <p:txBody>
          <a:bodyPr>
            <a:normAutofit fontScale="92500" lnSpcReduction="20000"/>
          </a:bodyPr>
          <a:lstStyle/>
          <a:p>
            <a:pPr algn="l"/>
            <a:r>
              <a:rPr lang="fr-MA" b="1" dirty="0"/>
              <a:t>35. Application de Livraison à Domicile</a:t>
            </a:r>
          </a:p>
          <a:p>
            <a:pPr algn="l"/>
            <a:r>
              <a:rPr lang="fr-MA" b="1" dirty="0"/>
              <a:t>Description :</a:t>
            </a:r>
            <a:r>
              <a:rPr lang="fr-MA" dirty="0"/>
              <a:t> Plateforme de livraison express avec coursiers.</a:t>
            </a:r>
          </a:p>
          <a:p>
            <a:pPr algn="l"/>
            <a:r>
              <a:rPr lang="fr-MA" b="1" dirty="0"/>
              <a:t>Modules nécessaires :</a:t>
            </a:r>
            <a:endParaRPr lang="fr-MA" dirty="0"/>
          </a:p>
          <a:p>
            <a:pPr marL="342900" indent="-342900" algn="l">
              <a:buFont typeface="Arial" panose="020B0604020202020204" pitchFamily="34" charset="0"/>
              <a:buChar char="•"/>
            </a:pPr>
            <a:r>
              <a:rPr lang="fr-MA" dirty="0"/>
              <a:t>Prise de commande</a:t>
            </a:r>
          </a:p>
          <a:p>
            <a:pPr marL="342900" indent="-342900" algn="l">
              <a:buFont typeface="Arial" panose="020B0604020202020204" pitchFamily="34" charset="0"/>
              <a:buChar char="•"/>
            </a:pPr>
            <a:r>
              <a:rPr lang="fr-MA" dirty="0"/>
              <a:t>Affectation des coursiers</a:t>
            </a:r>
          </a:p>
          <a:p>
            <a:pPr marL="342900" indent="-342900" algn="l">
              <a:buFont typeface="Arial" panose="020B0604020202020204" pitchFamily="34" charset="0"/>
              <a:buChar char="•"/>
            </a:pPr>
            <a:r>
              <a:rPr lang="fr-MA" dirty="0" err="1"/>
              <a:t>Tracking</a:t>
            </a:r>
            <a:r>
              <a:rPr lang="fr-MA" dirty="0"/>
              <a:t> en temps réel</a:t>
            </a:r>
          </a:p>
          <a:p>
            <a:pPr marL="342900" indent="-342900" algn="l">
              <a:buFont typeface="Arial" panose="020B0604020202020204" pitchFamily="34" charset="0"/>
              <a:buChar char="•"/>
            </a:pPr>
            <a:r>
              <a:rPr lang="fr-MA" dirty="0"/>
              <a:t>Optimisation des courses</a:t>
            </a:r>
          </a:p>
          <a:p>
            <a:pPr marL="342900" indent="-342900" algn="l">
              <a:buFont typeface="Arial" panose="020B0604020202020204" pitchFamily="34" charset="0"/>
              <a:buChar char="•"/>
            </a:pPr>
            <a:r>
              <a:rPr lang="fr-MA" dirty="0"/>
              <a:t>Gestion des coursiers</a:t>
            </a:r>
          </a:p>
          <a:p>
            <a:pPr marL="342900" indent="-342900" algn="l">
              <a:buFont typeface="Arial" panose="020B0604020202020204" pitchFamily="34" charset="0"/>
              <a:buChar char="•"/>
            </a:pPr>
            <a:r>
              <a:rPr lang="fr-MA" dirty="0"/>
              <a:t>Application coursier mobile</a:t>
            </a:r>
          </a:p>
          <a:p>
            <a:pPr marL="342900" indent="-342900" algn="l">
              <a:buFont typeface="Arial" panose="020B0604020202020204" pitchFamily="34" charset="0"/>
              <a:buChar char="•"/>
            </a:pPr>
            <a:r>
              <a:rPr lang="fr-MA" dirty="0"/>
              <a:t>Paiement intégré</a:t>
            </a:r>
          </a:p>
          <a:p>
            <a:pPr marL="342900" indent="-342900" algn="l">
              <a:buFont typeface="Arial" panose="020B0604020202020204" pitchFamily="34" charset="0"/>
              <a:buChar char="•"/>
            </a:pPr>
            <a:r>
              <a:rPr lang="fr-MA" dirty="0"/>
              <a:t>Notation et commentaires</a:t>
            </a:r>
          </a:p>
          <a:p>
            <a:pPr marL="342900" indent="-342900" algn="l">
              <a:buFont typeface="Arial" panose="020B0604020202020204" pitchFamily="34" charset="0"/>
              <a:buChar char="•"/>
            </a:pPr>
            <a:r>
              <a:rPr lang="fr-MA" dirty="0"/>
              <a:t>Zone de livraison</a:t>
            </a:r>
          </a:p>
          <a:p>
            <a:pPr marL="342900" indent="-342900" algn="l">
              <a:buFont typeface="Arial" panose="020B0604020202020204" pitchFamily="34" charset="0"/>
              <a:buChar char="•"/>
            </a:pPr>
            <a:r>
              <a:rPr lang="fr-MA" dirty="0"/>
              <a:t>Calcul tarifaire dynamique</a:t>
            </a:r>
          </a:p>
          <a:p>
            <a:pPr algn="l"/>
            <a:endParaRPr lang="fr-FR" dirty="0"/>
          </a:p>
        </p:txBody>
      </p:sp>
    </p:spTree>
    <p:extLst>
      <p:ext uri="{BB962C8B-B14F-4D97-AF65-F5344CB8AC3E}">
        <p14:creationId xmlns:p14="http://schemas.microsoft.com/office/powerpoint/2010/main" val="13174258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3692F-01CA-A4CC-33D6-F13B5ACC5C5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F145A8A-ACD6-73C7-FDBB-F76A5AF6AA50}"/>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D5D6E959-C772-6BCF-777C-B137DCF962DC}"/>
              </a:ext>
            </a:extLst>
          </p:cNvPr>
          <p:cNvSpPr>
            <a:spLocks noGrp="1"/>
          </p:cNvSpPr>
          <p:nvPr>
            <p:ph type="body" idx="1"/>
          </p:nvPr>
        </p:nvSpPr>
        <p:spPr/>
        <p:txBody>
          <a:bodyPr>
            <a:normAutofit fontScale="85000" lnSpcReduction="20000"/>
          </a:bodyPr>
          <a:lstStyle/>
          <a:p>
            <a:pPr algn="l"/>
            <a:r>
              <a:rPr lang="fr-MA" b="1" dirty="0"/>
              <a:t>CATÉGORIE 7 : IMMOBILIER (5 projets)</a:t>
            </a:r>
          </a:p>
          <a:p>
            <a:pPr algn="l"/>
            <a:r>
              <a:rPr lang="fr-MA" b="1" dirty="0"/>
              <a:t>36. Portail Immobilier</a:t>
            </a:r>
          </a:p>
          <a:p>
            <a:pPr algn="l"/>
            <a:r>
              <a:rPr lang="fr-MA" b="1" dirty="0"/>
              <a:t>Description :</a:t>
            </a:r>
            <a:r>
              <a:rPr lang="fr-MA" dirty="0"/>
              <a:t> Plateforme de petites annonces immobilières pour la vente et la location.</a:t>
            </a:r>
          </a:p>
          <a:p>
            <a:pPr algn="l"/>
            <a:r>
              <a:rPr lang="fr-MA" b="1" dirty="0"/>
              <a:t>Modules nécessaires :</a:t>
            </a:r>
            <a:endParaRPr lang="fr-MA" dirty="0"/>
          </a:p>
          <a:p>
            <a:pPr marL="342900" indent="-342900" algn="l">
              <a:buFont typeface="Arial" panose="020B0604020202020204" pitchFamily="34" charset="0"/>
              <a:buChar char="•"/>
            </a:pPr>
            <a:r>
              <a:rPr lang="fr-MA" dirty="0"/>
              <a:t>Annonces avec photos/vidéos</a:t>
            </a:r>
          </a:p>
          <a:p>
            <a:pPr marL="342900" indent="-342900" algn="l">
              <a:buFont typeface="Arial" panose="020B0604020202020204" pitchFamily="34" charset="0"/>
              <a:buChar char="•"/>
            </a:pPr>
            <a:r>
              <a:rPr lang="fr-MA" dirty="0"/>
              <a:t>Recherche multicritère</a:t>
            </a:r>
          </a:p>
          <a:p>
            <a:pPr marL="342900" indent="-342900" algn="l">
              <a:buFont typeface="Arial" panose="020B0604020202020204" pitchFamily="34" charset="0"/>
              <a:buChar char="•"/>
            </a:pPr>
            <a:r>
              <a:rPr lang="fr-MA" dirty="0"/>
              <a:t>Cartographie interactive</a:t>
            </a:r>
          </a:p>
          <a:p>
            <a:pPr marL="342900" indent="-342900" algn="l">
              <a:buFont typeface="Arial" panose="020B0604020202020204" pitchFamily="34" charset="0"/>
              <a:buChar char="•"/>
            </a:pPr>
            <a:r>
              <a:rPr lang="fr-MA" dirty="0"/>
              <a:t>Alertes email personnalisées</a:t>
            </a:r>
          </a:p>
          <a:p>
            <a:pPr marL="342900" indent="-342900" algn="l">
              <a:buFont typeface="Arial" panose="020B0604020202020204" pitchFamily="34" charset="0"/>
              <a:buChar char="•"/>
            </a:pPr>
            <a:r>
              <a:rPr lang="fr-MA" dirty="0"/>
              <a:t>Visite virtuelle 360°</a:t>
            </a:r>
          </a:p>
          <a:p>
            <a:pPr marL="342900" indent="-342900" algn="l">
              <a:buFont typeface="Arial" panose="020B0604020202020204" pitchFamily="34" charset="0"/>
              <a:buChar char="•"/>
            </a:pPr>
            <a:r>
              <a:rPr lang="fr-MA" dirty="0"/>
              <a:t>Estimation de bien</a:t>
            </a:r>
          </a:p>
          <a:p>
            <a:pPr marL="342900" indent="-342900" algn="l">
              <a:buFont typeface="Arial" panose="020B0604020202020204" pitchFamily="34" charset="0"/>
              <a:buChar char="•"/>
            </a:pPr>
            <a:r>
              <a:rPr lang="fr-MA" dirty="0"/>
              <a:t>Messagerie sécurisée</a:t>
            </a:r>
          </a:p>
          <a:p>
            <a:pPr marL="342900" indent="-342900" algn="l">
              <a:buFont typeface="Arial" panose="020B0604020202020204" pitchFamily="34" charset="0"/>
              <a:buChar char="•"/>
            </a:pPr>
            <a:r>
              <a:rPr lang="fr-MA" dirty="0"/>
              <a:t>Gestion des agences</a:t>
            </a:r>
          </a:p>
          <a:p>
            <a:pPr marL="342900" indent="-342900" algn="l">
              <a:buFont typeface="Arial" panose="020B0604020202020204" pitchFamily="34" charset="0"/>
              <a:buChar char="•"/>
            </a:pPr>
            <a:r>
              <a:rPr lang="fr-MA" dirty="0"/>
              <a:t>Statistiques de marché</a:t>
            </a:r>
          </a:p>
          <a:p>
            <a:pPr marL="342900" indent="-342900" algn="l">
              <a:buFont typeface="Arial" panose="020B0604020202020204" pitchFamily="34" charset="0"/>
              <a:buChar char="•"/>
            </a:pPr>
            <a:r>
              <a:rPr lang="fr-MA" dirty="0"/>
              <a:t>Application mobile</a:t>
            </a:r>
          </a:p>
          <a:p>
            <a:pPr algn="l"/>
            <a:endParaRPr lang="fr-FR" dirty="0"/>
          </a:p>
        </p:txBody>
      </p:sp>
    </p:spTree>
    <p:extLst>
      <p:ext uri="{BB962C8B-B14F-4D97-AF65-F5344CB8AC3E}">
        <p14:creationId xmlns:p14="http://schemas.microsoft.com/office/powerpoint/2010/main" val="11011423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C8253-0818-0560-861C-E251B063E74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82CB109-8082-8E7F-2C50-8BB9C13E778E}"/>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644D050A-A15F-08E0-C8EA-6D72E8178EFC}"/>
              </a:ext>
            </a:extLst>
          </p:cNvPr>
          <p:cNvSpPr>
            <a:spLocks noGrp="1"/>
          </p:cNvSpPr>
          <p:nvPr>
            <p:ph type="body" idx="1"/>
          </p:nvPr>
        </p:nvSpPr>
        <p:spPr/>
        <p:txBody>
          <a:bodyPr>
            <a:normAutofit fontScale="92500" lnSpcReduction="20000"/>
          </a:bodyPr>
          <a:lstStyle/>
          <a:p>
            <a:pPr algn="l"/>
            <a:r>
              <a:rPr lang="fr-MA" b="1" dirty="0"/>
              <a:t>37. Système de Gestion Locative</a:t>
            </a:r>
          </a:p>
          <a:p>
            <a:pPr algn="l"/>
            <a:r>
              <a:rPr lang="fr-MA" b="1" dirty="0"/>
              <a:t>Description :</a:t>
            </a:r>
            <a:r>
              <a:rPr lang="fr-MA" dirty="0"/>
              <a:t> Solution pour propriétaires et gestionnaires de biens locatifs.</a:t>
            </a:r>
          </a:p>
          <a:p>
            <a:pPr algn="l"/>
            <a:r>
              <a:rPr lang="fr-MA" b="1" dirty="0"/>
              <a:t>Modules nécessaires :</a:t>
            </a:r>
            <a:endParaRPr lang="fr-MA" dirty="0"/>
          </a:p>
          <a:p>
            <a:pPr marL="342900" indent="-342900" algn="l">
              <a:buFont typeface="Arial" panose="020B0604020202020204" pitchFamily="34" charset="0"/>
              <a:buChar char="•"/>
            </a:pPr>
            <a:r>
              <a:rPr lang="fr-MA" dirty="0"/>
              <a:t>Gestion des biens</a:t>
            </a:r>
          </a:p>
          <a:p>
            <a:pPr marL="342900" indent="-342900" algn="l">
              <a:buFont typeface="Arial" panose="020B0604020202020204" pitchFamily="34" charset="0"/>
              <a:buChar char="•"/>
            </a:pPr>
            <a:r>
              <a:rPr lang="fr-MA" dirty="0"/>
              <a:t>Gestion des locataires</a:t>
            </a:r>
          </a:p>
          <a:p>
            <a:pPr marL="342900" indent="-342900" algn="l">
              <a:buFont typeface="Arial" panose="020B0604020202020204" pitchFamily="34" charset="0"/>
              <a:buChar char="•"/>
            </a:pPr>
            <a:r>
              <a:rPr lang="fr-MA" dirty="0"/>
              <a:t>Baux et contrats</a:t>
            </a:r>
          </a:p>
          <a:p>
            <a:pPr marL="342900" indent="-342900" algn="l">
              <a:buFont typeface="Arial" panose="020B0604020202020204" pitchFamily="34" charset="0"/>
              <a:buChar char="•"/>
            </a:pPr>
            <a:r>
              <a:rPr lang="fr-MA" dirty="0"/>
              <a:t>Quittances de loyer</a:t>
            </a:r>
          </a:p>
          <a:p>
            <a:pPr marL="342900" indent="-342900" algn="l">
              <a:buFont typeface="Arial" panose="020B0604020202020204" pitchFamily="34" charset="0"/>
              <a:buChar char="•"/>
            </a:pPr>
            <a:r>
              <a:rPr lang="fr-MA" dirty="0"/>
              <a:t>Suivi des paiements</a:t>
            </a:r>
          </a:p>
          <a:p>
            <a:pPr marL="342900" indent="-342900" algn="l">
              <a:buFont typeface="Arial" panose="020B0604020202020204" pitchFamily="34" charset="0"/>
              <a:buChar char="•"/>
            </a:pPr>
            <a:r>
              <a:rPr lang="fr-MA" dirty="0"/>
              <a:t>Charges et régularisation</a:t>
            </a:r>
          </a:p>
          <a:p>
            <a:pPr marL="342900" indent="-342900" algn="l">
              <a:buFont typeface="Arial" panose="020B0604020202020204" pitchFamily="34" charset="0"/>
              <a:buChar char="•"/>
            </a:pPr>
            <a:r>
              <a:rPr lang="fr-MA" dirty="0"/>
              <a:t>Gestion des travaux</a:t>
            </a:r>
          </a:p>
          <a:p>
            <a:pPr marL="342900" indent="-342900" algn="l">
              <a:buFont typeface="Arial" panose="020B0604020202020204" pitchFamily="34" charset="0"/>
              <a:buChar char="•"/>
            </a:pPr>
            <a:r>
              <a:rPr lang="fr-MA" dirty="0"/>
              <a:t>État des lieux</a:t>
            </a:r>
          </a:p>
          <a:p>
            <a:pPr marL="342900" indent="-342900" algn="l">
              <a:buFont typeface="Arial" panose="020B0604020202020204" pitchFamily="34" charset="0"/>
              <a:buChar char="•"/>
            </a:pPr>
            <a:r>
              <a:rPr lang="fr-MA" dirty="0"/>
              <a:t>Déclarations fiscales</a:t>
            </a:r>
          </a:p>
          <a:p>
            <a:pPr marL="342900" indent="-342900" algn="l">
              <a:buFont typeface="Arial" panose="020B0604020202020204" pitchFamily="34" charset="0"/>
              <a:buChar char="•"/>
            </a:pPr>
            <a:r>
              <a:rPr lang="fr-MA" dirty="0"/>
              <a:t>Portail locataire</a:t>
            </a:r>
          </a:p>
          <a:p>
            <a:pPr algn="l"/>
            <a:endParaRPr lang="fr-FR" dirty="0"/>
          </a:p>
        </p:txBody>
      </p:sp>
    </p:spTree>
    <p:extLst>
      <p:ext uri="{BB962C8B-B14F-4D97-AF65-F5344CB8AC3E}">
        <p14:creationId xmlns:p14="http://schemas.microsoft.com/office/powerpoint/2010/main" val="18087975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80796-7449-D2A3-9344-A2DEBC73DD7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962F811-0981-1356-2778-A7245539904C}"/>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BF1A2586-9E9F-AA63-15CC-2DD75F8418A7}"/>
              </a:ext>
            </a:extLst>
          </p:cNvPr>
          <p:cNvSpPr>
            <a:spLocks noGrp="1"/>
          </p:cNvSpPr>
          <p:nvPr>
            <p:ph type="body" idx="1"/>
          </p:nvPr>
        </p:nvSpPr>
        <p:spPr/>
        <p:txBody>
          <a:bodyPr>
            <a:normAutofit fontScale="92500" lnSpcReduction="20000"/>
          </a:bodyPr>
          <a:lstStyle/>
          <a:p>
            <a:pPr algn="l"/>
            <a:r>
              <a:rPr lang="fr-MA" b="1" dirty="0"/>
              <a:t>38. Application de Gestion de Copropriété</a:t>
            </a:r>
          </a:p>
          <a:p>
            <a:pPr algn="l"/>
            <a:r>
              <a:rPr lang="fr-MA" b="1" dirty="0"/>
              <a:t>Description :</a:t>
            </a:r>
            <a:r>
              <a:rPr lang="fr-MA" dirty="0"/>
              <a:t> Plateforme pour syndics de copropriété.</a:t>
            </a:r>
          </a:p>
          <a:p>
            <a:pPr algn="l"/>
            <a:r>
              <a:rPr lang="fr-MA" b="1" dirty="0"/>
              <a:t>Modules nécessaires :</a:t>
            </a:r>
            <a:endParaRPr lang="fr-MA" dirty="0"/>
          </a:p>
          <a:p>
            <a:pPr marL="342900" indent="-342900" algn="l">
              <a:buFont typeface="Arial" panose="020B0604020202020204" pitchFamily="34" charset="0"/>
              <a:buChar char="•"/>
            </a:pPr>
            <a:r>
              <a:rPr lang="fr-MA" dirty="0"/>
              <a:t>Gestion des lots</a:t>
            </a:r>
          </a:p>
          <a:p>
            <a:pPr marL="342900" indent="-342900" algn="l">
              <a:buFont typeface="Arial" panose="020B0604020202020204" pitchFamily="34" charset="0"/>
              <a:buChar char="•"/>
            </a:pPr>
            <a:r>
              <a:rPr lang="fr-MA" dirty="0"/>
              <a:t>Appels de fonds</a:t>
            </a:r>
          </a:p>
          <a:p>
            <a:pPr marL="342900" indent="-342900" algn="l">
              <a:buFont typeface="Arial" panose="020B0604020202020204" pitchFamily="34" charset="0"/>
              <a:buChar char="•"/>
            </a:pPr>
            <a:r>
              <a:rPr lang="fr-MA" dirty="0"/>
              <a:t>Comptabilité copropriété</a:t>
            </a:r>
          </a:p>
          <a:p>
            <a:pPr marL="342900" indent="-342900" algn="l">
              <a:buFont typeface="Arial" panose="020B0604020202020204" pitchFamily="34" charset="0"/>
              <a:buChar char="•"/>
            </a:pPr>
            <a:r>
              <a:rPr lang="fr-MA" dirty="0"/>
              <a:t>Assemblées générales</a:t>
            </a:r>
          </a:p>
          <a:p>
            <a:pPr marL="342900" indent="-342900" algn="l">
              <a:buFont typeface="Arial" panose="020B0604020202020204" pitchFamily="34" charset="0"/>
              <a:buChar char="•"/>
            </a:pPr>
            <a:r>
              <a:rPr lang="fr-MA" dirty="0"/>
              <a:t>Votes électroniques</a:t>
            </a:r>
          </a:p>
          <a:p>
            <a:pPr marL="342900" indent="-342900" algn="l">
              <a:buFont typeface="Arial" panose="020B0604020202020204" pitchFamily="34" charset="0"/>
              <a:buChar char="•"/>
            </a:pPr>
            <a:r>
              <a:rPr lang="fr-MA" dirty="0"/>
              <a:t>Gestion des travaux</a:t>
            </a:r>
          </a:p>
          <a:p>
            <a:pPr marL="342900" indent="-342900" algn="l">
              <a:buFont typeface="Arial" panose="020B0604020202020204" pitchFamily="34" charset="0"/>
              <a:buChar char="•"/>
            </a:pPr>
            <a:r>
              <a:rPr lang="fr-MA" dirty="0"/>
              <a:t>Sinistres et assurances</a:t>
            </a:r>
          </a:p>
          <a:p>
            <a:pPr marL="342900" indent="-342900" algn="l">
              <a:buFont typeface="Arial" panose="020B0604020202020204" pitchFamily="34" charset="0"/>
              <a:buChar char="•"/>
            </a:pPr>
            <a:r>
              <a:rPr lang="fr-MA" dirty="0"/>
              <a:t>Documents partagés</a:t>
            </a:r>
          </a:p>
          <a:p>
            <a:pPr marL="342900" indent="-342900" algn="l">
              <a:buFont typeface="Arial" panose="020B0604020202020204" pitchFamily="34" charset="0"/>
              <a:buChar char="•"/>
            </a:pPr>
            <a:r>
              <a:rPr lang="fr-MA" dirty="0"/>
              <a:t>Portail copropriétaires</a:t>
            </a:r>
          </a:p>
          <a:p>
            <a:pPr marL="342900" indent="-342900" algn="l">
              <a:buFont typeface="Arial" panose="020B0604020202020204" pitchFamily="34" charset="0"/>
              <a:buChar char="•"/>
            </a:pPr>
            <a:r>
              <a:rPr lang="fr-MA" dirty="0"/>
              <a:t>Tableau de bord syndic</a:t>
            </a:r>
          </a:p>
          <a:p>
            <a:pPr algn="l"/>
            <a:endParaRPr lang="fr-FR" dirty="0"/>
          </a:p>
        </p:txBody>
      </p:sp>
    </p:spTree>
    <p:extLst>
      <p:ext uri="{BB962C8B-B14F-4D97-AF65-F5344CB8AC3E}">
        <p14:creationId xmlns:p14="http://schemas.microsoft.com/office/powerpoint/2010/main" val="28661356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F913F-A7A3-9839-DB51-476050AE5D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0D12A05-90D2-EF8C-60BB-B0992C987168}"/>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2C189D81-6A4C-C6F8-0447-FCB17090CBAA}"/>
              </a:ext>
            </a:extLst>
          </p:cNvPr>
          <p:cNvSpPr>
            <a:spLocks noGrp="1"/>
          </p:cNvSpPr>
          <p:nvPr>
            <p:ph type="body" idx="1"/>
          </p:nvPr>
        </p:nvSpPr>
        <p:spPr/>
        <p:txBody>
          <a:bodyPr>
            <a:normAutofit fontScale="92500" lnSpcReduction="20000"/>
          </a:bodyPr>
          <a:lstStyle/>
          <a:p>
            <a:pPr algn="l"/>
            <a:r>
              <a:rPr lang="fr-MA" b="1" dirty="0"/>
              <a:t>39. Plateforme de </a:t>
            </a:r>
            <a:r>
              <a:rPr lang="fr-MA" b="1" dirty="0" err="1"/>
              <a:t>Coliving</a:t>
            </a:r>
            <a:endParaRPr lang="fr-MA" b="1" dirty="0"/>
          </a:p>
          <a:p>
            <a:pPr algn="l"/>
            <a:r>
              <a:rPr lang="fr-MA" b="1" dirty="0"/>
              <a:t>Description :</a:t>
            </a:r>
            <a:r>
              <a:rPr lang="fr-MA" dirty="0"/>
              <a:t> Solution de gestion d'espaces de </a:t>
            </a:r>
            <a:r>
              <a:rPr lang="fr-MA" dirty="0" err="1"/>
              <a:t>coliving</a:t>
            </a:r>
            <a:r>
              <a:rPr lang="fr-MA" dirty="0"/>
              <a:t> et colocation.</a:t>
            </a:r>
          </a:p>
          <a:p>
            <a:pPr algn="l"/>
            <a:r>
              <a:rPr lang="fr-MA" b="1" dirty="0"/>
              <a:t>Modules nécessaires :</a:t>
            </a:r>
            <a:endParaRPr lang="fr-MA" dirty="0"/>
          </a:p>
          <a:p>
            <a:pPr marL="342900" indent="-342900" algn="l">
              <a:buFont typeface="Arial" panose="020B0604020202020204" pitchFamily="34" charset="0"/>
              <a:buChar char="•"/>
            </a:pPr>
            <a:r>
              <a:rPr lang="fr-MA" dirty="0"/>
              <a:t>Gestion des espaces</a:t>
            </a:r>
          </a:p>
          <a:p>
            <a:pPr marL="342900" indent="-342900" algn="l">
              <a:buFont typeface="Arial" panose="020B0604020202020204" pitchFamily="34" charset="0"/>
              <a:buChar char="•"/>
            </a:pPr>
            <a:r>
              <a:rPr lang="fr-MA" dirty="0"/>
              <a:t>Profils </a:t>
            </a:r>
            <a:r>
              <a:rPr lang="fr-MA" dirty="0" err="1"/>
              <a:t>colivers</a:t>
            </a:r>
            <a:endParaRPr lang="fr-MA" dirty="0"/>
          </a:p>
          <a:p>
            <a:pPr marL="342900" indent="-342900" algn="l">
              <a:buFont typeface="Arial" panose="020B0604020202020204" pitchFamily="34" charset="0"/>
              <a:buChar char="•"/>
            </a:pPr>
            <a:r>
              <a:rPr lang="fr-MA" dirty="0"/>
              <a:t>Matching communautaire</a:t>
            </a:r>
          </a:p>
          <a:p>
            <a:pPr marL="342900" indent="-342900" algn="l">
              <a:buFont typeface="Arial" panose="020B0604020202020204" pitchFamily="34" charset="0"/>
              <a:buChar char="•"/>
            </a:pPr>
            <a:r>
              <a:rPr lang="fr-MA" dirty="0"/>
              <a:t>Réservation de chambres</a:t>
            </a:r>
          </a:p>
          <a:p>
            <a:pPr marL="342900" indent="-342900" algn="l">
              <a:buFont typeface="Arial" panose="020B0604020202020204" pitchFamily="34" charset="0"/>
              <a:buChar char="•"/>
            </a:pPr>
            <a:r>
              <a:rPr lang="fr-MA" dirty="0"/>
              <a:t>Paiement et facturation</a:t>
            </a:r>
          </a:p>
          <a:p>
            <a:pPr marL="342900" indent="-342900" algn="l">
              <a:buFont typeface="Arial" panose="020B0604020202020204" pitchFamily="34" charset="0"/>
              <a:buChar char="•"/>
            </a:pPr>
            <a:r>
              <a:rPr lang="fr-MA" dirty="0"/>
              <a:t>Planning espaces communs</a:t>
            </a:r>
          </a:p>
          <a:p>
            <a:pPr marL="342900" indent="-342900" algn="l">
              <a:buFont typeface="Arial" panose="020B0604020202020204" pitchFamily="34" charset="0"/>
              <a:buChar char="•"/>
            </a:pPr>
            <a:r>
              <a:rPr lang="fr-MA" dirty="0"/>
              <a:t>Événements communautaires</a:t>
            </a:r>
          </a:p>
          <a:p>
            <a:pPr marL="342900" indent="-342900" algn="l">
              <a:buFont typeface="Arial" panose="020B0604020202020204" pitchFamily="34" charset="0"/>
              <a:buChar char="•"/>
            </a:pPr>
            <a:r>
              <a:rPr lang="fr-MA" dirty="0"/>
              <a:t>Messagerie</a:t>
            </a:r>
          </a:p>
          <a:p>
            <a:pPr marL="342900" indent="-342900" algn="l">
              <a:buFont typeface="Arial" panose="020B0604020202020204" pitchFamily="34" charset="0"/>
              <a:buChar char="•"/>
            </a:pPr>
            <a:r>
              <a:rPr lang="fr-MA" dirty="0"/>
              <a:t>Services additionnels</a:t>
            </a:r>
          </a:p>
          <a:p>
            <a:pPr marL="342900" indent="-342900" algn="l">
              <a:buFont typeface="Arial" panose="020B0604020202020204" pitchFamily="34" charset="0"/>
              <a:buChar char="•"/>
            </a:pPr>
            <a:r>
              <a:rPr lang="fr-MA" dirty="0"/>
              <a:t>Application mobile</a:t>
            </a:r>
          </a:p>
          <a:p>
            <a:pPr algn="l"/>
            <a:endParaRPr lang="fr-FR" dirty="0"/>
          </a:p>
        </p:txBody>
      </p:sp>
    </p:spTree>
    <p:extLst>
      <p:ext uri="{BB962C8B-B14F-4D97-AF65-F5344CB8AC3E}">
        <p14:creationId xmlns:p14="http://schemas.microsoft.com/office/powerpoint/2010/main" val="40177500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C0742-27B8-DCF9-1DBC-BD15FA1ABCB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E653A28-D582-D953-CCEB-D4FE86E61F29}"/>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5CEFC546-976A-5912-5201-5358CB959293}"/>
              </a:ext>
            </a:extLst>
          </p:cNvPr>
          <p:cNvSpPr>
            <a:spLocks noGrp="1"/>
          </p:cNvSpPr>
          <p:nvPr>
            <p:ph type="body" idx="1"/>
          </p:nvPr>
        </p:nvSpPr>
        <p:spPr/>
        <p:txBody>
          <a:bodyPr>
            <a:normAutofit fontScale="92500" lnSpcReduction="20000"/>
          </a:bodyPr>
          <a:lstStyle/>
          <a:p>
            <a:pPr algn="l"/>
            <a:r>
              <a:rPr lang="fr-MA" b="1" dirty="0"/>
              <a:t>40. Système de Gestion de Chantier BTP</a:t>
            </a:r>
          </a:p>
          <a:p>
            <a:pPr algn="l"/>
            <a:r>
              <a:rPr lang="fr-MA" b="1" dirty="0"/>
              <a:t>Description :</a:t>
            </a:r>
            <a:r>
              <a:rPr lang="fr-MA" dirty="0"/>
              <a:t> Application de suivi et de gestion des chantiers de construction.</a:t>
            </a:r>
          </a:p>
          <a:p>
            <a:pPr algn="l"/>
            <a:r>
              <a:rPr lang="fr-MA" b="1" dirty="0"/>
              <a:t>Modules nécessaires :</a:t>
            </a:r>
            <a:endParaRPr lang="fr-MA" dirty="0"/>
          </a:p>
          <a:p>
            <a:pPr marL="342900" indent="-342900" algn="l">
              <a:buFont typeface="Arial" panose="020B0604020202020204" pitchFamily="34" charset="0"/>
              <a:buChar char="•"/>
            </a:pPr>
            <a:r>
              <a:rPr lang="fr-MA" dirty="0"/>
              <a:t>Planification des chantiers</a:t>
            </a:r>
          </a:p>
          <a:p>
            <a:pPr marL="342900" indent="-342900" algn="l">
              <a:buFont typeface="Arial" panose="020B0604020202020204" pitchFamily="34" charset="0"/>
              <a:buChar char="•"/>
            </a:pPr>
            <a:r>
              <a:rPr lang="fr-MA" dirty="0"/>
              <a:t>Gestion des lots et corps d'état</a:t>
            </a:r>
          </a:p>
          <a:p>
            <a:pPr marL="342900" indent="-342900" algn="l">
              <a:buFont typeface="Arial" panose="020B0604020202020204" pitchFamily="34" charset="0"/>
              <a:buChar char="•"/>
            </a:pPr>
            <a:r>
              <a:rPr lang="fr-MA" dirty="0"/>
              <a:t>Suivi financier</a:t>
            </a:r>
          </a:p>
          <a:p>
            <a:pPr marL="342900" indent="-342900" algn="l">
              <a:buFont typeface="Arial" panose="020B0604020202020204" pitchFamily="34" charset="0"/>
              <a:buChar char="•"/>
            </a:pPr>
            <a:r>
              <a:rPr lang="fr-MA" dirty="0"/>
              <a:t>Gestion des approvisionnements</a:t>
            </a:r>
          </a:p>
          <a:p>
            <a:pPr marL="342900" indent="-342900" algn="l">
              <a:buFont typeface="Arial" panose="020B0604020202020204" pitchFamily="34" charset="0"/>
              <a:buChar char="•"/>
            </a:pPr>
            <a:r>
              <a:rPr lang="fr-MA" dirty="0"/>
              <a:t>Suivi de planning</a:t>
            </a:r>
          </a:p>
          <a:p>
            <a:pPr marL="342900" indent="-342900" algn="l">
              <a:buFont typeface="Arial" panose="020B0604020202020204" pitchFamily="34" charset="0"/>
              <a:buChar char="•"/>
            </a:pPr>
            <a:r>
              <a:rPr lang="fr-MA" dirty="0"/>
              <a:t>Contrôle qualité</a:t>
            </a:r>
          </a:p>
          <a:p>
            <a:pPr marL="342900" indent="-342900" algn="l">
              <a:buFont typeface="Arial" panose="020B0604020202020204" pitchFamily="34" charset="0"/>
              <a:buChar char="•"/>
            </a:pPr>
            <a:r>
              <a:rPr lang="fr-MA" dirty="0"/>
              <a:t>Sécurité et conformité</a:t>
            </a:r>
          </a:p>
          <a:p>
            <a:pPr marL="342900" indent="-342900" algn="l">
              <a:buFont typeface="Arial" panose="020B0604020202020204" pitchFamily="34" charset="0"/>
              <a:buChar char="•"/>
            </a:pPr>
            <a:r>
              <a:rPr lang="fr-MA" dirty="0"/>
              <a:t>Photos et rapports de chantier</a:t>
            </a:r>
          </a:p>
          <a:p>
            <a:pPr marL="342900" indent="-342900" algn="l">
              <a:buFont typeface="Arial" panose="020B0604020202020204" pitchFamily="34" charset="0"/>
              <a:buChar char="•"/>
            </a:pPr>
            <a:r>
              <a:rPr lang="fr-MA" dirty="0"/>
              <a:t>Interface mobile terrain</a:t>
            </a:r>
          </a:p>
          <a:p>
            <a:pPr marL="342900" indent="-342900" algn="l">
              <a:buFont typeface="Arial" panose="020B0604020202020204" pitchFamily="34" charset="0"/>
              <a:buChar char="•"/>
            </a:pPr>
            <a:r>
              <a:rPr lang="fr-MA" dirty="0"/>
              <a:t>Gestion documentaire</a:t>
            </a:r>
          </a:p>
          <a:p>
            <a:pPr algn="l"/>
            <a:endParaRPr lang="fr-FR" dirty="0"/>
          </a:p>
        </p:txBody>
      </p:sp>
    </p:spTree>
    <p:extLst>
      <p:ext uri="{BB962C8B-B14F-4D97-AF65-F5344CB8AC3E}">
        <p14:creationId xmlns:p14="http://schemas.microsoft.com/office/powerpoint/2010/main" val="18520498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D92A6-E9A6-A227-58B7-D7C2F2C7043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1B1AFC2-20A7-14AB-1433-5A25AD7074E7}"/>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385A6248-101D-BA46-D3CD-82D2C3719937}"/>
              </a:ext>
            </a:extLst>
          </p:cNvPr>
          <p:cNvSpPr>
            <a:spLocks noGrp="1"/>
          </p:cNvSpPr>
          <p:nvPr>
            <p:ph type="body" idx="1"/>
          </p:nvPr>
        </p:nvSpPr>
        <p:spPr/>
        <p:txBody>
          <a:bodyPr>
            <a:normAutofit fontScale="85000" lnSpcReduction="20000"/>
          </a:bodyPr>
          <a:lstStyle/>
          <a:p>
            <a:pPr algn="ctr"/>
            <a:r>
              <a:rPr lang="fr-MA" b="1" dirty="0"/>
              <a:t>CATÉGORIE 8 : TOURISME ET HÔTELLERIE (5 projets)</a:t>
            </a:r>
          </a:p>
          <a:p>
            <a:pPr algn="l"/>
            <a:r>
              <a:rPr lang="fr-MA" b="1" dirty="0"/>
              <a:t>41. Système de Réservation Hôtelière (PMS)</a:t>
            </a:r>
          </a:p>
          <a:p>
            <a:pPr algn="l"/>
            <a:r>
              <a:rPr lang="fr-MA" b="1" dirty="0"/>
              <a:t>Description :</a:t>
            </a:r>
            <a:r>
              <a:rPr lang="fr-MA" dirty="0"/>
              <a:t> Solution complète de gestion hôtelière.</a:t>
            </a:r>
          </a:p>
          <a:p>
            <a:pPr algn="l"/>
            <a:r>
              <a:rPr lang="fr-MA" b="1" dirty="0"/>
              <a:t>Modules nécessaires :</a:t>
            </a:r>
            <a:endParaRPr lang="fr-MA" dirty="0"/>
          </a:p>
          <a:p>
            <a:pPr marL="342900" indent="-342900" algn="l">
              <a:buFont typeface="Arial" panose="020B0604020202020204" pitchFamily="34" charset="0"/>
              <a:buChar char="•"/>
            </a:pPr>
            <a:r>
              <a:rPr lang="fr-MA" dirty="0"/>
              <a:t>Réservations et disponibilités</a:t>
            </a:r>
          </a:p>
          <a:p>
            <a:pPr marL="342900" indent="-342900" algn="l">
              <a:buFont typeface="Arial" panose="020B0604020202020204" pitchFamily="34" charset="0"/>
              <a:buChar char="•"/>
            </a:pPr>
            <a:r>
              <a:rPr lang="fr-MA" dirty="0"/>
              <a:t>Gestion des chambres</a:t>
            </a:r>
          </a:p>
          <a:p>
            <a:pPr marL="342900" indent="-342900" algn="l">
              <a:buFont typeface="Arial" panose="020B0604020202020204" pitchFamily="34" charset="0"/>
              <a:buChar char="•"/>
            </a:pPr>
            <a:r>
              <a:rPr lang="fr-MA" dirty="0"/>
              <a:t>Check-in/Check-out</a:t>
            </a:r>
          </a:p>
          <a:p>
            <a:pPr marL="342900" indent="-342900" algn="l">
              <a:buFont typeface="Arial" panose="020B0604020202020204" pitchFamily="34" charset="0"/>
              <a:buChar char="•"/>
            </a:pPr>
            <a:r>
              <a:rPr lang="fr-MA" dirty="0"/>
              <a:t>Gestion des tarifs</a:t>
            </a:r>
          </a:p>
          <a:p>
            <a:pPr marL="342900" indent="-342900" algn="l">
              <a:buFont typeface="Arial" panose="020B0604020202020204" pitchFamily="34" charset="0"/>
              <a:buChar char="•"/>
            </a:pPr>
            <a:r>
              <a:rPr lang="fr-MA" dirty="0"/>
              <a:t>Channel manager</a:t>
            </a:r>
          </a:p>
          <a:p>
            <a:pPr marL="342900" indent="-342900" algn="l">
              <a:buFont typeface="Arial" panose="020B0604020202020204" pitchFamily="34" charset="0"/>
              <a:buChar char="•"/>
            </a:pPr>
            <a:r>
              <a:rPr lang="fr-MA" dirty="0"/>
              <a:t>Facturation</a:t>
            </a:r>
          </a:p>
          <a:p>
            <a:pPr marL="342900" indent="-342900" algn="l">
              <a:buFont typeface="Arial" panose="020B0604020202020204" pitchFamily="34" charset="0"/>
              <a:buChar char="•"/>
            </a:pPr>
            <a:r>
              <a:rPr lang="fr-MA" dirty="0"/>
              <a:t>Gestion du personnel</a:t>
            </a:r>
          </a:p>
          <a:p>
            <a:pPr marL="342900" indent="-342900" algn="l">
              <a:buFont typeface="Arial" panose="020B0604020202020204" pitchFamily="34" charset="0"/>
              <a:buChar char="•"/>
            </a:pPr>
            <a:r>
              <a:rPr lang="fr-MA" dirty="0"/>
              <a:t>Point de vente (restaurant, bar)</a:t>
            </a:r>
          </a:p>
          <a:p>
            <a:pPr marL="342900" indent="-342900" algn="l">
              <a:buFont typeface="Arial" panose="020B0604020202020204" pitchFamily="34" charset="0"/>
              <a:buChar char="•"/>
            </a:pPr>
            <a:r>
              <a:rPr lang="fr-MA" dirty="0"/>
              <a:t>Conciergerie</a:t>
            </a:r>
          </a:p>
          <a:p>
            <a:pPr marL="342900" indent="-342900" algn="l">
              <a:buFont typeface="Arial" panose="020B0604020202020204" pitchFamily="34" charset="0"/>
              <a:buChar char="•"/>
            </a:pPr>
            <a:r>
              <a:rPr lang="fr-MA" dirty="0" err="1"/>
              <a:t>Reporting</a:t>
            </a:r>
            <a:r>
              <a:rPr lang="fr-MA" dirty="0"/>
              <a:t> et </a:t>
            </a:r>
            <a:r>
              <a:rPr lang="fr-MA" dirty="0" err="1"/>
              <a:t>analytics</a:t>
            </a:r>
            <a:endParaRPr lang="fr-MA" dirty="0"/>
          </a:p>
          <a:p>
            <a:pPr algn="l"/>
            <a:endParaRPr lang="fr-FR" dirty="0"/>
          </a:p>
        </p:txBody>
      </p:sp>
    </p:spTree>
    <p:extLst>
      <p:ext uri="{BB962C8B-B14F-4D97-AF65-F5344CB8AC3E}">
        <p14:creationId xmlns:p14="http://schemas.microsoft.com/office/powerpoint/2010/main" val="2770121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CEA1B-06B0-24EB-807D-CD2A0234A46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134CBE-C0F6-9A5A-E4CE-90788A9EB961}"/>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9B1405BA-10EF-F337-8DBE-0BAE2089683F}"/>
              </a:ext>
            </a:extLst>
          </p:cNvPr>
          <p:cNvSpPr>
            <a:spLocks noGrp="1"/>
          </p:cNvSpPr>
          <p:nvPr>
            <p:ph type="body" idx="1"/>
          </p:nvPr>
        </p:nvSpPr>
        <p:spPr/>
        <p:txBody>
          <a:bodyPr>
            <a:normAutofit fontScale="92500" lnSpcReduction="20000"/>
          </a:bodyPr>
          <a:lstStyle/>
          <a:p>
            <a:pPr algn="l"/>
            <a:r>
              <a:rPr lang="fr-MA" b="1" dirty="0"/>
              <a:t>42. Plateforme de Réservation d'Activités Touristiques</a:t>
            </a:r>
          </a:p>
          <a:p>
            <a:pPr algn="l"/>
            <a:r>
              <a:rPr lang="fr-MA" b="1" dirty="0"/>
              <a:t>Description :</a:t>
            </a:r>
            <a:r>
              <a:rPr lang="fr-MA" dirty="0"/>
              <a:t> Marketplace d'expériences et d’activités touristiques.</a:t>
            </a:r>
          </a:p>
          <a:p>
            <a:pPr algn="l"/>
            <a:r>
              <a:rPr lang="fr-MA" b="1" dirty="0"/>
              <a:t>Modules nécessaires :</a:t>
            </a:r>
            <a:endParaRPr lang="fr-MA" dirty="0"/>
          </a:p>
          <a:p>
            <a:pPr marL="342900" indent="-342900" algn="l">
              <a:buFont typeface="Arial" panose="020B0604020202020204" pitchFamily="34" charset="0"/>
              <a:buChar char="•"/>
            </a:pPr>
            <a:r>
              <a:rPr lang="fr-MA" dirty="0"/>
              <a:t>Catalogue d'activités</a:t>
            </a:r>
          </a:p>
          <a:p>
            <a:pPr marL="342900" indent="-342900" algn="l">
              <a:buFont typeface="Arial" panose="020B0604020202020204" pitchFamily="34" charset="0"/>
              <a:buChar char="•"/>
            </a:pPr>
            <a:r>
              <a:rPr lang="fr-MA" dirty="0"/>
              <a:t>Calendrier et disponibilités</a:t>
            </a:r>
          </a:p>
          <a:p>
            <a:pPr marL="342900" indent="-342900" algn="l">
              <a:buFont typeface="Arial" panose="020B0604020202020204" pitchFamily="34" charset="0"/>
              <a:buChar char="•"/>
            </a:pPr>
            <a:r>
              <a:rPr lang="fr-MA" dirty="0"/>
              <a:t>Réservation en ligne</a:t>
            </a:r>
          </a:p>
          <a:p>
            <a:pPr marL="342900" indent="-342900" algn="l">
              <a:buFont typeface="Arial" panose="020B0604020202020204" pitchFamily="34" charset="0"/>
              <a:buChar char="•"/>
            </a:pPr>
            <a:r>
              <a:rPr lang="fr-MA" dirty="0"/>
              <a:t>Paiement sécurisé</a:t>
            </a:r>
          </a:p>
          <a:p>
            <a:pPr marL="342900" indent="-342900" algn="l">
              <a:buFont typeface="Arial" panose="020B0604020202020204" pitchFamily="34" charset="0"/>
              <a:buChar char="•"/>
            </a:pPr>
            <a:r>
              <a:rPr lang="fr-MA" dirty="0"/>
              <a:t>Gestion des prestataires</a:t>
            </a:r>
          </a:p>
          <a:p>
            <a:pPr marL="342900" indent="-342900" algn="l">
              <a:buFont typeface="Arial" panose="020B0604020202020204" pitchFamily="34" charset="0"/>
              <a:buChar char="•"/>
            </a:pPr>
            <a:r>
              <a:rPr lang="fr-MA" dirty="0"/>
              <a:t>Billetterie électronique</a:t>
            </a:r>
          </a:p>
          <a:p>
            <a:pPr marL="342900" indent="-342900" algn="l">
              <a:buFont typeface="Arial" panose="020B0604020202020204" pitchFamily="34" charset="0"/>
              <a:buChar char="•"/>
            </a:pPr>
            <a:r>
              <a:rPr lang="fr-MA" dirty="0"/>
              <a:t>Avis clients</a:t>
            </a:r>
          </a:p>
          <a:p>
            <a:pPr marL="342900" indent="-342900" algn="l">
              <a:buFont typeface="Arial" panose="020B0604020202020204" pitchFamily="34" charset="0"/>
              <a:buChar char="•"/>
            </a:pPr>
            <a:r>
              <a:rPr lang="fr-MA" dirty="0"/>
              <a:t>Carte interactive</a:t>
            </a:r>
          </a:p>
          <a:p>
            <a:pPr marL="342900" indent="-342900" algn="l">
              <a:buFont typeface="Arial" panose="020B0604020202020204" pitchFamily="34" charset="0"/>
              <a:buChar char="•"/>
            </a:pPr>
            <a:r>
              <a:rPr lang="fr-MA" dirty="0"/>
              <a:t>Multi-langue et </a:t>
            </a:r>
            <a:r>
              <a:rPr lang="fr-MA" dirty="0" err="1"/>
              <a:t>multi-devise</a:t>
            </a:r>
            <a:endParaRPr lang="fr-MA" dirty="0"/>
          </a:p>
          <a:p>
            <a:pPr marL="342900" indent="-342900" algn="l">
              <a:buFont typeface="Arial" panose="020B0604020202020204" pitchFamily="34" charset="0"/>
              <a:buChar char="•"/>
            </a:pPr>
            <a:r>
              <a:rPr lang="fr-MA" dirty="0"/>
              <a:t>Commission et facturation</a:t>
            </a:r>
          </a:p>
          <a:p>
            <a:pPr algn="l"/>
            <a:endParaRPr lang="fr-FR" dirty="0"/>
          </a:p>
        </p:txBody>
      </p:sp>
    </p:spTree>
    <p:extLst>
      <p:ext uri="{BB962C8B-B14F-4D97-AF65-F5344CB8AC3E}">
        <p14:creationId xmlns:p14="http://schemas.microsoft.com/office/powerpoint/2010/main" val="32840831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2A47-CF5B-2626-461D-931DCB72642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B0AA808-8104-8B37-783D-8A36E97E9587}"/>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DFF8562E-C157-A0D5-DD8A-5810279B8370}"/>
              </a:ext>
            </a:extLst>
          </p:cNvPr>
          <p:cNvSpPr>
            <a:spLocks noGrp="1"/>
          </p:cNvSpPr>
          <p:nvPr>
            <p:ph type="body" idx="1"/>
          </p:nvPr>
        </p:nvSpPr>
        <p:spPr/>
        <p:txBody>
          <a:bodyPr>
            <a:normAutofit fontScale="92500" lnSpcReduction="20000"/>
          </a:bodyPr>
          <a:lstStyle/>
          <a:p>
            <a:pPr algn="l"/>
            <a:r>
              <a:rPr lang="fr-MA" b="1" dirty="0"/>
              <a:t>43. Application de Guide Touristique Intelligent</a:t>
            </a:r>
          </a:p>
          <a:p>
            <a:pPr algn="l"/>
            <a:r>
              <a:rPr lang="fr-MA" b="1" dirty="0"/>
              <a:t>Description :</a:t>
            </a:r>
            <a:r>
              <a:rPr lang="fr-MA" dirty="0"/>
              <a:t> Guide touristique mobile avec des recommandations personnalisées.</a:t>
            </a:r>
          </a:p>
          <a:p>
            <a:pPr algn="l"/>
            <a:r>
              <a:rPr lang="fr-MA" b="1" dirty="0"/>
              <a:t>Modules nécessaires :</a:t>
            </a:r>
            <a:endParaRPr lang="fr-MA" dirty="0"/>
          </a:p>
          <a:p>
            <a:pPr marL="342900" indent="-342900" algn="l">
              <a:buFont typeface="Arial" panose="020B0604020202020204" pitchFamily="34" charset="0"/>
              <a:buChar char="•"/>
            </a:pPr>
            <a:r>
              <a:rPr lang="fr-MA" dirty="0"/>
              <a:t>Base de données POI</a:t>
            </a:r>
          </a:p>
          <a:p>
            <a:pPr marL="342900" indent="-342900" algn="l">
              <a:buFont typeface="Arial" panose="020B0604020202020204" pitchFamily="34" charset="0"/>
              <a:buChar char="•"/>
            </a:pPr>
            <a:r>
              <a:rPr lang="fr-MA" dirty="0"/>
              <a:t>Circuits touristiques</a:t>
            </a:r>
          </a:p>
          <a:p>
            <a:pPr marL="342900" indent="-342900" algn="l">
              <a:buFont typeface="Arial" panose="020B0604020202020204" pitchFamily="34" charset="0"/>
              <a:buChar char="•"/>
            </a:pPr>
            <a:r>
              <a:rPr lang="fr-MA" dirty="0"/>
              <a:t>Géolocalisation et navigation</a:t>
            </a:r>
          </a:p>
          <a:p>
            <a:pPr marL="342900" indent="-342900" algn="l">
              <a:buFont typeface="Arial" panose="020B0604020202020204" pitchFamily="34" charset="0"/>
              <a:buChar char="•"/>
            </a:pPr>
            <a:r>
              <a:rPr lang="fr-MA" dirty="0"/>
              <a:t>Audio-guides</a:t>
            </a:r>
          </a:p>
          <a:p>
            <a:pPr marL="342900" indent="-342900" algn="l">
              <a:buFont typeface="Arial" panose="020B0604020202020204" pitchFamily="34" charset="0"/>
              <a:buChar char="•"/>
            </a:pPr>
            <a:r>
              <a:rPr lang="fr-MA" dirty="0"/>
              <a:t>Réalité augmentée</a:t>
            </a:r>
          </a:p>
          <a:p>
            <a:pPr marL="342900" indent="-342900" algn="l">
              <a:buFont typeface="Arial" panose="020B0604020202020204" pitchFamily="34" charset="0"/>
              <a:buChar char="•"/>
            </a:pPr>
            <a:r>
              <a:rPr lang="fr-MA" dirty="0" err="1"/>
              <a:t>Recommendations</a:t>
            </a:r>
            <a:r>
              <a:rPr lang="fr-MA" dirty="0"/>
              <a:t> IA</a:t>
            </a:r>
          </a:p>
          <a:p>
            <a:pPr marL="342900" indent="-342900" algn="l">
              <a:buFont typeface="Arial" panose="020B0604020202020204" pitchFamily="34" charset="0"/>
              <a:buChar char="•"/>
            </a:pPr>
            <a:r>
              <a:rPr lang="fr-MA" dirty="0"/>
              <a:t>Réservations intégrées</a:t>
            </a:r>
          </a:p>
          <a:p>
            <a:pPr marL="342900" indent="-342900" algn="l">
              <a:buFont typeface="Arial" panose="020B0604020202020204" pitchFamily="34" charset="0"/>
              <a:buChar char="•"/>
            </a:pPr>
            <a:r>
              <a:rPr lang="fr-MA" dirty="0"/>
              <a:t>Fonctionnement offline</a:t>
            </a:r>
          </a:p>
          <a:p>
            <a:pPr marL="342900" indent="-342900" algn="l">
              <a:buFont typeface="Arial" panose="020B0604020202020204" pitchFamily="34" charset="0"/>
              <a:buChar char="•"/>
            </a:pPr>
            <a:r>
              <a:rPr lang="fr-MA" dirty="0"/>
              <a:t>Traduction automatique</a:t>
            </a:r>
          </a:p>
          <a:p>
            <a:pPr marL="342900" indent="-342900" algn="l">
              <a:buFont typeface="Arial" panose="020B0604020202020204" pitchFamily="34" charset="0"/>
              <a:buChar char="•"/>
            </a:pPr>
            <a:r>
              <a:rPr lang="fr-MA" dirty="0"/>
              <a:t>Réseau social voyageurs</a:t>
            </a:r>
          </a:p>
          <a:p>
            <a:pPr algn="l"/>
            <a:endParaRPr lang="fr-FR" dirty="0"/>
          </a:p>
        </p:txBody>
      </p:sp>
    </p:spTree>
    <p:extLst>
      <p:ext uri="{BB962C8B-B14F-4D97-AF65-F5344CB8AC3E}">
        <p14:creationId xmlns:p14="http://schemas.microsoft.com/office/powerpoint/2010/main" val="32926311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34054-011B-D4FA-8131-5C53C805543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7C84266-336C-13DA-F72C-8F33B41E028B}"/>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D627C223-88DD-44C1-36FC-66E03997FE1A}"/>
              </a:ext>
            </a:extLst>
          </p:cNvPr>
          <p:cNvSpPr>
            <a:spLocks noGrp="1"/>
          </p:cNvSpPr>
          <p:nvPr>
            <p:ph type="body" idx="1"/>
          </p:nvPr>
        </p:nvSpPr>
        <p:spPr/>
        <p:txBody>
          <a:bodyPr>
            <a:normAutofit fontScale="92500" lnSpcReduction="20000"/>
          </a:bodyPr>
          <a:lstStyle/>
          <a:p>
            <a:pPr algn="l"/>
            <a:r>
              <a:rPr lang="fr-MA" b="1" dirty="0"/>
              <a:t>44. Système de Gestion de Restaurant</a:t>
            </a:r>
          </a:p>
          <a:p>
            <a:pPr algn="l"/>
            <a:r>
              <a:rPr lang="fr-MA" b="1" dirty="0"/>
              <a:t>Description :</a:t>
            </a:r>
            <a:r>
              <a:rPr lang="fr-MA" dirty="0"/>
              <a:t> Solution POS et gestion pour restaurant.</a:t>
            </a:r>
          </a:p>
          <a:p>
            <a:pPr algn="l"/>
            <a:r>
              <a:rPr lang="fr-MA" b="1" dirty="0"/>
              <a:t>Modules nécessaires :</a:t>
            </a:r>
            <a:endParaRPr lang="fr-MA" dirty="0"/>
          </a:p>
          <a:p>
            <a:pPr marL="342900" indent="-342900" algn="l">
              <a:buFont typeface="Arial" panose="020B0604020202020204" pitchFamily="34" charset="0"/>
              <a:buChar char="•"/>
            </a:pPr>
            <a:r>
              <a:rPr lang="fr-MA" dirty="0"/>
              <a:t>Prise de commande (serveurs)</a:t>
            </a:r>
          </a:p>
          <a:p>
            <a:pPr marL="342900" indent="-342900" algn="l">
              <a:buFont typeface="Arial" panose="020B0604020202020204" pitchFamily="34" charset="0"/>
              <a:buChar char="•"/>
            </a:pPr>
            <a:r>
              <a:rPr lang="fr-MA" dirty="0"/>
              <a:t>Caisse et encaissement</a:t>
            </a:r>
          </a:p>
          <a:p>
            <a:pPr marL="342900" indent="-342900" algn="l">
              <a:buFont typeface="Arial" panose="020B0604020202020204" pitchFamily="34" charset="0"/>
              <a:buChar char="•"/>
            </a:pPr>
            <a:r>
              <a:rPr lang="fr-MA" dirty="0"/>
              <a:t>Gestion de tables</a:t>
            </a:r>
          </a:p>
          <a:p>
            <a:pPr marL="342900" indent="-342900" algn="l">
              <a:buFont typeface="Arial" panose="020B0604020202020204" pitchFamily="34" charset="0"/>
              <a:buChar char="•"/>
            </a:pPr>
            <a:r>
              <a:rPr lang="fr-MA" dirty="0"/>
              <a:t>Cuisine (tickets)</a:t>
            </a:r>
          </a:p>
          <a:p>
            <a:pPr marL="342900" indent="-342900" algn="l">
              <a:buFont typeface="Arial" panose="020B0604020202020204" pitchFamily="34" charset="0"/>
              <a:buChar char="•"/>
            </a:pPr>
            <a:r>
              <a:rPr lang="fr-MA" dirty="0"/>
              <a:t>Gestion des menus</a:t>
            </a:r>
          </a:p>
          <a:p>
            <a:pPr marL="342900" indent="-342900" algn="l">
              <a:buFont typeface="Arial" panose="020B0604020202020204" pitchFamily="34" charset="0"/>
              <a:buChar char="•"/>
            </a:pPr>
            <a:r>
              <a:rPr lang="fr-MA" dirty="0"/>
              <a:t>Stocks et approvisionnements</a:t>
            </a:r>
          </a:p>
          <a:p>
            <a:pPr marL="342900" indent="-342900" algn="l">
              <a:buFont typeface="Arial" panose="020B0604020202020204" pitchFamily="34" charset="0"/>
              <a:buChar char="•"/>
            </a:pPr>
            <a:r>
              <a:rPr lang="fr-MA" dirty="0"/>
              <a:t>Réservations</a:t>
            </a:r>
          </a:p>
          <a:p>
            <a:pPr marL="342900" indent="-342900" algn="l">
              <a:buFont typeface="Arial" panose="020B0604020202020204" pitchFamily="34" charset="0"/>
              <a:buChar char="•"/>
            </a:pPr>
            <a:r>
              <a:rPr lang="fr-MA" dirty="0"/>
              <a:t>Programme de fidélité</a:t>
            </a:r>
          </a:p>
          <a:p>
            <a:pPr marL="342900" indent="-342900" algn="l">
              <a:buFont typeface="Arial" panose="020B0604020202020204" pitchFamily="34" charset="0"/>
              <a:buChar char="•"/>
            </a:pPr>
            <a:r>
              <a:rPr lang="fr-MA" dirty="0"/>
              <a:t>Livraison et Click &amp; </a:t>
            </a:r>
            <a:r>
              <a:rPr lang="fr-MA" dirty="0" err="1"/>
              <a:t>Collect</a:t>
            </a:r>
            <a:endParaRPr lang="fr-MA" dirty="0"/>
          </a:p>
          <a:p>
            <a:pPr marL="342900" indent="-342900" algn="l">
              <a:buFont typeface="Arial" panose="020B0604020202020204" pitchFamily="34" charset="0"/>
              <a:buChar char="•"/>
            </a:pPr>
            <a:r>
              <a:rPr lang="fr-MA" dirty="0"/>
              <a:t>Analytics et </a:t>
            </a:r>
            <a:r>
              <a:rPr lang="fr-MA" dirty="0" err="1"/>
              <a:t>reporting</a:t>
            </a:r>
            <a:endParaRPr lang="fr-MA" dirty="0"/>
          </a:p>
          <a:p>
            <a:pPr algn="l"/>
            <a:endParaRPr lang="fr-FR" dirty="0"/>
          </a:p>
        </p:txBody>
      </p:sp>
    </p:spTree>
    <p:extLst>
      <p:ext uri="{BB962C8B-B14F-4D97-AF65-F5344CB8AC3E}">
        <p14:creationId xmlns:p14="http://schemas.microsoft.com/office/powerpoint/2010/main" val="5892222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A5C15-0324-43D3-150A-02369FA4C74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378DCFA-C012-0BA6-2DD7-931D815DAEB6}"/>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CD9318B0-69E2-2DAE-D9D3-8CD0473B4DE1}"/>
              </a:ext>
            </a:extLst>
          </p:cNvPr>
          <p:cNvSpPr>
            <a:spLocks noGrp="1"/>
          </p:cNvSpPr>
          <p:nvPr>
            <p:ph type="body" idx="1"/>
          </p:nvPr>
        </p:nvSpPr>
        <p:spPr/>
        <p:txBody>
          <a:bodyPr>
            <a:normAutofit fontScale="92500" lnSpcReduction="20000"/>
          </a:bodyPr>
          <a:lstStyle/>
          <a:p>
            <a:pPr algn="l"/>
            <a:r>
              <a:rPr lang="fr-MA" b="1" dirty="0"/>
              <a:t>45. Plateforme de Location de Vacances</a:t>
            </a:r>
          </a:p>
          <a:p>
            <a:pPr algn="l"/>
            <a:r>
              <a:rPr lang="fr-MA" b="1" dirty="0"/>
              <a:t>Description :</a:t>
            </a:r>
            <a:r>
              <a:rPr lang="fr-MA" dirty="0"/>
              <a:t> Marketplace type Airbnb pour locations saisonnières.</a:t>
            </a:r>
          </a:p>
          <a:p>
            <a:pPr algn="l"/>
            <a:r>
              <a:rPr lang="fr-MA" b="1" dirty="0"/>
              <a:t>Modules nécessaires :</a:t>
            </a:r>
            <a:endParaRPr lang="fr-MA" dirty="0"/>
          </a:p>
          <a:p>
            <a:pPr marL="342900" indent="-342900" algn="l">
              <a:buFont typeface="Arial" panose="020B0604020202020204" pitchFamily="34" charset="0"/>
              <a:buChar char="•"/>
            </a:pPr>
            <a:r>
              <a:rPr lang="fr-MA" dirty="0"/>
              <a:t>Annonces de propriétés</a:t>
            </a:r>
          </a:p>
          <a:p>
            <a:pPr marL="342900" indent="-342900" algn="l">
              <a:buFont typeface="Arial" panose="020B0604020202020204" pitchFamily="34" charset="0"/>
              <a:buChar char="•"/>
            </a:pPr>
            <a:r>
              <a:rPr lang="fr-MA" dirty="0"/>
              <a:t>Calendrier de disponibilité</a:t>
            </a:r>
          </a:p>
          <a:p>
            <a:pPr marL="342900" indent="-342900" algn="l">
              <a:buFont typeface="Arial" panose="020B0604020202020204" pitchFamily="34" charset="0"/>
              <a:buChar char="•"/>
            </a:pPr>
            <a:r>
              <a:rPr lang="fr-MA" dirty="0"/>
              <a:t>Système de réservation</a:t>
            </a:r>
          </a:p>
          <a:p>
            <a:pPr marL="342900" indent="-342900" algn="l">
              <a:buFont typeface="Arial" panose="020B0604020202020204" pitchFamily="34" charset="0"/>
              <a:buChar char="•"/>
            </a:pPr>
            <a:r>
              <a:rPr lang="fr-MA" dirty="0"/>
              <a:t>Paiement sécurisé</a:t>
            </a:r>
          </a:p>
          <a:p>
            <a:pPr marL="342900" indent="-342900" algn="l">
              <a:buFont typeface="Arial" panose="020B0604020202020204" pitchFamily="34" charset="0"/>
              <a:buChar char="•"/>
            </a:pPr>
            <a:r>
              <a:rPr lang="fr-MA" dirty="0"/>
              <a:t>Messagerie hôte-voyageur</a:t>
            </a:r>
          </a:p>
          <a:p>
            <a:pPr marL="342900" indent="-342900" algn="l">
              <a:buFont typeface="Arial" panose="020B0604020202020204" pitchFamily="34" charset="0"/>
              <a:buChar char="•"/>
            </a:pPr>
            <a:r>
              <a:rPr lang="fr-MA" dirty="0"/>
              <a:t>Système d'avis bidirectionnel</a:t>
            </a:r>
          </a:p>
          <a:p>
            <a:pPr marL="342900" indent="-342900" algn="l">
              <a:buFont typeface="Arial" panose="020B0604020202020204" pitchFamily="34" charset="0"/>
              <a:buChar char="•"/>
            </a:pPr>
            <a:r>
              <a:rPr lang="fr-MA" dirty="0"/>
              <a:t>Gestion des prix dynamiques</a:t>
            </a:r>
          </a:p>
          <a:p>
            <a:pPr marL="342900" indent="-342900" algn="l">
              <a:buFont typeface="Arial" panose="020B0604020202020204" pitchFamily="34" charset="0"/>
              <a:buChar char="•"/>
            </a:pPr>
            <a:r>
              <a:rPr lang="fr-MA" dirty="0"/>
              <a:t>Contrats et assurances</a:t>
            </a:r>
          </a:p>
          <a:p>
            <a:pPr marL="342900" indent="-342900" algn="l">
              <a:buFont typeface="Arial" panose="020B0604020202020204" pitchFamily="34" charset="0"/>
              <a:buChar char="•"/>
            </a:pPr>
            <a:r>
              <a:rPr lang="fr-MA" dirty="0"/>
              <a:t>Check-in digital</a:t>
            </a:r>
          </a:p>
          <a:p>
            <a:pPr marL="342900" indent="-342900" algn="l">
              <a:buFont typeface="Arial" panose="020B0604020202020204" pitchFamily="34" charset="0"/>
              <a:buChar char="•"/>
            </a:pPr>
            <a:r>
              <a:rPr lang="fr-MA" dirty="0"/>
              <a:t>Application mobile hôte et voyageur</a:t>
            </a:r>
          </a:p>
          <a:p>
            <a:pPr algn="l"/>
            <a:endParaRPr lang="fr-FR" dirty="0"/>
          </a:p>
        </p:txBody>
      </p:sp>
    </p:spTree>
    <p:extLst>
      <p:ext uri="{BB962C8B-B14F-4D97-AF65-F5344CB8AC3E}">
        <p14:creationId xmlns:p14="http://schemas.microsoft.com/office/powerpoint/2010/main" val="23253758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764-5ED0-C9DF-F504-FC3403865DA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5A30DA9-562A-D65F-715F-660FC253FE2B}"/>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6397ADF8-6F06-8AFF-E26A-3CAA04EA1368}"/>
              </a:ext>
            </a:extLst>
          </p:cNvPr>
          <p:cNvSpPr>
            <a:spLocks noGrp="1"/>
          </p:cNvSpPr>
          <p:nvPr>
            <p:ph type="body" idx="1"/>
          </p:nvPr>
        </p:nvSpPr>
        <p:spPr/>
        <p:txBody>
          <a:bodyPr>
            <a:normAutofit fontScale="85000" lnSpcReduction="20000"/>
          </a:bodyPr>
          <a:lstStyle/>
          <a:p>
            <a:pPr algn="l"/>
            <a:r>
              <a:rPr lang="fr-MA" b="1" dirty="0"/>
              <a:t>CATÉGORIE 9 : AGRICULTURE ET ENVIRONNEMENT (3 projets)</a:t>
            </a:r>
          </a:p>
          <a:p>
            <a:pPr algn="l"/>
            <a:r>
              <a:rPr lang="fr-MA" b="1" dirty="0"/>
              <a:t>46. Système de Gestion Agricole</a:t>
            </a:r>
          </a:p>
          <a:p>
            <a:pPr algn="l"/>
            <a:r>
              <a:rPr lang="fr-MA" b="1" dirty="0"/>
              <a:t>Description :</a:t>
            </a:r>
            <a:r>
              <a:rPr lang="fr-MA" dirty="0"/>
              <a:t> Plateforme de gestion d'exploitation agricole et de traçabilité.</a:t>
            </a:r>
          </a:p>
          <a:p>
            <a:pPr algn="l"/>
            <a:r>
              <a:rPr lang="fr-MA" b="1" dirty="0"/>
              <a:t>Modules nécessaires :</a:t>
            </a:r>
            <a:endParaRPr lang="fr-MA" dirty="0"/>
          </a:p>
          <a:p>
            <a:pPr marL="342900" indent="-342900" algn="l">
              <a:buFont typeface="Arial" panose="020B0604020202020204" pitchFamily="34" charset="0"/>
              <a:buChar char="•"/>
            </a:pPr>
            <a:r>
              <a:rPr lang="fr-MA" dirty="0"/>
              <a:t>Gestion des parcelles</a:t>
            </a:r>
          </a:p>
          <a:p>
            <a:pPr marL="342900" indent="-342900" algn="l">
              <a:buFont typeface="Arial" panose="020B0604020202020204" pitchFamily="34" charset="0"/>
              <a:buChar char="•"/>
            </a:pPr>
            <a:r>
              <a:rPr lang="fr-MA" dirty="0"/>
              <a:t>Planning des cultures</a:t>
            </a:r>
          </a:p>
          <a:p>
            <a:pPr marL="342900" indent="-342900" algn="l">
              <a:buFont typeface="Arial" panose="020B0604020202020204" pitchFamily="34" charset="0"/>
              <a:buChar char="•"/>
            </a:pPr>
            <a:r>
              <a:rPr lang="fr-MA" dirty="0"/>
              <a:t>Suivi des interventions</a:t>
            </a:r>
          </a:p>
          <a:p>
            <a:pPr marL="342900" indent="-342900" algn="l">
              <a:buFont typeface="Arial" panose="020B0604020202020204" pitchFamily="34" charset="0"/>
              <a:buChar char="•"/>
            </a:pPr>
            <a:r>
              <a:rPr lang="fr-MA" dirty="0"/>
              <a:t>Gestion des stocks (semences, intrants)</a:t>
            </a:r>
          </a:p>
          <a:p>
            <a:pPr marL="342900" indent="-342900" algn="l">
              <a:buFont typeface="Arial" panose="020B0604020202020204" pitchFamily="34" charset="0"/>
              <a:buChar char="•"/>
            </a:pPr>
            <a:r>
              <a:rPr lang="fr-MA" dirty="0"/>
              <a:t>Traçabilité des produits</a:t>
            </a:r>
          </a:p>
          <a:p>
            <a:pPr marL="342900" indent="-342900" algn="l">
              <a:buFont typeface="Arial" panose="020B0604020202020204" pitchFamily="34" charset="0"/>
              <a:buChar char="•"/>
            </a:pPr>
            <a:r>
              <a:rPr lang="fr-MA" dirty="0"/>
              <a:t>Gestion du matériel</a:t>
            </a:r>
          </a:p>
          <a:p>
            <a:pPr marL="342900" indent="-342900" algn="l">
              <a:buFont typeface="Arial" panose="020B0604020202020204" pitchFamily="34" charset="0"/>
              <a:buChar char="•"/>
            </a:pPr>
            <a:r>
              <a:rPr lang="fr-MA" dirty="0"/>
              <a:t>Météo et alertes</a:t>
            </a:r>
          </a:p>
          <a:p>
            <a:pPr marL="342900" indent="-342900" algn="l">
              <a:buFont typeface="Arial" panose="020B0604020202020204" pitchFamily="34" charset="0"/>
              <a:buChar char="•"/>
            </a:pPr>
            <a:r>
              <a:rPr lang="fr-MA" dirty="0"/>
              <a:t>Comptabilité agricole</a:t>
            </a:r>
          </a:p>
          <a:p>
            <a:pPr marL="342900" indent="-342900" algn="l">
              <a:buFont typeface="Arial" panose="020B0604020202020204" pitchFamily="34" charset="0"/>
              <a:buChar char="•"/>
            </a:pPr>
            <a:r>
              <a:rPr lang="fr-MA" dirty="0"/>
              <a:t>Vente directe</a:t>
            </a:r>
          </a:p>
          <a:p>
            <a:pPr marL="342900" indent="-342900" algn="l">
              <a:buFont typeface="Arial" panose="020B0604020202020204" pitchFamily="34" charset="0"/>
              <a:buChar char="•"/>
            </a:pPr>
            <a:r>
              <a:rPr lang="fr-MA" dirty="0"/>
              <a:t>Conformité réglementaire</a:t>
            </a:r>
          </a:p>
          <a:p>
            <a:pPr algn="l"/>
            <a:endParaRPr lang="fr-FR" dirty="0"/>
          </a:p>
        </p:txBody>
      </p:sp>
    </p:spTree>
    <p:extLst>
      <p:ext uri="{BB962C8B-B14F-4D97-AF65-F5344CB8AC3E}">
        <p14:creationId xmlns:p14="http://schemas.microsoft.com/office/powerpoint/2010/main" val="42737598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8DC2D-AC67-10D3-BAB3-D7BF2E9CCFC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125621A-CA65-911C-6C1B-55CA1D85B50E}"/>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19E056C5-EB8D-9D02-D265-B2C9870B22C9}"/>
              </a:ext>
            </a:extLst>
          </p:cNvPr>
          <p:cNvSpPr>
            <a:spLocks noGrp="1"/>
          </p:cNvSpPr>
          <p:nvPr>
            <p:ph type="body" idx="1"/>
          </p:nvPr>
        </p:nvSpPr>
        <p:spPr/>
        <p:txBody>
          <a:bodyPr>
            <a:normAutofit fontScale="92500" lnSpcReduction="20000"/>
          </a:bodyPr>
          <a:lstStyle/>
          <a:p>
            <a:pPr algn="l"/>
            <a:r>
              <a:rPr lang="fr-MA" b="1" dirty="0"/>
              <a:t>47. Application de Gestion des Déchets</a:t>
            </a:r>
          </a:p>
          <a:p>
            <a:pPr algn="l"/>
            <a:r>
              <a:rPr lang="fr-MA" b="1" dirty="0"/>
              <a:t>Description :</a:t>
            </a:r>
            <a:r>
              <a:rPr lang="fr-MA" dirty="0"/>
              <a:t> Système de gestion et d’optimisation de la collecte des déchets.</a:t>
            </a:r>
          </a:p>
          <a:p>
            <a:pPr algn="l"/>
            <a:r>
              <a:rPr lang="fr-MA" b="1" dirty="0"/>
              <a:t>Modules nécessaires :</a:t>
            </a:r>
            <a:endParaRPr lang="fr-MA" dirty="0"/>
          </a:p>
          <a:p>
            <a:pPr marL="342900" indent="-342900" algn="l">
              <a:buFont typeface="Arial" panose="020B0604020202020204" pitchFamily="34" charset="0"/>
              <a:buChar char="•"/>
            </a:pPr>
            <a:r>
              <a:rPr lang="fr-MA" dirty="0"/>
              <a:t>Planification des collectes</a:t>
            </a:r>
          </a:p>
          <a:p>
            <a:pPr marL="342900" indent="-342900" algn="l">
              <a:buFont typeface="Arial" panose="020B0604020202020204" pitchFamily="34" charset="0"/>
              <a:buChar char="•"/>
            </a:pPr>
            <a:r>
              <a:rPr lang="fr-MA" dirty="0"/>
              <a:t>Optimisation des tournées</a:t>
            </a:r>
          </a:p>
          <a:p>
            <a:pPr marL="342900" indent="-342900" algn="l">
              <a:buFont typeface="Arial" panose="020B0604020202020204" pitchFamily="34" charset="0"/>
              <a:buChar char="•"/>
            </a:pPr>
            <a:r>
              <a:rPr lang="fr-MA" dirty="0"/>
              <a:t>Suivi des bennes</a:t>
            </a:r>
          </a:p>
          <a:p>
            <a:pPr marL="342900" indent="-342900" algn="l">
              <a:buFont typeface="Arial" panose="020B0604020202020204" pitchFamily="34" charset="0"/>
              <a:buChar char="•"/>
            </a:pPr>
            <a:r>
              <a:rPr lang="fr-MA" dirty="0"/>
              <a:t>Géolocalisation des camions</a:t>
            </a:r>
          </a:p>
          <a:p>
            <a:pPr marL="342900" indent="-342900" algn="l">
              <a:buFont typeface="Arial" panose="020B0604020202020204" pitchFamily="34" charset="0"/>
              <a:buChar char="•"/>
            </a:pPr>
            <a:r>
              <a:rPr lang="fr-MA" dirty="0"/>
              <a:t>Gestion des déchetteries</a:t>
            </a:r>
          </a:p>
          <a:p>
            <a:pPr marL="342900" indent="-342900" algn="l">
              <a:buFont typeface="Arial" panose="020B0604020202020204" pitchFamily="34" charset="0"/>
              <a:buChar char="•"/>
            </a:pPr>
            <a:r>
              <a:rPr lang="fr-MA" dirty="0"/>
              <a:t>Facturation usagers</a:t>
            </a:r>
          </a:p>
          <a:p>
            <a:pPr marL="342900" indent="-342900" algn="l">
              <a:buFont typeface="Arial" panose="020B0604020202020204" pitchFamily="34" charset="0"/>
              <a:buChar char="•"/>
            </a:pPr>
            <a:r>
              <a:rPr lang="fr-MA" dirty="0"/>
              <a:t>Pesée et statistiques</a:t>
            </a:r>
          </a:p>
          <a:p>
            <a:pPr marL="342900" indent="-342900" algn="l">
              <a:buFont typeface="Arial" panose="020B0604020202020204" pitchFamily="34" charset="0"/>
              <a:buChar char="•"/>
            </a:pPr>
            <a:r>
              <a:rPr lang="fr-MA" dirty="0"/>
              <a:t>Alertes et incidents</a:t>
            </a:r>
          </a:p>
          <a:p>
            <a:pPr marL="342900" indent="-342900" algn="l">
              <a:buFont typeface="Arial" panose="020B0604020202020204" pitchFamily="34" charset="0"/>
              <a:buChar char="•"/>
            </a:pPr>
            <a:r>
              <a:rPr lang="fr-MA" dirty="0"/>
              <a:t>Sensibilisation citoyens</a:t>
            </a:r>
          </a:p>
          <a:p>
            <a:pPr marL="342900" indent="-342900" algn="l">
              <a:buFont typeface="Arial" panose="020B0604020202020204" pitchFamily="34" charset="0"/>
              <a:buChar char="•"/>
            </a:pPr>
            <a:r>
              <a:rPr lang="fr-MA" dirty="0" err="1"/>
              <a:t>Reporting</a:t>
            </a:r>
            <a:r>
              <a:rPr lang="fr-MA" dirty="0"/>
              <a:t> environnemental</a:t>
            </a:r>
          </a:p>
          <a:p>
            <a:pPr algn="l"/>
            <a:endParaRPr lang="fr-FR" dirty="0"/>
          </a:p>
        </p:txBody>
      </p:sp>
    </p:spTree>
    <p:extLst>
      <p:ext uri="{BB962C8B-B14F-4D97-AF65-F5344CB8AC3E}">
        <p14:creationId xmlns:p14="http://schemas.microsoft.com/office/powerpoint/2010/main" val="5957865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590B-036C-157F-D0BD-88FC7E6D464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D74C5D-CC2F-82F6-097A-60E4742D8899}"/>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0FB82259-1FD9-1872-DD2D-C11A0B2CEEA3}"/>
              </a:ext>
            </a:extLst>
          </p:cNvPr>
          <p:cNvSpPr>
            <a:spLocks noGrp="1"/>
          </p:cNvSpPr>
          <p:nvPr>
            <p:ph type="body" idx="1"/>
          </p:nvPr>
        </p:nvSpPr>
        <p:spPr/>
        <p:txBody>
          <a:bodyPr>
            <a:normAutofit fontScale="92500" lnSpcReduction="20000"/>
          </a:bodyPr>
          <a:lstStyle/>
          <a:p>
            <a:pPr algn="l"/>
            <a:r>
              <a:rPr lang="fr-MA" b="1" dirty="0"/>
              <a:t>48. Plateforme de Monitoring Environnemental</a:t>
            </a:r>
          </a:p>
          <a:p>
            <a:pPr algn="l"/>
            <a:r>
              <a:rPr lang="fr-MA" b="1" dirty="0"/>
              <a:t>Description :</a:t>
            </a:r>
            <a:r>
              <a:rPr lang="fr-MA" dirty="0"/>
              <a:t> Système de surveillance et d’analyse de données environnementales.</a:t>
            </a:r>
          </a:p>
          <a:p>
            <a:pPr algn="l"/>
            <a:r>
              <a:rPr lang="fr-MA" b="1" dirty="0"/>
              <a:t>Modules nécessaires :</a:t>
            </a:r>
            <a:endParaRPr lang="fr-MA" dirty="0"/>
          </a:p>
          <a:p>
            <a:pPr marL="342900" indent="-342900" algn="l">
              <a:buFont typeface="Arial" panose="020B0604020202020204" pitchFamily="34" charset="0"/>
              <a:buChar char="•"/>
            </a:pPr>
            <a:r>
              <a:rPr lang="fr-MA" dirty="0"/>
              <a:t>Collecte de données capteurs IoT</a:t>
            </a:r>
          </a:p>
          <a:p>
            <a:pPr marL="342900" indent="-342900" algn="l">
              <a:buFont typeface="Arial" panose="020B0604020202020204" pitchFamily="34" charset="0"/>
              <a:buChar char="•"/>
            </a:pPr>
            <a:r>
              <a:rPr lang="fr-MA" dirty="0"/>
              <a:t>Monitoring qualité air/eau</a:t>
            </a:r>
          </a:p>
          <a:p>
            <a:pPr marL="342900" indent="-342900" algn="l">
              <a:buFont typeface="Arial" panose="020B0604020202020204" pitchFamily="34" charset="0"/>
              <a:buChar char="•"/>
            </a:pPr>
            <a:r>
              <a:rPr lang="fr-MA" dirty="0"/>
              <a:t>Cartographie pollution</a:t>
            </a:r>
          </a:p>
          <a:p>
            <a:pPr marL="342900" indent="-342900" algn="l">
              <a:buFont typeface="Arial" panose="020B0604020202020204" pitchFamily="34" charset="0"/>
              <a:buChar char="•"/>
            </a:pPr>
            <a:r>
              <a:rPr lang="fr-MA" dirty="0"/>
              <a:t>Alertes automatiques</a:t>
            </a:r>
          </a:p>
          <a:p>
            <a:pPr marL="342900" indent="-342900" algn="l">
              <a:buFont typeface="Arial" panose="020B0604020202020204" pitchFamily="34" charset="0"/>
              <a:buChar char="•"/>
            </a:pPr>
            <a:r>
              <a:rPr lang="fr-MA" dirty="0"/>
              <a:t>Analyses prédictives</a:t>
            </a:r>
          </a:p>
          <a:p>
            <a:pPr marL="342900" indent="-342900" algn="l">
              <a:buFont typeface="Arial" panose="020B0604020202020204" pitchFamily="34" charset="0"/>
              <a:buChar char="•"/>
            </a:pPr>
            <a:r>
              <a:rPr lang="fr-MA" dirty="0" err="1"/>
              <a:t>Reporting</a:t>
            </a:r>
            <a:r>
              <a:rPr lang="fr-MA" dirty="0"/>
              <a:t> réglementaire</a:t>
            </a:r>
          </a:p>
          <a:p>
            <a:pPr marL="342900" indent="-342900" algn="l">
              <a:buFont typeface="Arial" panose="020B0604020202020204" pitchFamily="34" charset="0"/>
              <a:buChar char="•"/>
            </a:pPr>
            <a:r>
              <a:rPr lang="fr-MA" dirty="0"/>
              <a:t>Visualisation données</a:t>
            </a:r>
          </a:p>
          <a:p>
            <a:pPr marL="342900" indent="-342900" algn="l">
              <a:buFont typeface="Arial" panose="020B0604020202020204" pitchFamily="34" charset="0"/>
              <a:buChar char="•"/>
            </a:pPr>
            <a:r>
              <a:rPr lang="fr-MA" dirty="0"/>
              <a:t>API publique</a:t>
            </a:r>
          </a:p>
          <a:p>
            <a:pPr marL="342900" indent="-342900" algn="l">
              <a:buFont typeface="Arial" panose="020B0604020202020204" pitchFamily="34" charset="0"/>
              <a:buChar char="•"/>
            </a:pPr>
            <a:r>
              <a:rPr lang="fr-MA" dirty="0"/>
              <a:t>Tableau de bord citoyen</a:t>
            </a:r>
          </a:p>
          <a:p>
            <a:pPr marL="342900" indent="-342900" algn="l">
              <a:buFont typeface="Arial" panose="020B0604020202020204" pitchFamily="34" charset="0"/>
              <a:buChar char="•"/>
            </a:pPr>
            <a:r>
              <a:rPr lang="fr-MA" dirty="0"/>
              <a:t>Export données ouvertes</a:t>
            </a:r>
          </a:p>
          <a:p>
            <a:pPr algn="l"/>
            <a:endParaRPr lang="fr-FR" dirty="0"/>
          </a:p>
        </p:txBody>
      </p:sp>
    </p:spTree>
    <p:extLst>
      <p:ext uri="{BB962C8B-B14F-4D97-AF65-F5344CB8AC3E}">
        <p14:creationId xmlns:p14="http://schemas.microsoft.com/office/powerpoint/2010/main" val="11793199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A3E5F-321E-DE0B-25CB-13F6199DA5B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7D3695D-6AF5-0AA3-BB91-1E43D28F2CE6}"/>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C47570FD-4FDF-18E4-E5D4-97D237E6BC32}"/>
              </a:ext>
            </a:extLst>
          </p:cNvPr>
          <p:cNvSpPr>
            <a:spLocks noGrp="1"/>
          </p:cNvSpPr>
          <p:nvPr>
            <p:ph type="body" idx="1"/>
          </p:nvPr>
        </p:nvSpPr>
        <p:spPr/>
        <p:txBody>
          <a:bodyPr>
            <a:normAutofit fontScale="85000" lnSpcReduction="20000"/>
          </a:bodyPr>
          <a:lstStyle/>
          <a:p>
            <a:pPr algn="ctr"/>
            <a:r>
              <a:rPr lang="fr-MA" b="1" dirty="0"/>
              <a:t>CATÉGORIE 10 : SPORT ET BIEN-ÊTRE (2 projets)</a:t>
            </a:r>
          </a:p>
          <a:p>
            <a:pPr algn="l"/>
            <a:r>
              <a:rPr lang="fr-MA" b="1" dirty="0"/>
              <a:t>49. Application de Gestion de Salle de Sport</a:t>
            </a:r>
          </a:p>
          <a:p>
            <a:pPr algn="l"/>
            <a:r>
              <a:rPr lang="fr-MA" b="1" dirty="0"/>
              <a:t>Description :</a:t>
            </a:r>
            <a:r>
              <a:rPr lang="fr-MA" dirty="0"/>
              <a:t> Solution complète pour clubs de fitness.</a:t>
            </a:r>
          </a:p>
          <a:p>
            <a:pPr algn="l"/>
            <a:r>
              <a:rPr lang="fr-MA" b="1" dirty="0"/>
              <a:t>Modules nécessaires :</a:t>
            </a:r>
            <a:endParaRPr lang="fr-MA" dirty="0"/>
          </a:p>
          <a:p>
            <a:pPr marL="342900" indent="-342900" algn="l">
              <a:buFont typeface="Arial" panose="020B0604020202020204" pitchFamily="34" charset="0"/>
              <a:buChar char="•"/>
            </a:pPr>
            <a:r>
              <a:rPr lang="fr-MA" dirty="0"/>
              <a:t>Gestion des adhérents</a:t>
            </a:r>
          </a:p>
          <a:p>
            <a:pPr marL="342900" indent="-342900" algn="l">
              <a:buFont typeface="Arial" panose="020B0604020202020204" pitchFamily="34" charset="0"/>
              <a:buChar char="•"/>
            </a:pPr>
            <a:r>
              <a:rPr lang="fr-MA" dirty="0"/>
              <a:t>Abonnements et paiements</a:t>
            </a:r>
          </a:p>
          <a:p>
            <a:pPr marL="342900" indent="-342900" algn="l">
              <a:buFont typeface="Arial" panose="020B0604020202020204" pitchFamily="34" charset="0"/>
              <a:buChar char="•"/>
            </a:pPr>
            <a:r>
              <a:rPr lang="fr-MA" dirty="0"/>
              <a:t>Planning des cours</a:t>
            </a:r>
          </a:p>
          <a:p>
            <a:pPr marL="342900" indent="-342900" algn="l">
              <a:buFont typeface="Arial" panose="020B0604020202020204" pitchFamily="34" charset="0"/>
              <a:buChar char="•"/>
            </a:pPr>
            <a:r>
              <a:rPr lang="fr-MA" dirty="0"/>
              <a:t>Réservation en ligne</a:t>
            </a:r>
          </a:p>
          <a:p>
            <a:pPr marL="342900" indent="-342900" algn="l">
              <a:buFont typeface="Arial" panose="020B0604020202020204" pitchFamily="34" charset="0"/>
              <a:buChar char="•"/>
            </a:pPr>
            <a:r>
              <a:rPr lang="fr-MA" dirty="0"/>
              <a:t>Contrôle d'accès</a:t>
            </a:r>
          </a:p>
          <a:p>
            <a:pPr marL="342900" indent="-342900" algn="l">
              <a:buFont typeface="Arial" panose="020B0604020202020204" pitchFamily="34" charset="0"/>
              <a:buChar char="•"/>
            </a:pPr>
            <a:r>
              <a:rPr lang="fr-MA" dirty="0"/>
              <a:t>Coaching personnalisé</a:t>
            </a:r>
          </a:p>
          <a:p>
            <a:pPr marL="342900" indent="-342900" algn="l">
              <a:buFont typeface="Arial" panose="020B0604020202020204" pitchFamily="34" charset="0"/>
              <a:buChar char="•"/>
            </a:pPr>
            <a:r>
              <a:rPr lang="fr-MA" dirty="0"/>
              <a:t>Suivi de performance</a:t>
            </a:r>
          </a:p>
          <a:p>
            <a:pPr marL="342900" indent="-342900" algn="l">
              <a:buFont typeface="Arial" panose="020B0604020202020204" pitchFamily="34" charset="0"/>
              <a:buChar char="•"/>
            </a:pPr>
            <a:r>
              <a:rPr lang="fr-MA" dirty="0"/>
              <a:t>Point de vente (produits)</a:t>
            </a:r>
          </a:p>
          <a:p>
            <a:pPr marL="342900" indent="-342900" algn="l">
              <a:buFont typeface="Arial" panose="020B0604020202020204" pitchFamily="34" charset="0"/>
              <a:buChar char="•"/>
            </a:pPr>
            <a:r>
              <a:rPr lang="fr-MA" dirty="0"/>
              <a:t>Application mobile membres</a:t>
            </a:r>
          </a:p>
          <a:p>
            <a:pPr marL="342900" indent="-342900" algn="l">
              <a:buFont typeface="Arial" panose="020B0604020202020204" pitchFamily="34" charset="0"/>
              <a:buChar char="•"/>
            </a:pPr>
            <a:r>
              <a:rPr lang="fr-MA" dirty="0"/>
              <a:t>Statistiques de fréquentation</a:t>
            </a:r>
          </a:p>
          <a:p>
            <a:pPr algn="l"/>
            <a:endParaRPr lang="fr-FR" dirty="0"/>
          </a:p>
        </p:txBody>
      </p:sp>
    </p:spTree>
    <p:extLst>
      <p:ext uri="{BB962C8B-B14F-4D97-AF65-F5344CB8AC3E}">
        <p14:creationId xmlns:p14="http://schemas.microsoft.com/office/powerpoint/2010/main" val="25125586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D3CED-90C0-66BB-9753-85A66F61FCD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0963A9D-0218-0D36-69F2-A02BA90D71F0}"/>
              </a:ext>
            </a:extLst>
          </p:cNvPr>
          <p:cNvSpPr>
            <a:spLocks noGrp="1"/>
          </p:cNvSpPr>
          <p:nvPr>
            <p:ph type="title"/>
          </p:nvPr>
        </p:nvSpPr>
        <p:spPr/>
        <p:txBody>
          <a:bodyPr>
            <a:noAutofit/>
          </a:bodyPr>
          <a:lstStyle/>
          <a:p>
            <a:r>
              <a:rPr lang="fr-MA" sz="4400" dirty="0"/>
              <a:t>PARTIE 3 : 50 SUJETS DE PROJETS EN SYSTÈMES D'INFORMATION</a:t>
            </a:r>
            <a:endParaRPr lang="fr-FR" sz="4400" dirty="0"/>
          </a:p>
        </p:txBody>
      </p:sp>
      <p:sp>
        <p:nvSpPr>
          <p:cNvPr id="3" name="Espace réservé du texte 2">
            <a:extLst>
              <a:ext uri="{FF2B5EF4-FFF2-40B4-BE49-F238E27FC236}">
                <a16:creationId xmlns:a16="http://schemas.microsoft.com/office/drawing/2014/main" id="{FCD12865-3F88-9B40-D669-10132AA8635B}"/>
              </a:ext>
            </a:extLst>
          </p:cNvPr>
          <p:cNvSpPr>
            <a:spLocks noGrp="1"/>
          </p:cNvSpPr>
          <p:nvPr>
            <p:ph type="body" idx="1"/>
          </p:nvPr>
        </p:nvSpPr>
        <p:spPr/>
        <p:txBody>
          <a:bodyPr>
            <a:normAutofit fontScale="92500" lnSpcReduction="20000"/>
          </a:bodyPr>
          <a:lstStyle/>
          <a:p>
            <a:pPr algn="l"/>
            <a:r>
              <a:rPr lang="fr-MA" b="1" dirty="0"/>
              <a:t>50. Plateforme de Coaching Sportif en Ligne</a:t>
            </a:r>
          </a:p>
          <a:p>
            <a:pPr algn="l"/>
            <a:r>
              <a:rPr lang="fr-MA" b="1" dirty="0"/>
              <a:t>Description :</a:t>
            </a:r>
            <a:r>
              <a:rPr lang="fr-MA" dirty="0"/>
              <a:t> Marketplace connectant coachs et sportifs pour un suivi personnalisé.</a:t>
            </a:r>
          </a:p>
          <a:p>
            <a:pPr algn="l"/>
            <a:r>
              <a:rPr lang="fr-MA" b="1" dirty="0"/>
              <a:t>Modules nécessaires :</a:t>
            </a:r>
            <a:endParaRPr lang="fr-MA" dirty="0"/>
          </a:p>
          <a:p>
            <a:pPr marL="342900" indent="-342900" algn="l">
              <a:buFont typeface="Arial" panose="020B0604020202020204" pitchFamily="34" charset="0"/>
              <a:buChar char="•"/>
            </a:pPr>
            <a:r>
              <a:rPr lang="fr-MA" dirty="0"/>
              <a:t>Profils coachs et sportifs</a:t>
            </a:r>
          </a:p>
          <a:p>
            <a:pPr marL="342900" indent="-342900" algn="l">
              <a:buFont typeface="Arial" panose="020B0604020202020204" pitchFamily="34" charset="0"/>
              <a:buChar char="•"/>
            </a:pPr>
            <a:r>
              <a:rPr lang="fr-MA" dirty="0"/>
              <a:t>Programmes d'entraînement</a:t>
            </a:r>
          </a:p>
          <a:p>
            <a:pPr marL="342900" indent="-342900" algn="l">
              <a:buFont typeface="Arial" panose="020B0604020202020204" pitchFamily="34" charset="0"/>
              <a:buChar char="•"/>
            </a:pPr>
            <a:r>
              <a:rPr lang="fr-MA" dirty="0"/>
              <a:t>Suivi nutritionnel</a:t>
            </a:r>
          </a:p>
          <a:p>
            <a:pPr marL="342900" indent="-342900" algn="l">
              <a:buFont typeface="Arial" panose="020B0604020202020204" pitchFamily="34" charset="0"/>
              <a:buChar char="•"/>
            </a:pPr>
            <a:r>
              <a:rPr lang="fr-MA" dirty="0"/>
              <a:t>Vidéos d'exercices</a:t>
            </a:r>
          </a:p>
          <a:p>
            <a:pPr marL="342900" indent="-342900" algn="l">
              <a:buFont typeface="Arial" panose="020B0604020202020204" pitchFamily="34" charset="0"/>
              <a:buChar char="•"/>
            </a:pPr>
            <a:r>
              <a:rPr lang="fr-MA" dirty="0"/>
              <a:t>Visioconférence</a:t>
            </a:r>
          </a:p>
          <a:p>
            <a:pPr marL="342900" indent="-342900" algn="l">
              <a:buFont typeface="Arial" panose="020B0604020202020204" pitchFamily="34" charset="0"/>
              <a:buChar char="•"/>
            </a:pPr>
            <a:r>
              <a:rPr lang="fr-MA" dirty="0"/>
              <a:t>Messagerie</a:t>
            </a:r>
          </a:p>
          <a:p>
            <a:pPr marL="342900" indent="-342900" algn="l">
              <a:buFont typeface="Arial" panose="020B0604020202020204" pitchFamily="34" charset="0"/>
              <a:buChar char="•"/>
            </a:pPr>
            <a:r>
              <a:rPr lang="fr-MA" dirty="0"/>
              <a:t>Suivi de progression</a:t>
            </a:r>
          </a:p>
          <a:p>
            <a:pPr marL="342900" indent="-342900" algn="l">
              <a:buFont typeface="Arial" panose="020B0604020202020204" pitchFamily="34" charset="0"/>
              <a:buChar char="•"/>
            </a:pPr>
            <a:r>
              <a:rPr lang="fr-MA" dirty="0"/>
              <a:t>Paiement et abonnements</a:t>
            </a:r>
          </a:p>
          <a:p>
            <a:pPr marL="342900" indent="-342900" algn="l">
              <a:buFont typeface="Arial" panose="020B0604020202020204" pitchFamily="34" charset="0"/>
              <a:buChar char="•"/>
            </a:pPr>
            <a:r>
              <a:rPr lang="fr-MA" dirty="0"/>
              <a:t>Communauté</a:t>
            </a:r>
          </a:p>
          <a:p>
            <a:pPr marL="342900" indent="-342900" algn="l">
              <a:buFont typeface="Arial" panose="020B0604020202020204" pitchFamily="34" charset="0"/>
              <a:buChar char="•"/>
            </a:pPr>
            <a:r>
              <a:rPr lang="fr-MA" dirty="0"/>
              <a:t>Application mobile avec </a:t>
            </a:r>
            <a:r>
              <a:rPr lang="fr-MA" dirty="0" err="1"/>
              <a:t>tracking</a:t>
            </a:r>
            <a:endParaRPr lang="fr-MA" dirty="0"/>
          </a:p>
          <a:p>
            <a:pPr algn="l"/>
            <a:endParaRPr lang="fr-FR" dirty="0"/>
          </a:p>
        </p:txBody>
      </p:sp>
    </p:spTree>
    <p:extLst>
      <p:ext uri="{BB962C8B-B14F-4D97-AF65-F5344CB8AC3E}">
        <p14:creationId xmlns:p14="http://schemas.microsoft.com/office/powerpoint/2010/main" val="31754079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BDD27-1B84-D8AA-21DB-5BD5D5C5D9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73C8027-DB36-B9D5-2186-D76621EEAEC7}"/>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3" name="Espace réservé du texte 2">
            <a:extLst>
              <a:ext uri="{FF2B5EF4-FFF2-40B4-BE49-F238E27FC236}">
                <a16:creationId xmlns:a16="http://schemas.microsoft.com/office/drawing/2014/main" id="{B03BB99B-B218-2ABE-69A7-865D3FDF4699}"/>
              </a:ext>
            </a:extLst>
          </p:cNvPr>
          <p:cNvSpPr>
            <a:spLocks noGrp="1"/>
          </p:cNvSpPr>
          <p:nvPr>
            <p:ph type="body" idx="1"/>
          </p:nvPr>
        </p:nvSpPr>
        <p:spPr>
          <a:xfrm>
            <a:off x="145310" y="2196844"/>
            <a:ext cx="5652749" cy="3912599"/>
          </a:xfrm>
        </p:spPr>
        <p:txBody>
          <a:bodyPr>
            <a:normAutofit fontScale="77500" lnSpcReduction="20000"/>
          </a:bodyPr>
          <a:lstStyle/>
          <a:p>
            <a:pPr algn="l"/>
            <a:r>
              <a:rPr lang="fr-MA" sz="2300" b="1" dirty="0"/>
              <a:t>PHASE 1 : CADRAGE ET INITIALISATION</a:t>
            </a:r>
          </a:p>
          <a:p>
            <a:pPr algn="l"/>
            <a:endParaRPr lang="fr-MA" sz="2300" b="1" dirty="0"/>
          </a:p>
          <a:p>
            <a:pPr algn="l"/>
            <a:r>
              <a:rPr lang="fr-MA" sz="2300" b="1" dirty="0"/>
              <a:t>Objectifs</a:t>
            </a:r>
          </a:p>
          <a:p>
            <a:pPr marL="342900" indent="-342900" algn="l">
              <a:buFont typeface="Arial" panose="020B0604020202020204" pitchFamily="34" charset="0"/>
              <a:buChar char="•"/>
            </a:pPr>
            <a:r>
              <a:rPr lang="fr-MA" sz="2300" dirty="0"/>
              <a:t>Définir le périmètre du projet</a:t>
            </a:r>
          </a:p>
          <a:p>
            <a:pPr marL="342900" indent="-342900" algn="l">
              <a:buFont typeface="Arial" panose="020B0604020202020204" pitchFamily="34" charset="0"/>
              <a:buChar char="•"/>
            </a:pPr>
            <a:r>
              <a:rPr lang="fr-MA" sz="2300" dirty="0"/>
              <a:t>Identifier les parties prenantes</a:t>
            </a:r>
          </a:p>
          <a:p>
            <a:pPr marL="342900" indent="-342900" algn="l">
              <a:buFont typeface="Arial" panose="020B0604020202020204" pitchFamily="34" charset="0"/>
              <a:buChar char="•"/>
            </a:pPr>
            <a:r>
              <a:rPr lang="fr-MA" sz="2300" dirty="0"/>
              <a:t>Valider la faisabilité</a:t>
            </a:r>
          </a:p>
          <a:p>
            <a:pPr marL="342900" indent="-342900" algn="l">
              <a:buFont typeface="Arial" panose="020B0604020202020204" pitchFamily="34" charset="0"/>
              <a:buChar char="•"/>
            </a:pPr>
            <a:r>
              <a:rPr lang="fr-MA" sz="2300" dirty="0"/>
              <a:t>Obtenir l'engagement de la direction</a:t>
            </a:r>
          </a:p>
          <a:p>
            <a:pPr algn="l"/>
            <a:endParaRPr lang="fr-MA" sz="2300" b="1" dirty="0"/>
          </a:p>
          <a:p>
            <a:pPr algn="l"/>
            <a:r>
              <a:rPr lang="fr-MA" sz="2300" b="1" dirty="0"/>
              <a:t>Activités détaillées</a:t>
            </a:r>
          </a:p>
          <a:p>
            <a:pPr algn="l"/>
            <a:r>
              <a:rPr lang="fr-MA" sz="2300" b="1" dirty="0"/>
              <a:t>1.1 Analyse du besoin</a:t>
            </a:r>
          </a:p>
          <a:p>
            <a:pPr marL="342900" indent="-342900" algn="l">
              <a:buFont typeface="Arial" panose="020B0604020202020204" pitchFamily="34" charset="0"/>
              <a:buChar char="•"/>
            </a:pPr>
            <a:r>
              <a:rPr lang="fr-MA" sz="2300" dirty="0"/>
              <a:t>Rencontres avec les parties prenantes</a:t>
            </a:r>
          </a:p>
          <a:p>
            <a:pPr marL="342900" indent="-342900" algn="l">
              <a:buFont typeface="Arial" panose="020B0604020202020204" pitchFamily="34" charset="0"/>
              <a:buChar char="•"/>
            </a:pPr>
            <a:r>
              <a:rPr lang="fr-MA" sz="2300" dirty="0"/>
              <a:t>Étude de l'existant</a:t>
            </a:r>
          </a:p>
          <a:p>
            <a:pPr marL="342900" indent="-342900" algn="l">
              <a:buFont typeface="Arial" panose="020B0604020202020204" pitchFamily="34" charset="0"/>
              <a:buChar char="•"/>
            </a:pPr>
            <a:r>
              <a:rPr lang="fr-MA" sz="2300" dirty="0"/>
              <a:t>Benchmark concurrentiel</a:t>
            </a:r>
          </a:p>
          <a:p>
            <a:pPr marL="342900" indent="-342900" algn="l">
              <a:buFont typeface="Arial" panose="020B0604020202020204" pitchFamily="34" charset="0"/>
              <a:buChar char="•"/>
            </a:pPr>
            <a:r>
              <a:rPr lang="fr-MA" sz="2300" dirty="0"/>
              <a:t>Identification des problèmes à résoudre</a:t>
            </a:r>
          </a:p>
          <a:p>
            <a:pPr algn="l"/>
            <a:endParaRPr lang="fr-FR" dirty="0"/>
          </a:p>
        </p:txBody>
      </p:sp>
      <p:sp>
        <p:nvSpPr>
          <p:cNvPr id="5" name="ZoneTexte 4">
            <a:extLst>
              <a:ext uri="{FF2B5EF4-FFF2-40B4-BE49-F238E27FC236}">
                <a16:creationId xmlns:a16="http://schemas.microsoft.com/office/drawing/2014/main" id="{D1DCB3C8-993E-2357-5F64-826B804F7E0F}"/>
              </a:ext>
            </a:extLst>
          </p:cNvPr>
          <p:cNvSpPr txBox="1"/>
          <p:nvPr/>
        </p:nvSpPr>
        <p:spPr>
          <a:xfrm>
            <a:off x="4885182" y="2352651"/>
            <a:ext cx="3582162" cy="3600986"/>
          </a:xfrm>
          <a:prstGeom prst="rect">
            <a:avLst/>
          </a:prstGeom>
          <a:noFill/>
        </p:spPr>
        <p:txBody>
          <a:bodyPr wrap="square">
            <a:spAutoFit/>
          </a:bodyPr>
          <a:lstStyle/>
          <a:p>
            <a:pPr algn="l"/>
            <a:r>
              <a:rPr lang="fr-MA" sz="1900" dirty="0">
                <a:solidFill>
                  <a:schemeClr val="tx2"/>
                </a:solidFill>
              </a:rPr>
              <a:t>1.2 Étude de faisabilité</a:t>
            </a:r>
          </a:p>
          <a:p>
            <a:pPr marL="342900" indent="-342900" algn="l">
              <a:buFont typeface="Arial" panose="020B0604020202020204" pitchFamily="34" charset="0"/>
              <a:buChar char="•"/>
            </a:pPr>
            <a:r>
              <a:rPr lang="fr-MA" sz="1900" dirty="0">
                <a:solidFill>
                  <a:schemeClr val="tx2"/>
                </a:solidFill>
              </a:rPr>
              <a:t>Faisabilité technique</a:t>
            </a:r>
          </a:p>
          <a:p>
            <a:pPr marL="342900" indent="-342900" algn="l">
              <a:buFont typeface="Arial" panose="020B0604020202020204" pitchFamily="34" charset="0"/>
              <a:buChar char="•"/>
            </a:pPr>
            <a:r>
              <a:rPr lang="fr-MA" sz="1900" dirty="0">
                <a:solidFill>
                  <a:schemeClr val="tx2"/>
                </a:solidFill>
              </a:rPr>
              <a:t>Faisabilité économique (ROI)</a:t>
            </a:r>
          </a:p>
          <a:p>
            <a:pPr marL="342900" indent="-342900" algn="l">
              <a:buFont typeface="Arial" panose="020B0604020202020204" pitchFamily="34" charset="0"/>
              <a:buChar char="•"/>
            </a:pPr>
            <a:r>
              <a:rPr lang="fr-MA" sz="1900" dirty="0">
                <a:solidFill>
                  <a:schemeClr val="tx2"/>
                </a:solidFill>
              </a:rPr>
              <a:t>Faisabilité organisationnelle</a:t>
            </a:r>
          </a:p>
          <a:p>
            <a:pPr marL="342900" indent="-342900" algn="l">
              <a:buFont typeface="Arial" panose="020B0604020202020204" pitchFamily="34" charset="0"/>
              <a:buChar char="•"/>
            </a:pPr>
            <a:r>
              <a:rPr lang="fr-MA" sz="1900" dirty="0">
                <a:solidFill>
                  <a:schemeClr val="tx2"/>
                </a:solidFill>
              </a:rPr>
              <a:t>Évaluation des risques majeurs</a:t>
            </a:r>
          </a:p>
          <a:p>
            <a:pPr algn="l"/>
            <a:r>
              <a:rPr lang="fr-MA" sz="1900" dirty="0">
                <a:solidFill>
                  <a:schemeClr val="tx2"/>
                </a:solidFill>
              </a:rPr>
              <a:t>1.3 Définition du périmètre</a:t>
            </a:r>
          </a:p>
          <a:p>
            <a:pPr marL="342900" indent="-342900" algn="l">
              <a:buFont typeface="Arial" panose="020B0604020202020204" pitchFamily="34" charset="0"/>
              <a:buChar char="•"/>
            </a:pPr>
            <a:r>
              <a:rPr lang="fr-MA" sz="1900" dirty="0">
                <a:solidFill>
                  <a:schemeClr val="tx2"/>
                </a:solidFill>
              </a:rPr>
              <a:t>Objectifs du projet (SMART)</a:t>
            </a:r>
          </a:p>
          <a:p>
            <a:pPr marL="342900" indent="-342900" algn="l">
              <a:buFont typeface="Arial" panose="020B0604020202020204" pitchFamily="34" charset="0"/>
              <a:buChar char="•"/>
            </a:pPr>
            <a:r>
              <a:rPr lang="fr-MA" sz="1900" dirty="0">
                <a:solidFill>
                  <a:schemeClr val="tx2"/>
                </a:solidFill>
              </a:rPr>
              <a:t>Fonctionnalités principales (MVP)</a:t>
            </a:r>
          </a:p>
          <a:p>
            <a:pPr marL="342900" indent="-342900" algn="l">
              <a:buFont typeface="Arial" panose="020B0604020202020204" pitchFamily="34" charset="0"/>
              <a:buChar char="•"/>
            </a:pPr>
            <a:r>
              <a:rPr lang="fr-MA" sz="1900" dirty="0">
                <a:solidFill>
                  <a:schemeClr val="tx2"/>
                </a:solidFill>
              </a:rPr>
              <a:t>Exclusions explicites</a:t>
            </a:r>
          </a:p>
          <a:p>
            <a:pPr marL="342900" indent="-342900" algn="l">
              <a:buFont typeface="Arial" panose="020B0604020202020204" pitchFamily="34" charset="0"/>
              <a:buChar char="•"/>
            </a:pPr>
            <a:r>
              <a:rPr lang="fr-MA" sz="1900" dirty="0">
                <a:solidFill>
                  <a:schemeClr val="tx2"/>
                </a:solidFill>
              </a:rPr>
              <a:t>Critères de succès</a:t>
            </a:r>
          </a:p>
        </p:txBody>
      </p:sp>
      <p:sp>
        <p:nvSpPr>
          <p:cNvPr id="7" name="ZoneTexte 6">
            <a:extLst>
              <a:ext uri="{FF2B5EF4-FFF2-40B4-BE49-F238E27FC236}">
                <a16:creationId xmlns:a16="http://schemas.microsoft.com/office/drawing/2014/main" id="{127CA6A7-3072-C427-A822-D80762102795}"/>
              </a:ext>
            </a:extLst>
          </p:cNvPr>
          <p:cNvSpPr txBox="1"/>
          <p:nvPr/>
        </p:nvSpPr>
        <p:spPr>
          <a:xfrm>
            <a:off x="8464528" y="1752486"/>
            <a:ext cx="3582162" cy="5078313"/>
          </a:xfrm>
          <a:prstGeom prst="rect">
            <a:avLst/>
          </a:prstGeom>
          <a:noFill/>
        </p:spPr>
        <p:txBody>
          <a:bodyPr wrap="square">
            <a:spAutoFit/>
          </a:bodyPr>
          <a:lstStyle/>
          <a:p>
            <a:pPr algn="l"/>
            <a:r>
              <a:rPr lang="fr-MA" sz="1800" dirty="0">
                <a:solidFill>
                  <a:schemeClr val="tx2"/>
                </a:solidFill>
              </a:rPr>
              <a:t>1.4 Planification initiale</a:t>
            </a:r>
          </a:p>
          <a:p>
            <a:pPr marL="285750" indent="-285750" algn="l">
              <a:buFont typeface="Arial" panose="020B0604020202020204" pitchFamily="34" charset="0"/>
              <a:buChar char="•"/>
            </a:pPr>
            <a:r>
              <a:rPr lang="fr-MA" sz="1800" dirty="0">
                <a:solidFill>
                  <a:srgbClr val="FF0000"/>
                </a:solidFill>
              </a:rPr>
              <a:t>Estimation macro du budget (optionnel)</a:t>
            </a:r>
          </a:p>
          <a:p>
            <a:pPr marL="285750" indent="-285750" algn="l">
              <a:buFont typeface="Arial" panose="020B0604020202020204" pitchFamily="34" charset="0"/>
              <a:buChar char="•"/>
            </a:pPr>
            <a:r>
              <a:rPr lang="fr-MA" sz="1800" dirty="0">
                <a:solidFill>
                  <a:schemeClr val="tx2"/>
                </a:solidFill>
              </a:rPr>
              <a:t>Calendrier de haut niveau</a:t>
            </a:r>
          </a:p>
          <a:p>
            <a:pPr marL="285750" indent="-285750" algn="l">
              <a:buFont typeface="Arial" panose="020B0604020202020204" pitchFamily="34" charset="0"/>
              <a:buChar char="•"/>
            </a:pPr>
            <a:r>
              <a:rPr lang="fr-MA" sz="1800" dirty="0">
                <a:solidFill>
                  <a:schemeClr val="tx2"/>
                </a:solidFill>
              </a:rPr>
              <a:t>Identification des ressources nécessaires</a:t>
            </a:r>
          </a:p>
          <a:p>
            <a:pPr marL="285750" indent="-285750" algn="l">
              <a:buFont typeface="Arial" panose="020B0604020202020204" pitchFamily="34" charset="0"/>
              <a:buChar char="•"/>
            </a:pPr>
            <a:r>
              <a:rPr lang="fr-MA" sz="1800" dirty="0">
                <a:solidFill>
                  <a:schemeClr val="tx2"/>
                </a:solidFill>
              </a:rPr>
              <a:t>Jalons principaux</a:t>
            </a:r>
          </a:p>
          <a:p>
            <a:pPr algn="l"/>
            <a:endParaRPr lang="fr-MA" sz="1800" dirty="0">
              <a:solidFill>
                <a:schemeClr val="tx2"/>
              </a:solidFill>
            </a:endParaRPr>
          </a:p>
          <a:p>
            <a:pPr algn="l"/>
            <a:r>
              <a:rPr lang="fr-MA" sz="1800" dirty="0">
                <a:solidFill>
                  <a:schemeClr val="tx2"/>
                </a:solidFill>
                <a:highlight>
                  <a:srgbClr val="FFFF00"/>
                </a:highlight>
              </a:rPr>
              <a:t>Livrables Phase 1</a:t>
            </a:r>
          </a:p>
          <a:p>
            <a:pPr algn="l"/>
            <a:r>
              <a:rPr lang="fr-MA" sz="1800" dirty="0">
                <a:solidFill>
                  <a:schemeClr val="tx2"/>
                </a:solidFill>
              </a:rPr>
              <a:t>L1.1 Note de Cadrage (5-10 pages)</a:t>
            </a:r>
          </a:p>
          <a:p>
            <a:pPr algn="l"/>
            <a:r>
              <a:rPr lang="fr-MA" sz="1800" dirty="0">
                <a:solidFill>
                  <a:schemeClr val="tx2"/>
                </a:solidFill>
              </a:rPr>
              <a:t>Contenu :</a:t>
            </a:r>
          </a:p>
          <a:p>
            <a:pPr marL="285750" indent="-285750" algn="l">
              <a:buFont typeface="Arial" panose="020B0604020202020204" pitchFamily="34" charset="0"/>
              <a:buChar char="•"/>
            </a:pPr>
            <a:r>
              <a:rPr lang="fr-MA" sz="1800" dirty="0">
                <a:solidFill>
                  <a:schemeClr val="tx2"/>
                </a:solidFill>
              </a:rPr>
              <a:t>Contexte et enjeux</a:t>
            </a:r>
          </a:p>
          <a:p>
            <a:pPr marL="285750" indent="-285750" algn="l">
              <a:buFont typeface="Arial" panose="020B0604020202020204" pitchFamily="34" charset="0"/>
              <a:buChar char="•"/>
            </a:pPr>
            <a:r>
              <a:rPr lang="fr-MA" sz="1800" dirty="0">
                <a:solidFill>
                  <a:schemeClr val="tx2"/>
                </a:solidFill>
              </a:rPr>
              <a:t>Objectifs du projet</a:t>
            </a:r>
          </a:p>
          <a:p>
            <a:pPr marL="285750" indent="-285750" algn="l">
              <a:buFont typeface="Arial" panose="020B0604020202020204" pitchFamily="34" charset="0"/>
              <a:buChar char="•"/>
            </a:pPr>
            <a:r>
              <a:rPr lang="fr-MA" sz="1800" dirty="0">
                <a:solidFill>
                  <a:schemeClr val="tx2"/>
                </a:solidFill>
              </a:rPr>
              <a:t>Périmètre fonctionnel</a:t>
            </a:r>
          </a:p>
          <a:p>
            <a:pPr marL="285750" indent="-285750" algn="l">
              <a:buFont typeface="Arial" panose="020B0604020202020204" pitchFamily="34" charset="0"/>
              <a:buChar char="•"/>
            </a:pPr>
            <a:r>
              <a:rPr lang="fr-MA" sz="1800" dirty="0">
                <a:solidFill>
                  <a:schemeClr val="tx2"/>
                </a:solidFill>
              </a:rPr>
              <a:t>Parties prenantes</a:t>
            </a:r>
          </a:p>
          <a:p>
            <a:pPr marL="285750" indent="-285750" algn="l">
              <a:buFont typeface="Arial" panose="020B0604020202020204" pitchFamily="34" charset="0"/>
              <a:buChar char="•"/>
            </a:pPr>
            <a:r>
              <a:rPr lang="fr-MA" sz="1800" dirty="0">
                <a:solidFill>
                  <a:schemeClr val="tx2"/>
                </a:solidFill>
              </a:rPr>
              <a:t>Planning macro</a:t>
            </a:r>
          </a:p>
          <a:p>
            <a:pPr marL="285750" indent="-285750" algn="l">
              <a:buFont typeface="Arial" panose="020B0604020202020204" pitchFamily="34" charset="0"/>
              <a:buChar char="•"/>
            </a:pPr>
            <a:r>
              <a:rPr lang="fr-MA" sz="1800" dirty="0">
                <a:solidFill>
                  <a:schemeClr val="tx2"/>
                </a:solidFill>
              </a:rPr>
              <a:t>Budget prévisionnel</a:t>
            </a:r>
          </a:p>
          <a:p>
            <a:pPr marL="285750" indent="-285750" algn="l">
              <a:buFont typeface="Arial" panose="020B0604020202020204" pitchFamily="34" charset="0"/>
              <a:buChar char="•"/>
            </a:pPr>
            <a:r>
              <a:rPr lang="fr-MA" sz="1800" dirty="0">
                <a:solidFill>
                  <a:schemeClr val="tx2"/>
                </a:solidFill>
              </a:rPr>
              <a:t>Risques identifiés</a:t>
            </a:r>
          </a:p>
        </p:txBody>
      </p:sp>
      <p:cxnSp>
        <p:nvCxnSpPr>
          <p:cNvPr id="9" name="Connecteur droit 8">
            <a:extLst>
              <a:ext uri="{FF2B5EF4-FFF2-40B4-BE49-F238E27FC236}">
                <a16:creationId xmlns:a16="http://schemas.microsoft.com/office/drawing/2014/main" id="{6F007802-3B3C-FB96-5B24-2C534063E0F8}"/>
              </a:ext>
            </a:extLst>
          </p:cNvPr>
          <p:cNvCxnSpPr/>
          <p:nvPr/>
        </p:nvCxnSpPr>
        <p:spPr>
          <a:xfrm>
            <a:off x="4480560" y="2029485"/>
            <a:ext cx="0" cy="4389603"/>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647306BF-0FA1-106D-EC21-E10CA9D3FAC4}"/>
              </a:ext>
            </a:extLst>
          </p:cNvPr>
          <p:cNvCxnSpPr/>
          <p:nvPr/>
        </p:nvCxnSpPr>
        <p:spPr>
          <a:xfrm>
            <a:off x="8391144" y="2029484"/>
            <a:ext cx="0" cy="4389603"/>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0187685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FB32A-90A6-B92B-F591-2C909B0D39F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C34302-E6A9-D6A9-E806-42E8FE0F7665}"/>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6" name="Espace réservé du texte 5">
            <a:extLst>
              <a:ext uri="{FF2B5EF4-FFF2-40B4-BE49-F238E27FC236}">
                <a16:creationId xmlns:a16="http://schemas.microsoft.com/office/drawing/2014/main" id="{0609ACDE-9077-4E29-D04D-FF37759815AC}"/>
              </a:ext>
            </a:extLst>
          </p:cNvPr>
          <p:cNvSpPr>
            <a:spLocks noGrp="1"/>
          </p:cNvSpPr>
          <p:nvPr>
            <p:ph type="body" idx="1"/>
          </p:nvPr>
        </p:nvSpPr>
        <p:spPr>
          <a:xfrm>
            <a:off x="738908" y="1769535"/>
            <a:ext cx="11089026" cy="5298440"/>
          </a:xfrm>
        </p:spPr>
        <p:txBody>
          <a:bodyPr>
            <a:normAutofit fontScale="55000" lnSpcReduction="20000"/>
          </a:bodyPr>
          <a:lstStyle/>
          <a:p>
            <a:pPr algn="l"/>
            <a:r>
              <a:rPr lang="fr-MA" dirty="0"/>
              <a:t>Template du livrable L1.1:</a:t>
            </a:r>
          </a:p>
          <a:p>
            <a:pPr algn="l"/>
            <a:r>
              <a:rPr lang="fr-MA" dirty="0"/>
              <a:t>1. CONTEXTE</a:t>
            </a:r>
          </a:p>
          <a:p>
            <a:pPr algn="l"/>
            <a:r>
              <a:rPr lang="fr-MA" dirty="0"/>
              <a:t>   - Situation actuelle</a:t>
            </a:r>
          </a:p>
          <a:p>
            <a:pPr algn="l"/>
            <a:r>
              <a:rPr lang="fr-MA" dirty="0"/>
              <a:t>   - Problématique</a:t>
            </a:r>
          </a:p>
          <a:p>
            <a:pPr algn="l"/>
            <a:r>
              <a:rPr lang="fr-MA" dirty="0"/>
              <a:t>   - Opportunités</a:t>
            </a:r>
          </a:p>
          <a:p>
            <a:pPr algn="l"/>
            <a:endParaRPr lang="fr-MA" dirty="0"/>
          </a:p>
          <a:p>
            <a:pPr algn="l"/>
            <a:r>
              <a:rPr lang="fr-MA" dirty="0"/>
              <a:t>2. OBJECTIFS</a:t>
            </a:r>
          </a:p>
          <a:p>
            <a:pPr algn="l"/>
            <a:r>
              <a:rPr lang="fr-MA" dirty="0"/>
              <a:t>   - Objectif général</a:t>
            </a:r>
          </a:p>
          <a:p>
            <a:pPr algn="l"/>
            <a:r>
              <a:rPr lang="fr-MA" dirty="0"/>
              <a:t>   - Objectifs spécifiques (SMART)</a:t>
            </a:r>
          </a:p>
          <a:p>
            <a:pPr algn="l"/>
            <a:r>
              <a:rPr lang="fr-MA" dirty="0"/>
              <a:t>   - Bénéfices attendus</a:t>
            </a:r>
          </a:p>
          <a:p>
            <a:pPr algn="l"/>
            <a:endParaRPr lang="fr-MA" dirty="0"/>
          </a:p>
          <a:p>
            <a:pPr algn="l"/>
            <a:r>
              <a:rPr lang="fr-MA" dirty="0"/>
              <a:t>3. PÉRIMÈTRE</a:t>
            </a:r>
          </a:p>
          <a:p>
            <a:pPr algn="l"/>
            <a:r>
              <a:rPr lang="fr-MA" dirty="0"/>
              <a:t>   - Inclusions</a:t>
            </a:r>
          </a:p>
          <a:p>
            <a:pPr algn="l"/>
            <a:r>
              <a:rPr lang="fr-MA" dirty="0"/>
              <a:t>   - Exclusions</a:t>
            </a:r>
          </a:p>
          <a:p>
            <a:pPr algn="l"/>
            <a:r>
              <a:rPr lang="fr-MA" dirty="0"/>
              <a:t>   - Interfaces avec l'existant</a:t>
            </a:r>
          </a:p>
          <a:p>
            <a:pPr algn="l"/>
            <a:endParaRPr lang="fr-MA" dirty="0"/>
          </a:p>
          <a:p>
            <a:pPr algn="l"/>
            <a:r>
              <a:rPr lang="fr-MA" dirty="0"/>
              <a:t>4. ORGANISATION</a:t>
            </a:r>
          </a:p>
          <a:p>
            <a:pPr algn="l"/>
            <a:r>
              <a:rPr lang="fr-MA" dirty="0"/>
              <a:t>   - Parties prenantes</a:t>
            </a:r>
          </a:p>
          <a:p>
            <a:pPr algn="l"/>
            <a:r>
              <a:rPr lang="fr-MA" dirty="0"/>
              <a:t>   - Comité de pilotage</a:t>
            </a:r>
          </a:p>
          <a:p>
            <a:pPr algn="l"/>
            <a:r>
              <a:rPr lang="fr-MA" dirty="0"/>
              <a:t>   - Équipe projet</a:t>
            </a:r>
          </a:p>
          <a:p>
            <a:pPr algn="l"/>
            <a:endParaRPr lang="fr-MA" dirty="0"/>
          </a:p>
          <a:p>
            <a:pPr algn="l"/>
            <a:r>
              <a:rPr lang="fr-MA" dirty="0"/>
              <a:t>5. PLANNING ET BUDGET</a:t>
            </a:r>
          </a:p>
          <a:p>
            <a:pPr algn="l"/>
            <a:r>
              <a:rPr lang="fr-MA" dirty="0"/>
              <a:t>   - Phases et jalons</a:t>
            </a:r>
          </a:p>
          <a:p>
            <a:pPr algn="l"/>
            <a:r>
              <a:rPr lang="fr-MA" dirty="0"/>
              <a:t>   - Estimation budgétaire</a:t>
            </a:r>
          </a:p>
          <a:p>
            <a:pPr algn="l"/>
            <a:r>
              <a:rPr lang="fr-MA" dirty="0"/>
              <a:t>   - Ressources</a:t>
            </a:r>
          </a:p>
          <a:p>
            <a:pPr algn="l"/>
            <a:endParaRPr lang="fr-MA" dirty="0"/>
          </a:p>
          <a:p>
            <a:pPr algn="l"/>
            <a:r>
              <a:rPr lang="fr-MA" dirty="0"/>
              <a:t>6. RISQUES ET HYPOTHÈSES</a:t>
            </a:r>
            <a:endParaRPr lang="fr-FR" dirty="0"/>
          </a:p>
        </p:txBody>
      </p:sp>
    </p:spTree>
    <p:extLst>
      <p:ext uri="{BB962C8B-B14F-4D97-AF65-F5344CB8AC3E}">
        <p14:creationId xmlns:p14="http://schemas.microsoft.com/office/powerpoint/2010/main" val="4840324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2291-7CA6-602B-97B2-B7AFB037A5C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BE107B5-1E85-9033-8795-F2D7430C305B}"/>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3" name="Espace réservé du texte 2">
            <a:extLst>
              <a:ext uri="{FF2B5EF4-FFF2-40B4-BE49-F238E27FC236}">
                <a16:creationId xmlns:a16="http://schemas.microsoft.com/office/drawing/2014/main" id="{FB1EB244-6B79-0EA8-5138-63C4634C1AA6}"/>
              </a:ext>
            </a:extLst>
          </p:cNvPr>
          <p:cNvSpPr>
            <a:spLocks noGrp="1"/>
          </p:cNvSpPr>
          <p:nvPr>
            <p:ph type="body" idx="1"/>
          </p:nvPr>
        </p:nvSpPr>
        <p:spPr>
          <a:xfrm>
            <a:off x="145310" y="2196844"/>
            <a:ext cx="5652749" cy="4491823"/>
          </a:xfrm>
        </p:spPr>
        <p:txBody>
          <a:bodyPr>
            <a:normAutofit fontScale="70000" lnSpcReduction="20000"/>
          </a:bodyPr>
          <a:lstStyle/>
          <a:p>
            <a:pPr algn="l"/>
            <a:r>
              <a:rPr lang="fr-MA" sz="2000" b="1" dirty="0"/>
              <a:t>PHASE 2 : ANALYSE ET CONCEPTION</a:t>
            </a:r>
          </a:p>
          <a:p>
            <a:pPr algn="l"/>
            <a:r>
              <a:rPr lang="fr-MA" sz="2000" b="1" dirty="0"/>
              <a:t>Objectifs</a:t>
            </a:r>
          </a:p>
          <a:p>
            <a:pPr algn="l"/>
            <a:r>
              <a:rPr lang="fr-MA" sz="2000" dirty="0"/>
              <a:t>Comprendre les besoins en détail</a:t>
            </a:r>
          </a:p>
          <a:p>
            <a:pPr algn="l"/>
            <a:r>
              <a:rPr lang="fr-MA" sz="2000" dirty="0"/>
              <a:t>Concevoir la solution technique</a:t>
            </a:r>
          </a:p>
          <a:p>
            <a:pPr algn="l"/>
            <a:r>
              <a:rPr lang="fr-MA" sz="2000" dirty="0"/>
              <a:t>Définir l'architecture du système</a:t>
            </a:r>
          </a:p>
          <a:p>
            <a:pPr algn="l"/>
            <a:r>
              <a:rPr lang="fr-MA" sz="2000" dirty="0"/>
              <a:t>Préparer le développement</a:t>
            </a:r>
          </a:p>
          <a:p>
            <a:pPr algn="l"/>
            <a:endParaRPr lang="fr-MA" sz="2300" b="1" dirty="0"/>
          </a:p>
          <a:p>
            <a:pPr algn="l"/>
            <a:r>
              <a:rPr lang="fr-MA" sz="2000" b="1" dirty="0"/>
              <a:t>Activités détaillées</a:t>
            </a:r>
          </a:p>
          <a:p>
            <a:pPr algn="l"/>
            <a:endParaRPr lang="fr-MA" sz="2000" b="1" dirty="0"/>
          </a:p>
          <a:p>
            <a:pPr algn="l"/>
            <a:r>
              <a:rPr lang="fr-MA" sz="2000" b="1" dirty="0"/>
              <a:t>2.1 Recueil des exigences</a:t>
            </a:r>
          </a:p>
          <a:p>
            <a:pPr marL="342900" indent="-342900" algn="l">
              <a:buFont typeface="Arial" panose="020B0604020202020204" pitchFamily="34" charset="0"/>
              <a:buChar char="•"/>
            </a:pPr>
            <a:r>
              <a:rPr lang="fr-MA" sz="2000" dirty="0"/>
              <a:t>Interviews utilisateurs</a:t>
            </a:r>
          </a:p>
          <a:p>
            <a:pPr marL="342900" indent="-342900" algn="l">
              <a:buFont typeface="Arial" panose="020B0604020202020204" pitchFamily="34" charset="0"/>
              <a:buChar char="•"/>
            </a:pPr>
            <a:r>
              <a:rPr lang="fr-MA" sz="2000" dirty="0"/>
              <a:t>Ateliers fonctionnels</a:t>
            </a:r>
          </a:p>
          <a:p>
            <a:pPr marL="342900" indent="-342900" algn="l">
              <a:buFont typeface="Arial" panose="020B0604020202020204" pitchFamily="34" charset="0"/>
              <a:buChar char="•"/>
            </a:pPr>
            <a:r>
              <a:rPr lang="fr-MA" sz="2000" dirty="0"/>
              <a:t>Observation terrain</a:t>
            </a:r>
          </a:p>
          <a:p>
            <a:pPr marL="342900" indent="-342900" algn="l">
              <a:buFont typeface="Arial" panose="020B0604020202020204" pitchFamily="34" charset="0"/>
              <a:buChar char="•"/>
            </a:pPr>
            <a:r>
              <a:rPr lang="fr-MA" sz="2000" dirty="0"/>
              <a:t>Questionnaires</a:t>
            </a:r>
          </a:p>
          <a:p>
            <a:pPr algn="l"/>
            <a:r>
              <a:rPr lang="fr-MA" sz="2000" dirty="0"/>
              <a:t>Analyse des processus métier</a:t>
            </a:r>
          </a:p>
          <a:p>
            <a:pPr algn="l"/>
            <a:endParaRPr lang="fr-MA" sz="2000" dirty="0"/>
          </a:p>
          <a:p>
            <a:pPr algn="l"/>
            <a:r>
              <a:rPr lang="fr-MA" sz="2000" b="1" dirty="0"/>
              <a:t>2.2 Spécifications fonctionnelles</a:t>
            </a:r>
          </a:p>
          <a:p>
            <a:pPr marL="342900" indent="-342900" algn="l">
              <a:buFont typeface="Arial" panose="020B0604020202020204" pitchFamily="34" charset="0"/>
              <a:buChar char="•"/>
            </a:pPr>
            <a:r>
              <a:rPr lang="fr-MA" sz="2000" dirty="0"/>
              <a:t>User stories détaillées</a:t>
            </a:r>
          </a:p>
          <a:p>
            <a:pPr marL="342900" indent="-342900" algn="l">
              <a:buFont typeface="Arial" panose="020B0604020202020204" pitchFamily="34" charset="0"/>
              <a:buChar char="•"/>
            </a:pPr>
            <a:r>
              <a:rPr lang="fr-MA" sz="2000" dirty="0"/>
              <a:t>Cas d'utilisation (use cases)</a:t>
            </a:r>
          </a:p>
          <a:p>
            <a:pPr marL="342900" indent="-342900" algn="l">
              <a:buFont typeface="Arial" panose="020B0604020202020204" pitchFamily="34" charset="0"/>
              <a:buChar char="•"/>
            </a:pPr>
            <a:r>
              <a:rPr lang="fr-MA" sz="2000" dirty="0"/>
              <a:t>Règles de gestion</a:t>
            </a:r>
          </a:p>
          <a:p>
            <a:pPr marL="342900" indent="-342900" algn="l">
              <a:buFont typeface="Arial" panose="020B0604020202020204" pitchFamily="34" charset="0"/>
              <a:buChar char="•"/>
            </a:pPr>
            <a:r>
              <a:rPr lang="fr-MA" sz="2000" dirty="0"/>
              <a:t>Workflows</a:t>
            </a:r>
          </a:p>
          <a:p>
            <a:pPr marL="342900" indent="-342900" algn="l">
              <a:buFont typeface="Arial" panose="020B0604020202020204" pitchFamily="34" charset="0"/>
              <a:buChar char="•"/>
            </a:pPr>
            <a:r>
              <a:rPr lang="fr-MA" sz="2000" dirty="0"/>
              <a:t>Maquettes et wireframes</a:t>
            </a:r>
          </a:p>
          <a:p>
            <a:pPr algn="l"/>
            <a:endParaRPr lang="fr-FR" dirty="0"/>
          </a:p>
        </p:txBody>
      </p:sp>
      <p:sp>
        <p:nvSpPr>
          <p:cNvPr id="5" name="ZoneTexte 4">
            <a:extLst>
              <a:ext uri="{FF2B5EF4-FFF2-40B4-BE49-F238E27FC236}">
                <a16:creationId xmlns:a16="http://schemas.microsoft.com/office/drawing/2014/main" id="{41773D8A-656F-6739-616D-DCEDA4416785}"/>
              </a:ext>
            </a:extLst>
          </p:cNvPr>
          <p:cNvSpPr txBox="1"/>
          <p:nvPr/>
        </p:nvSpPr>
        <p:spPr>
          <a:xfrm>
            <a:off x="4681464" y="2029484"/>
            <a:ext cx="3582162" cy="5216813"/>
          </a:xfrm>
          <a:prstGeom prst="rect">
            <a:avLst/>
          </a:prstGeom>
          <a:noFill/>
        </p:spPr>
        <p:txBody>
          <a:bodyPr wrap="square">
            <a:spAutoFit/>
          </a:bodyPr>
          <a:lstStyle/>
          <a:p>
            <a:r>
              <a:rPr lang="fr-MA" sz="1600" dirty="0">
                <a:solidFill>
                  <a:schemeClr val="tx2"/>
                </a:solidFill>
              </a:rPr>
              <a:t>2.3 Conception technique</a:t>
            </a:r>
          </a:p>
          <a:p>
            <a:pPr marL="285750" indent="-285750">
              <a:buFont typeface="Arial" panose="020B0604020202020204" pitchFamily="34" charset="0"/>
              <a:buChar char="•"/>
            </a:pPr>
            <a:r>
              <a:rPr lang="fr-MA" sz="1600" dirty="0">
                <a:solidFill>
                  <a:schemeClr val="tx2"/>
                </a:solidFill>
              </a:rPr>
              <a:t>Architecture applicative</a:t>
            </a:r>
          </a:p>
          <a:p>
            <a:pPr marL="285750" indent="-285750">
              <a:buFont typeface="Arial" panose="020B0604020202020204" pitchFamily="34" charset="0"/>
              <a:buChar char="•"/>
            </a:pPr>
            <a:r>
              <a:rPr lang="fr-MA" sz="1600" dirty="0">
                <a:solidFill>
                  <a:schemeClr val="tx2"/>
                </a:solidFill>
              </a:rPr>
              <a:t>Modèle de données</a:t>
            </a:r>
          </a:p>
          <a:p>
            <a:pPr marL="285750" indent="-285750">
              <a:buFont typeface="Arial" panose="020B0604020202020204" pitchFamily="34" charset="0"/>
              <a:buChar char="•"/>
            </a:pPr>
            <a:r>
              <a:rPr lang="fr-MA" sz="1600" dirty="0">
                <a:solidFill>
                  <a:schemeClr val="tx2"/>
                </a:solidFill>
              </a:rPr>
              <a:t>Architecture réseau/infrastructure</a:t>
            </a:r>
          </a:p>
          <a:p>
            <a:pPr marL="285750" indent="-285750">
              <a:buFont typeface="Arial" panose="020B0604020202020204" pitchFamily="34" charset="0"/>
              <a:buChar char="•"/>
            </a:pPr>
            <a:r>
              <a:rPr lang="fr-MA" sz="1600" dirty="0">
                <a:solidFill>
                  <a:schemeClr val="tx2"/>
                </a:solidFill>
              </a:rPr>
              <a:t>Choix technologiques</a:t>
            </a:r>
          </a:p>
          <a:p>
            <a:pPr marL="285750" indent="-285750">
              <a:buFont typeface="Arial" panose="020B0604020202020204" pitchFamily="34" charset="0"/>
              <a:buChar char="•"/>
            </a:pPr>
            <a:r>
              <a:rPr lang="fr-MA" sz="1600" dirty="0">
                <a:solidFill>
                  <a:schemeClr val="tx2"/>
                </a:solidFill>
              </a:rPr>
              <a:t>Patterns de conception</a:t>
            </a:r>
          </a:p>
          <a:p>
            <a:endParaRPr lang="fr-MA" sz="1600" dirty="0">
              <a:solidFill>
                <a:schemeClr val="tx2"/>
              </a:solidFill>
            </a:endParaRPr>
          </a:p>
          <a:p>
            <a:r>
              <a:rPr lang="fr-MA" sz="1600" dirty="0">
                <a:solidFill>
                  <a:schemeClr val="tx2"/>
                </a:solidFill>
              </a:rPr>
              <a:t>2.4 Conception UX/UI</a:t>
            </a:r>
          </a:p>
          <a:p>
            <a:pPr marL="285750" indent="-285750">
              <a:buFont typeface="Arial" panose="020B0604020202020204" pitchFamily="34" charset="0"/>
              <a:buChar char="•"/>
            </a:pPr>
            <a:r>
              <a:rPr lang="fr-MA" sz="1600" dirty="0">
                <a:solidFill>
                  <a:schemeClr val="tx2"/>
                </a:solidFill>
              </a:rPr>
              <a:t>Parcours utilisateurs</a:t>
            </a:r>
          </a:p>
          <a:p>
            <a:pPr marL="285750" indent="-285750">
              <a:buFont typeface="Arial" panose="020B0604020202020204" pitchFamily="34" charset="0"/>
              <a:buChar char="•"/>
            </a:pPr>
            <a:r>
              <a:rPr lang="fr-MA" sz="1600" dirty="0">
                <a:solidFill>
                  <a:schemeClr val="tx2"/>
                </a:solidFill>
              </a:rPr>
              <a:t>Prototypes interactifs</a:t>
            </a:r>
          </a:p>
          <a:p>
            <a:pPr marL="285750" indent="-285750">
              <a:buFont typeface="Arial" panose="020B0604020202020204" pitchFamily="34" charset="0"/>
              <a:buChar char="•"/>
            </a:pPr>
            <a:r>
              <a:rPr lang="fr-MA" sz="1600" dirty="0">
                <a:solidFill>
                  <a:schemeClr val="tx2"/>
                </a:solidFill>
              </a:rPr>
              <a:t>Design system</a:t>
            </a:r>
          </a:p>
          <a:p>
            <a:pPr marL="285750" indent="-285750">
              <a:buFont typeface="Arial" panose="020B0604020202020204" pitchFamily="34" charset="0"/>
              <a:buChar char="•"/>
            </a:pPr>
            <a:r>
              <a:rPr lang="fr-MA" sz="1600" dirty="0">
                <a:solidFill>
                  <a:schemeClr val="tx2"/>
                </a:solidFill>
              </a:rPr>
              <a:t>Tests utilisateurs</a:t>
            </a:r>
          </a:p>
          <a:p>
            <a:pPr marL="285750" indent="-285750">
              <a:buFont typeface="Arial" panose="020B0604020202020204" pitchFamily="34" charset="0"/>
              <a:buChar char="•"/>
            </a:pPr>
            <a:endParaRPr lang="fr-MA" sz="1600" dirty="0">
              <a:solidFill>
                <a:schemeClr val="tx2"/>
              </a:solidFill>
            </a:endParaRPr>
          </a:p>
          <a:p>
            <a:r>
              <a:rPr lang="fr-MA" sz="1600" dirty="0">
                <a:solidFill>
                  <a:schemeClr val="tx2"/>
                </a:solidFill>
              </a:rPr>
              <a:t>2.5 Planification détaillée</a:t>
            </a:r>
          </a:p>
          <a:p>
            <a:pPr marL="285750" indent="-285750">
              <a:buFont typeface="Arial" panose="020B0604020202020204" pitchFamily="34" charset="0"/>
              <a:buChar char="•"/>
            </a:pPr>
            <a:r>
              <a:rPr lang="fr-MA" sz="1600" dirty="0">
                <a:solidFill>
                  <a:schemeClr val="tx2"/>
                </a:solidFill>
              </a:rPr>
              <a:t>Découpage en sprints/lots</a:t>
            </a:r>
          </a:p>
          <a:p>
            <a:pPr marL="285750" indent="-285750">
              <a:buFont typeface="Arial" panose="020B0604020202020204" pitchFamily="34" charset="0"/>
              <a:buChar char="•"/>
            </a:pPr>
            <a:r>
              <a:rPr lang="fr-MA" sz="1600" dirty="0" err="1">
                <a:solidFill>
                  <a:schemeClr val="tx2"/>
                </a:solidFill>
              </a:rPr>
              <a:t>Backlog</a:t>
            </a:r>
            <a:r>
              <a:rPr lang="fr-MA" sz="1600" dirty="0">
                <a:solidFill>
                  <a:schemeClr val="tx2"/>
                </a:solidFill>
              </a:rPr>
              <a:t> priorisé</a:t>
            </a:r>
          </a:p>
          <a:p>
            <a:pPr marL="285750" indent="-285750">
              <a:buFont typeface="Arial" panose="020B0604020202020204" pitchFamily="34" charset="0"/>
              <a:buChar char="•"/>
            </a:pPr>
            <a:r>
              <a:rPr lang="fr-MA" sz="1600" dirty="0">
                <a:solidFill>
                  <a:schemeClr val="tx2"/>
                </a:solidFill>
              </a:rPr>
              <a:t>Estimation détaillée</a:t>
            </a:r>
          </a:p>
          <a:p>
            <a:pPr marL="285750" indent="-285750">
              <a:buFont typeface="Arial" panose="020B0604020202020204" pitchFamily="34" charset="0"/>
              <a:buChar char="•"/>
            </a:pPr>
            <a:r>
              <a:rPr lang="fr-MA" sz="1600" dirty="0">
                <a:solidFill>
                  <a:schemeClr val="tx2"/>
                </a:solidFill>
              </a:rPr>
              <a:t>Planning détaillé</a:t>
            </a:r>
          </a:p>
          <a:p>
            <a:pPr marL="285750" indent="-285750">
              <a:buFont typeface="Arial" panose="020B0604020202020204" pitchFamily="34" charset="0"/>
              <a:buChar char="•"/>
            </a:pPr>
            <a:endParaRPr lang="fr-MA" sz="1600" dirty="0">
              <a:solidFill>
                <a:schemeClr val="tx2"/>
              </a:solidFill>
            </a:endParaRPr>
          </a:p>
          <a:p>
            <a:pPr marL="342900" indent="-342900" algn="l">
              <a:buFont typeface="Arial" panose="020B0604020202020204" pitchFamily="34" charset="0"/>
              <a:buChar char="•"/>
            </a:pPr>
            <a:endParaRPr lang="fr-MA" sz="1900" dirty="0">
              <a:solidFill>
                <a:schemeClr val="tx2"/>
              </a:solidFill>
            </a:endParaRPr>
          </a:p>
        </p:txBody>
      </p:sp>
      <p:sp>
        <p:nvSpPr>
          <p:cNvPr id="7" name="ZoneTexte 6">
            <a:extLst>
              <a:ext uri="{FF2B5EF4-FFF2-40B4-BE49-F238E27FC236}">
                <a16:creationId xmlns:a16="http://schemas.microsoft.com/office/drawing/2014/main" id="{1765F72B-2715-B5FF-0930-DB769BE48D13}"/>
              </a:ext>
            </a:extLst>
          </p:cNvPr>
          <p:cNvSpPr txBox="1"/>
          <p:nvPr/>
        </p:nvSpPr>
        <p:spPr>
          <a:xfrm>
            <a:off x="8464528" y="1752486"/>
            <a:ext cx="3582162" cy="3939540"/>
          </a:xfrm>
          <a:prstGeom prst="rect">
            <a:avLst/>
          </a:prstGeom>
          <a:noFill/>
        </p:spPr>
        <p:txBody>
          <a:bodyPr wrap="square">
            <a:spAutoFit/>
          </a:bodyPr>
          <a:lstStyle/>
          <a:p>
            <a:pPr algn="l"/>
            <a:r>
              <a:rPr lang="fr-MA" sz="1800" dirty="0">
                <a:solidFill>
                  <a:schemeClr val="tx2"/>
                </a:solidFill>
              </a:rPr>
              <a:t>1.4 Planification initiale</a:t>
            </a:r>
          </a:p>
          <a:p>
            <a:pPr marL="285750" indent="-285750" algn="l">
              <a:buFont typeface="Arial" panose="020B0604020202020204" pitchFamily="34" charset="0"/>
              <a:buChar char="•"/>
            </a:pPr>
            <a:r>
              <a:rPr lang="fr-MA" sz="1800" dirty="0">
                <a:solidFill>
                  <a:srgbClr val="FF0000"/>
                </a:solidFill>
              </a:rPr>
              <a:t>Estimation macro du budget (optionnel)</a:t>
            </a:r>
          </a:p>
          <a:p>
            <a:pPr marL="285750" indent="-285750" algn="l">
              <a:buFont typeface="Arial" panose="020B0604020202020204" pitchFamily="34" charset="0"/>
              <a:buChar char="•"/>
            </a:pPr>
            <a:r>
              <a:rPr lang="fr-MA" sz="1800" dirty="0">
                <a:solidFill>
                  <a:schemeClr val="tx2"/>
                </a:solidFill>
              </a:rPr>
              <a:t>Calendrier de haut niveau</a:t>
            </a:r>
          </a:p>
          <a:p>
            <a:pPr marL="285750" indent="-285750" algn="l">
              <a:buFont typeface="Arial" panose="020B0604020202020204" pitchFamily="34" charset="0"/>
              <a:buChar char="•"/>
            </a:pPr>
            <a:r>
              <a:rPr lang="fr-MA" sz="1800" dirty="0">
                <a:solidFill>
                  <a:schemeClr val="tx2"/>
                </a:solidFill>
              </a:rPr>
              <a:t>Identification des ressources nécessaires</a:t>
            </a:r>
          </a:p>
          <a:p>
            <a:pPr marL="285750" indent="-285750" algn="l">
              <a:buFont typeface="Arial" panose="020B0604020202020204" pitchFamily="34" charset="0"/>
              <a:buChar char="•"/>
            </a:pPr>
            <a:r>
              <a:rPr lang="fr-MA" sz="1800" dirty="0">
                <a:solidFill>
                  <a:schemeClr val="tx2"/>
                </a:solidFill>
              </a:rPr>
              <a:t>Jalons principaux</a:t>
            </a:r>
          </a:p>
          <a:p>
            <a:pPr algn="l"/>
            <a:endParaRPr lang="fr-MA" sz="1800" dirty="0">
              <a:solidFill>
                <a:schemeClr val="tx2"/>
              </a:solidFill>
            </a:endParaRPr>
          </a:p>
          <a:p>
            <a:pPr algn="l"/>
            <a:r>
              <a:rPr lang="fr-MA" sz="1800" dirty="0">
                <a:solidFill>
                  <a:schemeClr val="tx2"/>
                </a:solidFill>
                <a:highlight>
                  <a:srgbClr val="FFFF00"/>
                </a:highlight>
              </a:rPr>
              <a:t>Livrables Phase </a:t>
            </a:r>
            <a:r>
              <a:rPr lang="fr-MA" dirty="0">
                <a:solidFill>
                  <a:schemeClr val="tx2"/>
                </a:solidFill>
                <a:highlight>
                  <a:srgbClr val="FFFF00"/>
                </a:highlight>
              </a:rPr>
              <a:t>2</a:t>
            </a:r>
            <a:endParaRPr lang="fr-MA" sz="1800" dirty="0">
              <a:solidFill>
                <a:schemeClr val="tx2"/>
              </a:solidFill>
              <a:highlight>
                <a:srgbClr val="FFFF00"/>
              </a:highlight>
            </a:endParaRPr>
          </a:p>
          <a:p>
            <a:r>
              <a:rPr lang="fr-MA" sz="1600" dirty="0"/>
              <a:t>L2.1 Cahier des Charges Fonctionnel </a:t>
            </a:r>
            <a:r>
              <a:rPr lang="fr-MA" dirty="0"/>
              <a:t>L2.2 Spécifications Techniques (20-50 pages)</a:t>
            </a:r>
          </a:p>
          <a:p>
            <a:r>
              <a:rPr lang="fr-FR" dirty="0"/>
              <a:t>L2.3 Maquettes et Prototypes</a:t>
            </a:r>
          </a:p>
          <a:p>
            <a:r>
              <a:rPr lang="fr-FR" dirty="0"/>
              <a:t>L2.4 </a:t>
            </a:r>
            <a:r>
              <a:rPr lang="fr-FR" dirty="0" err="1"/>
              <a:t>Backlog</a:t>
            </a:r>
            <a:endParaRPr lang="fr-MA" dirty="0"/>
          </a:p>
        </p:txBody>
      </p:sp>
      <p:cxnSp>
        <p:nvCxnSpPr>
          <p:cNvPr id="9" name="Connecteur droit 8">
            <a:extLst>
              <a:ext uri="{FF2B5EF4-FFF2-40B4-BE49-F238E27FC236}">
                <a16:creationId xmlns:a16="http://schemas.microsoft.com/office/drawing/2014/main" id="{C37729DB-0737-334D-5BF8-A1F0ECFCA164}"/>
              </a:ext>
            </a:extLst>
          </p:cNvPr>
          <p:cNvCxnSpPr/>
          <p:nvPr/>
        </p:nvCxnSpPr>
        <p:spPr>
          <a:xfrm>
            <a:off x="4480560" y="2029485"/>
            <a:ext cx="0" cy="4389603"/>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0C43C74F-25C7-381A-D070-9619EC4E1B2E}"/>
              </a:ext>
            </a:extLst>
          </p:cNvPr>
          <p:cNvCxnSpPr/>
          <p:nvPr/>
        </p:nvCxnSpPr>
        <p:spPr>
          <a:xfrm>
            <a:off x="8391144" y="2029484"/>
            <a:ext cx="0" cy="4389603"/>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9357835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12AD4-A868-5B2E-ED1D-E2AD86FBDDC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EB218FB-ACD2-C2E5-BCE1-CE2CFEA7A4B9}"/>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4" name="ZoneTexte 3">
            <a:extLst>
              <a:ext uri="{FF2B5EF4-FFF2-40B4-BE49-F238E27FC236}">
                <a16:creationId xmlns:a16="http://schemas.microsoft.com/office/drawing/2014/main" id="{936B0373-B4FC-4813-69C7-FC322645C00F}"/>
              </a:ext>
            </a:extLst>
          </p:cNvPr>
          <p:cNvSpPr txBox="1"/>
          <p:nvPr/>
        </p:nvSpPr>
        <p:spPr>
          <a:xfrm>
            <a:off x="507998" y="1810078"/>
            <a:ext cx="6096000" cy="4401205"/>
          </a:xfrm>
          <a:prstGeom prst="rect">
            <a:avLst/>
          </a:prstGeom>
          <a:noFill/>
        </p:spPr>
        <p:txBody>
          <a:bodyPr wrap="square">
            <a:spAutoFit/>
          </a:bodyPr>
          <a:lstStyle/>
          <a:p>
            <a:r>
              <a:rPr lang="fr-MA" sz="1400">
                <a:solidFill>
                  <a:schemeClr val="tx2"/>
                </a:solidFill>
              </a:rPr>
              <a:t>Livrable L2.1</a:t>
            </a:r>
            <a:endParaRPr lang="fr-MA" sz="1400" dirty="0">
              <a:solidFill>
                <a:schemeClr val="tx2"/>
              </a:solidFill>
            </a:endParaRPr>
          </a:p>
          <a:p>
            <a:pPr marL="342900" indent="-342900">
              <a:buAutoNum type="arabicPeriod"/>
            </a:pPr>
            <a:r>
              <a:rPr lang="fr-MA" sz="1400" dirty="0">
                <a:solidFill>
                  <a:schemeClr val="tx2"/>
                </a:solidFill>
              </a:rPr>
              <a:t>INTRODUCTION </a:t>
            </a:r>
          </a:p>
          <a:p>
            <a:pPr marL="285750" indent="-285750">
              <a:buFont typeface="Arial" panose="020B0604020202020204" pitchFamily="34" charset="0"/>
              <a:buChar char="•"/>
            </a:pPr>
            <a:r>
              <a:rPr lang="fr-MA" sz="1400" dirty="0">
                <a:solidFill>
                  <a:schemeClr val="tx2"/>
                </a:solidFill>
              </a:rPr>
              <a:t>Contexte </a:t>
            </a:r>
          </a:p>
          <a:p>
            <a:pPr marL="285750" indent="-285750">
              <a:buFont typeface="Arial" panose="020B0604020202020204" pitchFamily="34" charset="0"/>
              <a:buChar char="•"/>
            </a:pPr>
            <a:r>
              <a:rPr lang="fr-MA" sz="1400" dirty="0">
                <a:solidFill>
                  <a:schemeClr val="tx2"/>
                </a:solidFill>
              </a:rPr>
              <a:t>Objectifs </a:t>
            </a:r>
          </a:p>
          <a:p>
            <a:pPr marL="285750" indent="-285750">
              <a:buFont typeface="Arial" panose="020B0604020202020204" pitchFamily="34" charset="0"/>
              <a:buChar char="•"/>
            </a:pPr>
            <a:r>
              <a:rPr lang="fr-MA" sz="1400" dirty="0">
                <a:solidFill>
                  <a:schemeClr val="tx2"/>
                </a:solidFill>
              </a:rPr>
              <a:t>Périmètre </a:t>
            </a:r>
          </a:p>
          <a:p>
            <a:r>
              <a:rPr lang="fr-MA" sz="1400" dirty="0">
                <a:solidFill>
                  <a:schemeClr val="tx2"/>
                </a:solidFill>
              </a:rPr>
              <a:t>2. DESCRIPTION GÉNÉRALE </a:t>
            </a:r>
          </a:p>
          <a:p>
            <a:pPr marL="285750" indent="-285750">
              <a:buFont typeface="Arial" panose="020B0604020202020204" pitchFamily="34" charset="0"/>
              <a:buChar char="•"/>
            </a:pPr>
            <a:r>
              <a:rPr lang="fr-MA" sz="1400" dirty="0">
                <a:solidFill>
                  <a:schemeClr val="tx2"/>
                </a:solidFill>
              </a:rPr>
              <a:t>Environnement du système </a:t>
            </a:r>
          </a:p>
          <a:p>
            <a:pPr marL="285750" indent="-285750">
              <a:buFont typeface="Arial" panose="020B0604020202020204" pitchFamily="34" charset="0"/>
              <a:buChar char="•"/>
            </a:pPr>
            <a:r>
              <a:rPr lang="fr-MA" sz="1400" dirty="0">
                <a:solidFill>
                  <a:schemeClr val="tx2"/>
                </a:solidFill>
              </a:rPr>
              <a:t>Utilisateurs cibles </a:t>
            </a:r>
          </a:p>
          <a:p>
            <a:pPr marL="285750" indent="-285750">
              <a:buFont typeface="Arial" panose="020B0604020202020204" pitchFamily="34" charset="0"/>
              <a:buChar char="•"/>
            </a:pPr>
            <a:r>
              <a:rPr lang="fr-MA" sz="1400" dirty="0">
                <a:solidFill>
                  <a:schemeClr val="tx2"/>
                </a:solidFill>
              </a:rPr>
              <a:t>Contraintes générales </a:t>
            </a:r>
          </a:p>
          <a:p>
            <a:r>
              <a:rPr lang="fr-MA" sz="1400" dirty="0">
                <a:solidFill>
                  <a:schemeClr val="tx2"/>
                </a:solidFill>
              </a:rPr>
              <a:t>3. EXIGENCES FONCTIONNELLES </a:t>
            </a:r>
          </a:p>
          <a:p>
            <a:pPr marL="285750" indent="-285750">
              <a:buFont typeface="Arial" panose="020B0604020202020204" pitchFamily="34" charset="0"/>
              <a:buChar char="•"/>
            </a:pPr>
            <a:r>
              <a:rPr lang="fr-MA" sz="1400" dirty="0">
                <a:solidFill>
                  <a:schemeClr val="tx2"/>
                </a:solidFill>
              </a:rPr>
              <a:t>Par module/fonctionnalité </a:t>
            </a:r>
          </a:p>
          <a:p>
            <a:pPr marL="285750" indent="-285750">
              <a:buFont typeface="Arial" panose="020B0604020202020204" pitchFamily="34" charset="0"/>
              <a:buChar char="•"/>
            </a:pPr>
            <a:r>
              <a:rPr lang="fr-MA" sz="1400" dirty="0">
                <a:solidFill>
                  <a:schemeClr val="tx2"/>
                </a:solidFill>
              </a:rPr>
              <a:t>User stories </a:t>
            </a:r>
          </a:p>
          <a:p>
            <a:pPr marL="285750" indent="-285750">
              <a:buFont typeface="Arial" panose="020B0604020202020204" pitchFamily="34" charset="0"/>
              <a:buChar char="•"/>
            </a:pPr>
            <a:r>
              <a:rPr lang="fr-MA" sz="1400" dirty="0">
                <a:solidFill>
                  <a:schemeClr val="tx2"/>
                </a:solidFill>
              </a:rPr>
              <a:t>Cas d'utilisation détaillés </a:t>
            </a:r>
          </a:p>
          <a:p>
            <a:pPr marL="285750" indent="-285750">
              <a:buFont typeface="Arial" panose="020B0604020202020204" pitchFamily="34" charset="0"/>
              <a:buChar char="•"/>
            </a:pPr>
            <a:r>
              <a:rPr lang="fr-MA" sz="1400" dirty="0">
                <a:solidFill>
                  <a:schemeClr val="tx2"/>
                </a:solidFill>
              </a:rPr>
              <a:t>Règles de gestion </a:t>
            </a:r>
          </a:p>
          <a:p>
            <a:pPr marL="285750" indent="-285750">
              <a:buFont typeface="Arial" panose="020B0604020202020204" pitchFamily="34" charset="0"/>
              <a:buChar char="•"/>
            </a:pPr>
            <a:r>
              <a:rPr lang="fr-MA" sz="1400" dirty="0">
                <a:solidFill>
                  <a:schemeClr val="tx2"/>
                </a:solidFill>
              </a:rPr>
              <a:t>Workflows </a:t>
            </a:r>
          </a:p>
          <a:p>
            <a:r>
              <a:rPr lang="fr-MA" sz="1400" dirty="0">
                <a:solidFill>
                  <a:schemeClr val="tx2"/>
                </a:solidFill>
              </a:rPr>
              <a:t>4. EXIGENCES NON FONCTIONNELLES </a:t>
            </a:r>
          </a:p>
          <a:p>
            <a:pPr marL="285750" indent="-285750">
              <a:buFont typeface="Arial" panose="020B0604020202020204" pitchFamily="34" charset="0"/>
              <a:buChar char="•"/>
            </a:pPr>
            <a:r>
              <a:rPr lang="fr-MA" sz="1400" dirty="0">
                <a:solidFill>
                  <a:schemeClr val="tx2"/>
                </a:solidFill>
              </a:rPr>
              <a:t>Performance </a:t>
            </a:r>
          </a:p>
          <a:p>
            <a:pPr marL="285750" indent="-285750">
              <a:buFont typeface="Arial" panose="020B0604020202020204" pitchFamily="34" charset="0"/>
              <a:buChar char="•"/>
            </a:pPr>
            <a:r>
              <a:rPr lang="fr-MA" sz="1400" dirty="0">
                <a:solidFill>
                  <a:schemeClr val="tx2"/>
                </a:solidFill>
              </a:rPr>
              <a:t>Sécurité </a:t>
            </a:r>
          </a:p>
          <a:p>
            <a:pPr marL="285750" indent="-285750">
              <a:buFont typeface="Arial" panose="020B0604020202020204" pitchFamily="34" charset="0"/>
              <a:buChar char="•"/>
            </a:pPr>
            <a:r>
              <a:rPr lang="fr-MA" sz="1400" dirty="0">
                <a:solidFill>
                  <a:schemeClr val="tx2"/>
                </a:solidFill>
              </a:rPr>
              <a:t>Disponibilité </a:t>
            </a:r>
          </a:p>
          <a:p>
            <a:pPr marL="285750" indent="-285750">
              <a:buFont typeface="Arial" panose="020B0604020202020204" pitchFamily="34" charset="0"/>
              <a:buChar char="•"/>
            </a:pPr>
            <a:r>
              <a:rPr lang="fr-MA" sz="1400" dirty="0">
                <a:solidFill>
                  <a:schemeClr val="tx2"/>
                </a:solidFill>
              </a:rPr>
              <a:t>Ergonomie </a:t>
            </a:r>
          </a:p>
        </p:txBody>
      </p:sp>
      <p:sp>
        <p:nvSpPr>
          <p:cNvPr id="7" name="ZoneTexte 6">
            <a:extLst>
              <a:ext uri="{FF2B5EF4-FFF2-40B4-BE49-F238E27FC236}">
                <a16:creationId xmlns:a16="http://schemas.microsoft.com/office/drawing/2014/main" id="{CAE9F1E6-4B3A-ED66-7089-AD2FA7A3696C}"/>
              </a:ext>
            </a:extLst>
          </p:cNvPr>
          <p:cNvSpPr txBox="1"/>
          <p:nvPr/>
        </p:nvSpPr>
        <p:spPr>
          <a:xfrm>
            <a:off x="5874759" y="2090172"/>
            <a:ext cx="6096000" cy="2893100"/>
          </a:xfrm>
          <a:prstGeom prst="rect">
            <a:avLst/>
          </a:prstGeom>
          <a:noFill/>
        </p:spPr>
        <p:txBody>
          <a:bodyPr wrap="square">
            <a:spAutoFit/>
          </a:bodyPr>
          <a:lstStyle/>
          <a:p>
            <a:r>
              <a:rPr lang="fr-MA" sz="1400" dirty="0">
                <a:solidFill>
                  <a:schemeClr val="tx2"/>
                </a:solidFill>
              </a:rPr>
              <a:t>5. INTERFACES </a:t>
            </a:r>
          </a:p>
          <a:p>
            <a:pPr marL="285750" indent="-285750">
              <a:buFont typeface="Arial" panose="020B0604020202020204" pitchFamily="34" charset="0"/>
              <a:buChar char="•"/>
            </a:pPr>
            <a:r>
              <a:rPr lang="fr-MA" sz="1400" dirty="0">
                <a:solidFill>
                  <a:schemeClr val="tx2"/>
                </a:solidFill>
              </a:rPr>
              <a:t>Interfaces utilisateur </a:t>
            </a:r>
          </a:p>
          <a:p>
            <a:pPr marL="285750" indent="-285750">
              <a:buFont typeface="Arial" panose="020B0604020202020204" pitchFamily="34" charset="0"/>
              <a:buChar char="•"/>
            </a:pPr>
            <a:r>
              <a:rPr lang="fr-MA" sz="1400" dirty="0">
                <a:solidFill>
                  <a:schemeClr val="tx2"/>
                </a:solidFill>
              </a:rPr>
              <a:t>Interfaces avec autres systèmes</a:t>
            </a:r>
          </a:p>
          <a:p>
            <a:endParaRPr lang="fr-MA" sz="1400" dirty="0">
              <a:solidFill>
                <a:schemeClr val="tx2"/>
              </a:solidFill>
            </a:endParaRPr>
          </a:p>
          <a:p>
            <a:r>
              <a:rPr lang="fr-MA" sz="1400" dirty="0">
                <a:solidFill>
                  <a:schemeClr val="tx2"/>
                </a:solidFill>
              </a:rPr>
              <a:t>6. DONNÉES </a:t>
            </a:r>
          </a:p>
          <a:p>
            <a:pPr marL="285750" indent="-285750">
              <a:buFont typeface="Arial" panose="020B0604020202020204" pitchFamily="34" charset="0"/>
              <a:buChar char="•"/>
            </a:pPr>
            <a:r>
              <a:rPr lang="fr-MA" sz="1400" dirty="0">
                <a:solidFill>
                  <a:schemeClr val="tx2"/>
                </a:solidFill>
              </a:rPr>
              <a:t>Entités principales </a:t>
            </a:r>
          </a:p>
          <a:p>
            <a:pPr marL="285750" indent="-285750">
              <a:buFont typeface="Arial" panose="020B0604020202020204" pitchFamily="34" charset="0"/>
              <a:buChar char="•"/>
            </a:pPr>
            <a:r>
              <a:rPr lang="fr-MA" sz="1400" dirty="0">
                <a:solidFill>
                  <a:schemeClr val="tx2"/>
                </a:solidFill>
              </a:rPr>
              <a:t>Volumes </a:t>
            </a:r>
          </a:p>
          <a:p>
            <a:pPr marL="285750" indent="-285750">
              <a:buFont typeface="Arial" panose="020B0604020202020204" pitchFamily="34" charset="0"/>
              <a:buChar char="•"/>
            </a:pPr>
            <a:r>
              <a:rPr lang="fr-MA" sz="1400" dirty="0">
                <a:solidFill>
                  <a:schemeClr val="tx2"/>
                </a:solidFill>
              </a:rPr>
              <a:t>Règles de gestion </a:t>
            </a:r>
          </a:p>
          <a:p>
            <a:pPr marL="285750" indent="-285750">
              <a:buFont typeface="Arial" panose="020B0604020202020204" pitchFamily="34" charset="0"/>
              <a:buChar char="•"/>
            </a:pPr>
            <a:endParaRPr lang="fr-MA" sz="1400" dirty="0">
              <a:solidFill>
                <a:schemeClr val="tx2"/>
              </a:solidFill>
            </a:endParaRPr>
          </a:p>
          <a:p>
            <a:r>
              <a:rPr lang="fr-MA" sz="1400" dirty="0">
                <a:solidFill>
                  <a:schemeClr val="tx2"/>
                </a:solidFill>
              </a:rPr>
              <a:t>7. ANNEXES </a:t>
            </a:r>
          </a:p>
          <a:p>
            <a:pPr marL="285750" indent="-285750">
              <a:buFont typeface="Arial" panose="020B0604020202020204" pitchFamily="34" charset="0"/>
              <a:buChar char="•"/>
            </a:pPr>
            <a:r>
              <a:rPr lang="fr-MA" sz="1400" dirty="0">
                <a:solidFill>
                  <a:schemeClr val="tx2"/>
                </a:solidFill>
              </a:rPr>
              <a:t>Glossaire </a:t>
            </a:r>
          </a:p>
          <a:p>
            <a:pPr marL="285750" indent="-285750">
              <a:buFont typeface="Arial" panose="020B0604020202020204" pitchFamily="34" charset="0"/>
              <a:buChar char="•"/>
            </a:pPr>
            <a:r>
              <a:rPr lang="fr-MA" sz="1400" dirty="0">
                <a:solidFill>
                  <a:schemeClr val="tx2"/>
                </a:solidFill>
              </a:rPr>
              <a:t>Maquettes </a:t>
            </a:r>
          </a:p>
          <a:p>
            <a:pPr marL="285750" indent="-285750">
              <a:buFont typeface="Arial" panose="020B0604020202020204" pitchFamily="34" charset="0"/>
              <a:buChar char="•"/>
            </a:pPr>
            <a:r>
              <a:rPr lang="fr-MA" sz="1400" dirty="0">
                <a:solidFill>
                  <a:schemeClr val="tx2"/>
                </a:solidFill>
              </a:rPr>
              <a:t>Diagrammes</a:t>
            </a:r>
            <a:endParaRPr lang="fr-FR" sz="1400" dirty="0">
              <a:solidFill>
                <a:schemeClr val="tx2"/>
              </a:solidFill>
            </a:endParaRPr>
          </a:p>
        </p:txBody>
      </p:sp>
    </p:spTree>
    <p:extLst>
      <p:ext uri="{BB962C8B-B14F-4D97-AF65-F5344CB8AC3E}">
        <p14:creationId xmlns:p14="http://schemas.microsoft.com/office/powerpoint/2010/main" val="8085773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58FF1-0E53-54D9-5E32-67EC7F3914D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3ECF02C-64C0-0B00-CBAE-D4FD48AC98CE}"/>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4" name="ZoneTexte 3">
            <a:extLst>
              <a:ext uri="{FF2B5EF4-FFF2-40B4-BE49-F238E27FC236}">
                <a16:creationId xmlns:a16="http://schemas.microsoft.com/office/drawing/2014/main" id="{2BA65959-06DB-9CA4-61E0-02E35CD67511}"/>
              </a:ext>
            </a:extLst>
          </p:cNvPr>
          <p:cNvSpPr txBox="1"/>
          <p:nvPr/>
        </p:nvSpPr>
        <p:spPr>
          <a:xfrm>
            <a:off x="507998" y="1810078"/>
            <a:ext cx="6096000" cy="5539978"/>
          </a:xfrm>
          <a:prstGeom prst="rect">
            <a:avLst/>
          </a:prstGeom>
          <a:noFill/>
        </p:spPr>
        <p:txBody>
          <a:bodyPr wrap="square">
            <a:spAutoFit/>
          </a:bodyPr>
          <a:lstStyle/>
          <a:p>
            <a:pPr algn="l"/>
            <a:r>
              <a:rPr lang="fr-MA" sz="1400" dirty="0">
                <a:solidFill>
                  <a:schemeClr val="tx2"/>
                </a:solidFill>
              </a:rPr>
              <a:t>Template du livrable L2.2</a:t>
            </a:r>
          </a:p>
          <a:p>
            <a:pPr algn="l"/>
            <a:r>
              <a:rPr lang="fr-MA" sz="1400" dirty="0">
                <a:solidFill>
                  <a:schemeClr val="tx2"/>
                </a:solidFill>
              </a:rPr>
              <a:t>1. ARCHITECTURE GÉNÉRALE</a:t>
            </a:r>
          </a:p>
          <a:p>
            <a:pPr algn="l"/>
            <a:r>
              <a:rPr lang="fr-MA" sz="1400" dirty="0">
                <a:solidFill>
                  <a:schemeClr val="tx2"/>
                </a:solidFill>
              </a:rPr>
              <a:t>   - Architecture applicative (3-tiers, </a:t>
            </a:r>
            <a:r>
              <a:rPr lang="fr-MA" sz="1400" dirty="0" err="1">
                <a:solidFill>
                  <a:schemeClr val="tx2"/>
                </a:solidFill>
              </a:rPr>
              <a:t>microservices</a:t>
            </a:r>
            <a:r>
              <a:rPr lang="fr-MA" sz="1400" dirty="0">
                <a:solidFill>
                  <a:schemeClr val="tx2"/>
                </a:solidFill>
              </a:rPr>
              <a:t>...)</a:t>
            </a:r>
          </a:p>
          <a:p>
            <a:pPr algn="l"/>
            <a:r>
              <a:rPr lang="fr-MA" sz="1400" dirty="0">
                <a:solidFill>
                  <a:schemeClr val="tx2"/>
                </a:solidFill>
              </a:rPr>
              <a:t>   - Schéma d'architecture</a:t>
            </a:r>
          </a:p>
          <a:p>
            <a:pPr algn="l"/>
            <a:r>
              <a:rPr lang="fr-MA" sz="1400" dirty="0">
                <a:solidFill>
                  <a:schemeClr val="tx2"/>
                </a:solidFill>
              </a:rPr>
              <a:t>   - Justification des choix</a:t>
            </a:r>
          </a:p>
          <a:p>
            <a:pPr algn="l"/>
            <a:endParaRPr lang="fr-MA" sz="1400" dirty="0">
              <a:solidFill>
                <a:schemeClr val="tx2"/>
              </a:solidFill>
            </a:endParaRPr>
          </a:p>
          <a:p>
            <a:pPr algn="l"/>
            <a:r>
              <a:rPr lang="fr-MA" sz="1400" dirty="0">
                <a:solidFill>
                  <a:schemeClr val="tx2"/>
                </a:solidFill>
              </a:rPr>
              <a:t>2. INFRASTRUCTURE</a:t>
            </a:r>
          </a:p>
          <a:p>
            <a:pPr algn="l"/>
            <a:r>
              <a:rPr lang="fr-MA" sz="1400" dirty="0">
                <a:solidFill>
                  <a:schemeClr val="tx2"/>
                </a:solidFill>
              </a:rPr>
              <a:t>   - Serveurs et matériel</a:t>
            </a:r>
          </a:p>
          <a:p>
            <a:pPr algn="l"/>
            <a:r>
              <a:rPr lang="fr-MA" sz="1400" dirty="0">
                <a:solidFill>
                  <a:schemeClr val="tx2"/>
                </a:solidFill>
              </a:rPr>
              <a:t>   - Réseau</a:t>
            </a:r>
          </a:p>
          <a:p>
            <a:pPr algn="l"/>
            <a:r>
              <a:rPr lang="fr-MA" sz="1400" dirty="0">
                <a:solidFill>
                  <a:schemeClr val="tx2"/>
                </a:solidFill>
              </a:rPr>
              <a:t>   - Hébergement (cloud/on-</a:t>
            </a:r>
            <a:r>
              <a:rPr lang="fr-MA" sz="1400" dirty="0" err="1">
                <a:solidFill>
                  <a:schemeClr val="tx2"/>
                </a:solidFill>
              </a:rPr>
              <a:t>premise</a:t>
            </a:r>
            <a:r>
              <a:rPr lang="fr-MA" sz="1400" dirty="0">
                <a:solidFill>
                  <a:schemeClr val="tx2"/>
                </a:solidFill>
              </a:rPr>
              <a:t>)</a:t>
            </a:r>
          </a:p>
          <a:p>
            <a:pPr algn="l"/>
            <a:r>
              <a:rPr lang="fr-MA" sz="1400" dirty="0">
                <a:solidFill>
                  <a:schemeClr val="tx2"/>
                </a:solidFill>
              </a:rPr>
              <a:t>   - Plan de déploiement</a:t>
            </a:r>
          </a:p>
          <a:p>
            <a:pPr algn="l"/>
            <a:endParaRPr lang="fr-MA" sz="1400" dirty="0">
              <a:solidFill>
                <a:schemeClr val="tx2"/>
              </a:solidFill>
            </a:endParaRPr>
          </a:p>
          <a:p>
            <a:pPr algn="l"/>
            <a:r>
              <a:rPr lang="fr-MA" sz="1400" dirty="0">
                <a:solidFill>
                  <a:schemeClr val="tx2"/>
                </a:solidFill>
              </a:rPr>
              <a:t>3. TECHNOLOGIES</a:t>
            </a:r>
          </a:p>
          <a:p>
            <a:pPr algn="l"/>
            <a:r>
              <a:rPr lang="fr-MA" sz="1400" dirty="0">
                <a:solidFill>
                  <a:schemeClr val="tx2"/>
                </a:solidFill>
              </a:rPr>
              <a:t>   - Stack technique détaillée</a:t>
            </a:r>
          </a:p>
          <a:p>
            <a:pPr algn="l"/>
            <a:r>
              <a:rPr lang="fr-MA" sz="1400" dirty="0">
                <a:solidFill>
                  <a:schemeClr val="tx2"/>
                </a:solidFill>
              </a:rPr>
              <a:t>   - </a:t>
            </a:r>
            <a:r>
              <a:rPr lang="fr-MA" sz="1400" dirty="0" err="1">
                <a:solidFill>
                  <a:schemeClr val="tx2"/>
                </a:solidFill>
              </a:rPr>
              <a:t>Frameworks</a:t>
            </a:r>
            <a:r>
              <a:rPr lang="fr-MA" sz="1400" dirty="0">
                <a:solidFill>
                  <a:schemeClr val="tx2"/>
                </a:solidFill>
              </a:rPr>
              <a:t> et librairies</a:t>
            </a:r>
          </a:p>
          <a:p>
            <a:pPr algn="l"/>
            <a:r>
              <a:rPr lang="fr-MA" sz="1400" dirty="0">
                <a:solidFill>
                  <a:schemeClr val="tx2"/>
                </a:solidFill>
              </a:rPr>
              <a:t>   - Base de données</a:t>
            </a:r>
          </a:p>
          <a:p>
            <a:pPr algn="l"/>
            <a:r>
              <a:rPr lang="fr-MA" sz="1400" dirty="0">
                <a:solidFill>
                  <a:schemeClr val="tx2"/>
                </a:solidFill>
              </a:rPr>
              <a:t>   - Justifications</a:t>
            </a:r>
          </a:p>
          <a:p>
            <a:pPr algn="l"/>
            <a:endParaRPr lang="fr-MA" sz="1400" dirty="0">
              <a:solidFill>
                <a:schemeClr val="tx2"/>
              </a:solidFill>
            </a:endParaRPr>
          </a:p>
          <a:p>
            <a:pPr algn="l"/>
            <a:r>
              <a:rPr lang="fr-MA" sz="1400" dirty="0">
                <a:solidFill>
                  <a:schemeClr val="tx2"/>
                </a:solidFill>
              </a:rPr>
              <a:t>4. MODÈLE DE DONNÉES</a:t>
            </a:r>
          </a:p>
          <a:p>
            <a:pPr algn="l"/>
            <a:r>
              <a:rPr lang="fr-MA" sz="1400" dirty="0">
                <a:solidFill>
                  <a:schemeClr val="tx2"/>
                </a:solidFill>
              </a:rPr>
              <a:t>   - MCD (Modèle Conceptuel de Données)</a:t>
            </a:r>
          </a:p>
          <a:p>
            <a:pPr algn="l"/>
            <a:r>
              <a:rPr lang="fr-MA" sz="1400" dirty="0">
                <a:solidFill>
                  <a:schemeClr val="tx2"/>
                </a:solidFill>
              </a:rPr>
              <a:t>   - MLD (Modèle Logique de Données)</a:t>
            </a:r>
          </a:p>
          <a:p>
            <a:pPr algn="l"/>
            <a:r>
              <a:rPr lang="fr-MA" sz="1400" dirty="0">
                <a:solidFill>
                  <a:schemeClr val="tx2"/>
                </a:solidFill>
              </a:rPr>
              <a:t>   - MPD (Modèle Physique de Données)</a:t>
            </a:r>
          </a:p>
          <a:p>
            <a:pPr algn="l"/>
            <a:r>
              <a:rPr lang="fr-MA" sz="1400" dirty="0">
                <a:solidFill>
                  <a:schemeClr val="tx2"/>
                </a:solidFill>
              </a:rPr>
              <a:t>   - Dictionnaire de données</a:t>
            </a:r>
          </a:p>
          <a:p>
            <a:pPr algn="l"/>
            <a:endParaRPr lang="fr-MA" sz="1600" dirty="0"/>
          </a:p>
          <a:p>
            <a:pPr algn="l"/>
            <a:endParaRPr lang="fr-FR" sz="1600" dirty="0"/>
          </a:p>
        </p:txBody>
      </p:sp>
      <p:sp>
        <p:nvSpPr>
          <p:cNvPr id="7" name="ZoneTexte 6">
            <a:extLst>
              <a:ext uri="{FF2B5EF4-FFF2-40B4-BE49-F238E27FC236}">
                <a16:creationId xmlns:a16="http://schemas.microsoft.com/office/drawing/2014/main" id="{3444366F-680D-9099-A145-F5ED32FF61C4}"/>
              </a:ext>
            </a:extLst>
          </p:cNvPr>
          <p:cNvSpPr txBox="1"/>
          <p:nvPr/>
        </p:nvSpPr>
        <p:spPr>
          <a:xfrm>
            <a:off x="6096000" y="1912479"/>
            <a:ext cx="6096000" cy="4401205"/>
          </a:xfrm>
          <a:prstGeom prst="rect">
            <a:avLst/>
          </a:prstGeom>
          <a:noFill/>
        </p:spPr>
        <p:txBody>
          <a:bodyPr wrap="square">
            <a:spAutoFit/>
          </a:bodyPr>
          <a:lstStyle/>
          <a:p>
            <a:pPr algn="l"/>
            <a:r>
              <a:rPr lang="fr-MA" sz="1400" dirty="0">
                <a:solidFill>
                  <a:schemeClr val="tx2"/>
                </a:solidFill>
              </a:rPr>
              <a:t>5. ARCHITECTURE LOGICIELLE</a:t>
            </a:r>
          </a:p>
          <a:p>
            <a:pPr algn="l"/>
            <a:r>
              <a:rPr lang="fr-MA" sz="1400" dirty="0">
                <a:solidFill>
                  <a:schemeClr val="tx2"/>
                </a:solidFill>
              </a:rPr>
              <a:t>   - Diagrammes de composants</a:t>
            </a:r>
          </a:p>
          <a:p>
            <a:pPr algn="l"/>
            <a:r>
              <a:rPr lang="fr-MA" sz="1400" dirty="0">
                <a:solidFill>
                  <a:schemeClr val="tx2"/>
                </a:solidFill>
              </a:rPr>
              <a:t>   - Diagrammes de séquence</a:t>
            </a:r>
          </a:p>
          <a:p>
            <a:pPr algn="l"/>
            <a:r>
              <a:rPr lang="fr-MA" sz="1400" dirty="0">
                <a:solidFill>
                  <a:schemeClr val="tx2"/>
                </a:solidFill>
              </a:rPr>
              <a:t>   - Patterns utilisés</a:t>
            </a:r>
          </a:p>
          <a:p>
            <a:pPr algn="l"/>
            <a:endParaRPr lang="fr-MA" sz="1400" dirty="0">
              <a:solidFill>
                <a:schemeClr val="tx2"/>
              </a:solidFill>
            </a:endParaRPr>
          </a:p>
          <a:p>
            <a:pPr algn="l"/>
            <a:r>
              <a:rPr lang="fr-MA" sz="1400" dirty="0">
                <a:solidFill>
                  <a:schemeClr val="tx2"/>
                </a:solidFill>
              </a:rPr>
              <a:t>6. SÉCURITÉ</a:t>
            </a:r>
          </a:p>
          <a:p>
            <a:pPr algn="l"/>
            <a:r>
              <a:rPr lang="fr-MA" sz="1400" dirty="0">
                <a:solidFill>
                  <a:schemeClr val="tx2"/>
                </a:solidFill>
              </a:rPr>
              <a:t>   - Authentification/Autorisation</a:t>
            </a:r>
          </a:p>
          <a:p>
            <a:pPr algn="l"/>
            <a:r>
              <a:rPr lang="fr-MA" sz="1400" dirty="0">
                <a:solidFill>
                  <a:schemeClr val="tx2"/>
                </a:solidFill>
              </a:rPr>
              <a:t>   - Chiffrement</a:t>
            </a:r>
          </a:p>
          <a:p>
            <a:pPr algn="l"/>
            <a:r>
              <a:rPr lang="fr-MA" sz="1400" dirty="0">
                <a:solidFill>
                  <a:schemeClr val="tx2"/>
                </a:solidFill>
              </a:rPr>
              <a:t>   - Protection des données</a:t>
            </a:r>
          </a:p>
          <a:p>
            <a:pPr algn="l"/>
            <a:r>
              <a:rPr lang="fr-MA" sz="1400" dirty="0">
                <a:solidFill>
                  <a:schemeClr val="tx2"/>
                </a:solidFill>
              </a:rPr>
              <a:t>   - Conformité (RGPD...)</a:t>
            </a:r>
          </a:p>
          <a:p>
            <a:pPr algn="l"/>
            <a:endParaRPr lang="fr-MA" sz="1400" dirty="0">
              <a:solidFill>
                <a:schemeClr val="tx2"/>
              </a:solidFill>
            </a:endParaRPr>
          </a:p>
          <a:p>
            <a:pPr algn="l"/>
            <a:r>
              <a:rPr lang="fr-MA" sz="1400" dirty="0">
                <a:solidFill>
                  <a:schemeClr val="tx2"/>
                </a:solidFill>
              </a:rPr>
              <a:t>7. PERFORMANCE</a:t>
            </a:r>
          </a:p>
          <a:p>
            <a:pPr algn="l"/>
            <a:r>
              <a:rPr lang="fr-MA" sz="1400" dirty="0">
                <a:solidFill>
                  <a:schemeClr val="tx2"/>
                </a:solidFill>
              </a:rPr>
              <a:t>   - Objectifs de performance</a:t>
            </a:r>
          </a:p>
          <a:p>
            <a:pPr algn="l"/>
            <a:r>
              <a:rPr lang="fr-MA" sz="1400" dirty="0">
                <a:solidFill>
                  <a:schemeClr val="tx2"/>
                </a:solidFill>
              </a:rPr>
              <a:t>   - Stratégies d'optimisation</a:t>
            </a:r>
          </a:p>
          <a:p>
            <a:pPr algn="l"/>
            <a:r>
              <a:rPr lang="fr-MA" sz="1400" dirty="0">
                <a:solidFill>
                  <a:schemeClr val="tx2"/>
                </a:solidFill>
              </a:rPr>
              <a:t>   - Scalabilité</a:t>
            </a:r>
          </a:p>
          <a:p>
            <a:pPr algn="l"/>
            <a:endParaRPr lang="fr-MA" sz="1400" dirty="0">
              <a:solidFill>
                <a:schemeClr val="tx2"/>
              </a:solidFill>
            </a:endParaRPr>
          </a:p>
          <a:p>
            <a:pPr algn="l"/>
            <a:r>
              <a:rPr lang="fr-MA" sz="1400" dirty="0">
                <a:solidFill>
                  <a:schemeClr val="tx2"/>
                </a:solidFill>
              </a:rPr>
              <a:t>8. INTÉGRATIONS</a:t>
            </a:r>
          </a:p>
          <a:p>
            <a:pPr algn="l"/>
            <a:r>
              <a:rPr lang="fr-MA" sz="1400" dirty="0">
                <a:solidFill>
                  <a:schemeClr val="tx2"/>
                </a:solidFill>
              </a:rPr>
              <a:t>   - APIs externes</a:t>
            </a:r>
          </a:p>
          <a:p>
            <a:pPr algn="l"/>
            <a:r>
              <a:rPr lang="fr-MA" sz="1400" dirty="0">
                <a:solidFill>
                  <a:schemeClr val="tx2"/>
                </a:solidFill>
              </a:rPr>
              <a:t>   - Services tiers</a:t>
            </a:r>
          </a:p>
          <a:p>
            <a:pPr algn="l"/>
            <a:r>
              <a:rPr lang="fr-MA" sz="1400" dirty="0">
                <a:solidFill>
                  <a:schemeClr val="tx2"/>
                </a:solidFill>
              </a:rPr>
              <a:t>   - Protocoles de communication</a:t>
            </a:r>
            <a:endParaRPr lang="fr-FR" sz="1400" dirty="0">
              <a:solidFill>
                <a:schemeClr val="tx2"/>
              </a:solidFill>
            </a:endParaRPr>
          </a:p>
        </p:txBody>
      </p:sp>
    </p:spTree>
    <p:extLst>
      <p:ext uri="{BB962C8B-B14F-4D97-AF65-F5344CB8AC3E}">
        <p14:creationId xmlns:p14="http://schemas.microsoft.com/office/powerpoint/2010/main" val="41783607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A40C3-1FBF-BEA4-7DB7-5DDE42088F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F5A311B-345A-19FA-B8DD-C5365572D173}"/>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4" name="ZoneTexte 3">
            <a:extLst>
              <a:ext uri="{FF2B5EF4-FFF2-40B4-BE49-F238E27FC236}">
                <a16:creationId xmlns:a16="http://schemas.microsoft.com/office/drawing/2014/main" id="{03CB6C90-70AB-3155-00F0-96ED49B58FAE}"/>
              </a:ext>
            </a:extLst>
          </p:cNvPr>
          <p:cNvSpPr txBox="1"/>
          <p:nvPr/>
        </p:nvSpPr>
        <p:spPr>
          <a:xfrm>
            <a:off x="507998" y="1810078"/>
            <a:ext cx="6096000" cy="3354765"/>
          </a:xfrm>
          <a:prstGeom prst="rect">
            <a:avLst/>
          </a:prstGeom>
          <a:noFill/>
        </p:spPr>
        <p:txBody>
          <a:bodyPr wrap="square">
            <a:spAutoFit/>
          </a:bodyPr>
          <a:lstStyle/>
          <a:p>
            <a:pPr algn="l"/>
            <a:r>
              <a:rPr lang="fr-MA" sz="1400" dirty="0">
                <a:solidFill>
                  <a:schemeClr val="tx2"/>
                </a:solidFill>
              </a:rPr>
              <a:t>L2.3  Maquettes</a:t>
            </a:r>
          </a:p>
          <a:p>
            <a:pPr algn="l"/>
            <a:endParaRPr lang="fr-MA" sz="1400" dirty="0">
              <a:solidFill>
                <a:schemeClr val="tx2"/>
              </a:solidFill>
            </a:endParaRPr>
          </a:p>
          <a:p>
            <a:r>
              <a:rPr lang="fr-MA" sz="1400" b="1" dirty="0"/>
              <a:t>Types :</a:t>
            </a:r>
            <a:endParaRPr lang="fr-MA" sz="1400" dirty="0"/>
          </a:p>
          <a:p>
            <a:pPr marL="285750" indent="-285750">
              <a:buFont typeface="Arial" panose="020B0604020202020204" pitchFamily="34" charset="0"/>
              <a:buChar char="•"/>
            </a:pPr>
            <a:r>
              <a:rPr lang="fr-MA" sz="1400" dirty="0"/>
              <a:t>Wireframes basse-fidélité</a:t>
            </a:r>
          </a:p>
          <a:p>
            <a:pPr marL="285750" indent="-285750">
              <a:buFont typeface="Arial" panose="020B0604020202020204" pitchFamily="34" charset="0"/>
              <a:buChar char="•"/>
            </a:pPr>
            <a:r>
              <a:rPr lang="fr-MA" sz="1400" dirty="0"/>
              <a:t>Maquettes haute-fidélité</a:t>
            </a:r>
          </a:p>
          <a:p>
            <a:pPr marL="285750" indent="-285750">
              <a:buFont typeface="Arial" panose="020B0604020202020204" pitchFamily="34" charset="0"/>
              <a:buChar char="•"/>
            </a:pPr>
            <a:r>
              <a:rPr lang="fr-MA" sz="1400" dirty="0"/>
              <a:t>Prototype interactif (</a:t>
            </a:r>
            <a:r>
              <a:rPr lang="fr-MA" sz="1400" dirty="0" err="1"/>
              <a:t>Figma</a:t>
            </a:r>
            <a:r>
              <a:rPr lang="fr-MA" sz="1400" dirty="0"/>
              <a:t>, Adobe XD)</a:t>
            </a:r>
          </a:p>
          <a:p>
            <a:pPr marL="285750" indent="-285750">
              <a:buFont typeface="Arial" panose="020B0604020202020204" pitchFamily="34" charset="0"/>
              <a:buChar char="•"/>
            </a:pPr>
            <a:r>
              <a:rPr lang="fr-MA" sz="1400" dirty="0"/>
              <a:t>Design system</a:t>
            </a:r>
          </a:p>
          <a:p>
            <a:endParaRPr lang="fr-MA" sz="1400" dirty="0"/>
          </a:p>
          <a:p>
            <a:r>
              <a:rPr lang="fr-MA" sz="1400" b="1" dirty="0"/>
              <a:t>Pour chaque écran :</a:t>
            </a:r>
            <a:endParaRPr lang="fr-MA" sz="1400" dirty="0"/>
          </a:p>
          <a:p>
            <a:pPr marL="285750" indent="-285750">
              <a:buFont typeface="Arial" panose="020B0604020202020204" pitchFamily="34" charset="0"/>
              <a:buChar char="•"/>
            </a:pPr>
            <a:r>
              <a:rPr lang="fr-MA" sz="1400" dirty="0"/>
              <a:t>Vue desktop</a:t>
            </a:r>
          </a:p>
          <a:p>
            <a:pPr marL="285750" indent="-285750">
              <a:buFont typeface="Arial" panose="020B0604020202020204" pitchFamily="34" charset="0"/>
              <a:buChar char="•"/>
            </a:pPr>
            <a:r>
              <a:rPr lang="fr-MA" sz="1400" dirty="0"/>
              <a:t>Vue mobile </a:t>
            </a:r>
          </a:p>
          <a:p>
            <a:pPr marL="285750" indent="-285750">
              <a:buFont typeface="Arial" panose="020B0604020202020204" pitchFamily="34" charset="0"/>
              <a:buChar char="•"/>
            </a:pPr>
            <a:r>
              <a:rPr lang="fr-MA" sz="1400" dirty="0"/>
              <a:t>États (normal, </a:t>
            </a:r>
            <a:r>
              <a:rPr lang="fr-MA" sz="1400" dirty="0" err="1"/>
              <a:t>hover</a:t>
            </a:r>
            <a:r>
              <a:rPr lang="fr-MA" sz="1400" dirty="0"/>
              <a:t>, erreur...)</a:t>
            </a:r>
          </a:p>
          <a:p>
            <a:pPr marL="285750" indent="-285750">
              <a:buFont typeface="Arial" panose="020B0604020202020204" pitchFamily="34" charset="0"/>
              <a:buChar char="•"/>
            </a:pPr>
            <a:r>
              <a:rPr lang="fr-MA" sz="1400" dirty="0"/>
              <a:t>Annotations fonctionnelles</a:t>
            </a:r>
          </a:p>
          <a:p>
            <a:pPr algn="l"/>
            <a:r>
              <a:rPr lang="fr-MA" sz="1400" dirty="0">
                <a:solidFill>
                  <a:schemeClr val="tx2"/>
                </a:solidFill>
              </a:rPr>
              <a:t> </a:t>
            </a:r>
            <a:endParaRPr lang="fr-MA" sz="1600" dirty="0"/>
          </a:p>
          <a:p>
            <a:pPr algn="l"/>
            <a:endParaRPr lang="fr-FR" sz="1600" dirty="0"/>
          </a:p>
        </p:txBody>
      </p:sp>
    </p:spTree>
    <p:extLst>
      <p:ext uri="{BB962C8B-B14F-4D97-AF65-F5344CB8AC3E}">
        <p14:creationId xmlns:p14="http://schemas.microsoft.com/office/powerpoint/2010/main" val="24656301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03162-05C1-8A55-2EFA-79B110D0BC1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AE8CC54-B1C4-6BF0-9AEF-59A209B28008}"/>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4" name="ZoneTexte 3">
            <a:extLst>
              <a:ext uri="{FF2B5EF4-FFF2-40B4-BE49-F238E27FC236}">
                <a16:creationId xmlns:a16="http://schemas.microsoft.com/office/drawing/2014/main" id="{3B2BED03-4D43-9AC8-18CF-11344F59729E}"/>
              </a:ext>
            </a:extLst>
          </p:cNvPr>
          <p:cNvSpPr txBox="1"/>
          <p:nvPr/>
        </p:nvSpPr>
        <p:spPr>
          <a:xfrm>
            <a:off x="507998" y="1810078"/>
            <a:ext cx="6096000" cy="2277547"/>
          </a:xfrm>
          <a:prstGeom prst="rect">
            <a:avLst/>
          </a:prstGeom>
          <a:noFill/>
        </p:spPr>
        <p:txBody>
          <a:bodyPr wrap="square">
            <a:spAutoFit/>
          </a:bodyPr>
          <a:lstStyle/>
          <a:p>
            <a:r>
              <a:rPr lang="fr-MA" sz="1400" dirty="0">
                <a:solidFill>
                  <a:schemeClr val="tx2"/>
                </a:solidFill>
              </a:rPr>
              <a:t>L2.4 </a:t>
            </a:r>
            <a:r>
              <a:rPr lang="fr-FR" sz="1400" dirty="0" err="1">
                <a:solidFill>
                  <a:schemeClr val="tx2"/>
                </a:solidFill>
              </a:rPr>
              <a:t>Backlog</a:t>
            </a:r>
            <a:r>
              <a:rPr lang="fr-FR" sz="1400" dirty="0">
                <a:solidFill>
                  <a:schemeClr val="tx2"/>
                </a:solidFill>
              </a:rPr>
              <a:t> Produit Priorisé</a:t>
            </a:r>
            <a:endParaRPr lang="fr-MA" sz="1400" dirty="0">
              <a:solidFill>
                <a:schemeClr val="tx2"/>
              </a:solidFill>
            </a:endParaRPr>
          </a:p>
          <a:p>
            <a:pPr algn="l"/>
            <a:endParaRPr lang="fr-MA" sz="1400" dirty="0">
              <a:solidFill>
                <a:schemeClr val="tx2"/>
              </a:solidFill>
            </a:endParaRPr>
          </a:p>
          <a:p>
            <a:r>
              <a:rPr lang="fr-MA" sz="1400" b="1" dirty="0"/>
              <a:t>Epic: [Nom de l'Epic]</a:t>
            </a:r>
          </a:p>
          <a:p>
            <a:r>
              <a:rPr lang="fr-MA" sz="1400" b="1" dirty="0"/>
              <a:t>  User Story 1: En tant que [rôle], je veux [action] afin de [bénéfice]</a:t>
            </a:r>
          </a:p>
          <a:p>
            <a:r>
              <a:rPr lang="fr-MA" sz="1400" b="1" dirty="0"/>
              <a:t>    - Critères d'acceptation</a:t>
            </a:r>
          </a:p>
          <a:p>
            <a:r>
              <a:rPr lang="fr-MA" sz="1400" b="1" dirty="0"/>
              <a:t>    - Estimation (points)</a:t>
            </a:r>
          </a:p>
          <a:p>
            <a:r>
              <a:rPr lang="fr-MA" sz="1400" b="1" dirty="0"/>
              <a:t>    - Priorité (</a:t>
            </a:r>
            <a:r>
              <a:rPr lang="fr-MA" sz="1400" b="1" dirty="0" err="1"/>
              <a:t>MoSCoW</a:t>
            </a:r>
            <a:r>
              <a:rPr lang="fr-MA" sz="1400" b="1" dirty="0"/>
              <a:t>)</a:t>
            </a:r>
          </a:p>
          <a:p>
            <a:r>
              <a:rPr lang="fr-MA" sz="1400" b="1" dirty="0"/>
              <a:t>    - Dépendances</a:t>
            </a:r>
          </a:p>
          <a:p>
            <a:r>
              <a:rPr lang="fr-MA" sz="1400" b="1" dirty="0"/>
              <a:t>  User Story 2: ...</a:t>
            </a:r>
            <a:r>
              <a:rPr lang="fr-MA" sz="1400" dirty="0">
                <a:solidFill>
                  <a:schemeClr val="tx2"/>
                </a:solidFill>
              </a:rPr>
              <a:t> </a:t>
            </a:r>
            <a:endParaRPr lang="fr-MA" sz="1600" dirty="0"/>
          </a:p>
          <a:p>
            <a:pPr algn="l"/>
            <a:endParaRPr lang="fr-FR" sz="1600" dirty="0"/>
          </a:p>
        </p:txBody>
      </p:sp>
    </p:spTree>
    <p:extLst>
      <p:ext uri="{BB962C8B-B14F-4D97-AF65-F5344CB8AC3E}">
        <p14:creationId xmlns:p14="http://schemas.microsoft.com/office/powerpoint/2010/main" val="40761564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28300-AED9-4EF5-0766-1F188E738DD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F07948E-45D1-CEC9-F6E7-9C62516FB55C}"/>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3" name="Espace réservé du texte 2">
            <a:extLst>
              <a:ext uri="{FF2B5EF4-FFF2-40B4-BE49-F238E27FC236}">
                <a16:creationId xmlns:a16="http://schemas.microsoft.com/office/drawing/2014/main" id="{09F94E4C-A502-02DD-1B67-35FD51B13F31}"/>
              </a:ext>
            </a:extLst>
          </p:cNvPr>
          <p:cNvSpPr>
            <a:spLocks noGrp="1"/>
          </p:cNvSpPr>
          <p:nvPr>
            <p:ph type="body" idx="1"/>
          </p:nvPr>
        </p:nvSpPr>
        <p:spPr>
          <a:xfrm>
            <a:off x="145311" y="2137578"/>
            <a:ext cx="4207732" cy="4491823"/>
          </a:xfrm>
        </p:spPr>
        <p:txBody>
          <a:bodyPr>
            <a:normAutofit fontScale="70000" lnSpcReduction="20000"/>
          </a:bodyPr>
          <a:lstStyle/>
          <a:p>
            <a:pPr algn="l"/>
            <a:r>
              <a:rPr lang="fr-MA" sz="2000" b="1" dirty="0"/>
              <a:t>PHASE 3 : Développement</a:t>
            </a:r>
          </a:p>
          <a:p>
            <a:pPr algn="l"/>
            <a:endParaRPr lang="fr-MA" sz="2000" b="1" dirty="0"/>
          </a:p>
          <a:p>
            <a:pPr algn="l"/>
            <a:r>
              <a:rPr lang="fr-MA" sz="2000" b="1" dirty="0"/>
              <a:t>Objectifs</a:t>
            </a:r>
          </a:p>
          <a:p>
            <a:pPr marL="342900" indent="-342900" algn="l">
              <a:buFont typeface="Arial" panose="020B0604020202020204" pitchFamily="34" charset="0"/>
              <a:buChar char="•"/>
            </a:pPr>
            <a:r>
              <a:rPr lang="fr-MA" sz="2000" dirty="0"/>
              <a:t>Construire la solution</a:t>
            </a:r>
          </a:p>
          <a:p>
            <a:pPr marL="342900" indent="-342900" algn="l">
              <a:buFont typeface="Arial" panose="020B0604020202020204" pitchFamily="34" charset="0"/>
              <a:buChar char="•"/>
            </a:pPr>
            <a:r>
              <a:rPr lang="fr-MA" sz="2000" dirty="0"/>
              <a:t>Réaliser les développements</a:t>
            </a:r>
          </a:p>
          <a:p>
            <a:pPr marL="342900" indent="-342900" algn="l">
              <a:buFont typeface="Arial" panose="020B0604020202020204" pitchFamily="34" charset="0"/>
              <a:buChar char="•"/>
            </a:pPr>
            <a:r>
              <a:rPr lang="fr-MA" sz="2000" dirty="0"/>
              <a:t>Documenter le code</a:t>
            </a:r>
          </a:p>
          <a:p>
            <a:pPr marL="342900" indent="-342900" algn="l">
              <a:buFont typeface="Arial" panose="020B0604020202020204" pitchFamily="34" charset="0"/>
              <a:buChar char="•"/>
            </a:pPr>
            <a:r>
              <a:rPr lang="fr-MA" sz="2000" dirty="0"/>
              <a:t>Effectuer tests unitaires</a:t>
            </a:r>
          </a:p>
          <a:p>
            <a:pPr marL="342900" indent="-342900" algn="l">
              <a:buFont typeface="Arial" panose="020B0604020202020204" pitchFamily="34" charset="0"/>
              <a:buChar char="•"/>
            </a:pPr>
            <a:endParaRPr lang="fr-MA" sz="2000" dirty="0"/>
          </a:p>
          <a:p>
            <a:pPr algn="l"/>
            <a:r>
              <a:rPr lang="fr-MA" sz="2000" b="1" dirty="0"/>
              <a:t>Activités détaillées</a:t>
            </a:r>
          </a:p>
          <a:p>
            <a:pPr algn="l"/>
            <a:r>
              <a:rPr lang="fr-MA" sz="2000" b="1" dirty="0"/>
              <a:t>3.1 Préparation de l'environnement</a:t>
            </a:r>
          </a:p>
          <a:p>
            <a:pPr marL="342900" indent="-342900" algn="l">
              <a:buFont typeface="Arial" panose="020B0604020202020204" pitchFamily="34" charset="0"/>
              <a:buChar char="•"/>
            </a:pPr>
            <a:r>
              <a:rPr lang="fr-MA" sz="2000" dirty="0"/>
              <a:t>Setup environnement de développement</a:t>
            </a:r>
          </a:p>
          <a:p>
            <a:pPr marL="342900" indent="-342900" algn="l">
              <a:buFont typeface="Arial" panose="020B0604020202020204" pitchFamily="34" charset="0"/>
              <a:buChar char="•"/>
            </a:pPr>
            <a:r>
              <a:rPr lang="fr-MA" sz="2000" dirty="0"/>
              <a:t>Mise en place des outils (Git, CI/CD)</a:t>
            </a:r>
          </a:p>
          <a:p>
            <a:pPr marL="342900" indent="-342900" algn="l">
              <a:buFont typeface="Arial" panose="020B0604020202020204" pitchFamily="34" charset="0"/>
              <a:buChar char="•"/>
            </a:pPr>
            <a:r>
              <a:rPr lang="fr-MA" sz="2000" dirty="0"/>
              <a:t>Configuration des serveurs</a:t>
            </a:r>
          </a:p>
          <a:p>
            <a:pPr marL="342900" indent="-342900" algn="l">
              <a:buFont typeface="Arial" panose="020B0604020202020204" pitchFamily="34" charset="0"/>
              <a:buChar char="•"/>
            </a:pPr>
            <a:r>
              <a:rPr lang="fr-MA" sz="2000" dirty="0"/>
              <a:t>Base de données</a:t>
            </a:r>
          </a:p>
          <a:p>
            <a:pPr algn="l"/>
            <a:r>
              <a:rPr lang="fr-MA" sz="2000" b="1" dirty="0"/>
              <a:t>3.2 Développement itératif</a:t>
            </a:r>
          </a:p>
          <a:p>
            <a:pPr marL="342900" indent="-342900" algn="l">
              <a:buFont typeface="Arial" panose="020B0604020202020204" pitchFamily="34" charset="0"/>
              <a:buChar char="•"/>
            </a:pPr>
            <a:r>
              <a:rPr lang="fr-MA" sz="2000" dirty="0"/>
              <a:t>Sprints (en Agile) ou lots (en cycle en V)</a:t>
            </a:r>
          </a:p>
          <a:p>
            <a:pPr marL="342900" indent="-342900" algn="l">
              <a:buFont typeface="Arial" panose="020B0604020202020204" pitchFamily="34" charset="0"/>
              <a:buChar char="•"/>
            </a:pPr>
            <a:r>
              <a:rPr lang="fr-MA" sz="2000" dirty="0"/>
              <a:t>Daily meetings</a:t>
            </a:r>
          </a:p>
          <a:p>
            <a:pPr marL="342900" indent="-342900" algn="l">
              <a:buFont typeface="Arial" panose="020B0604020202020204" pitchFamily="34" charset="0"/>
              <a:buChar char="•"/>
            </a:pPr>
            <a:r>
              <a:rPr lang="fr-MA" sz="2000" dirty="0"/>
              <a:t>Revues de code (code </a:t>
            </a:r>
            <a:r>
              <a:rPr lang="fr-MA" sz="2000" dirty="0" err="1"/>
              <a:t>reviews</a:t>
            </a:r>
            <a:r>
              <a:rPr lang="fr-MA" sz="2000" dirty="0"/>
              <a:t>)</a:t>
            </a:r>
          </a:p>
          <a:p>
            <a:pPr marL="342900" indent="-342900" algn="l">
              <a:buFont typeface="Arial" panose="020B0604020202020204" pitchFamily="34" charset="0"/>
              <a:buChar char="•"/>
            </a:pPr>
            <a:r>
              <a:rPr lang="fr-MA" sz="2000" dirty="0"/>
              <a:t>Intégration continue</a:t>
            </a:r>
          </a:p>
          <a:p>
            <a:pPr marL="342900" indent="-342900" algn="l">
              <a:buFont typeface="Arial" panose="020B0604020202020204" pitchFamily="34" charset="0"/>
              <a:buChar char="•"/>
            </a:pPr>
            <a:r>
              <a:rPr lang="fr-MA" sz="2000" dirty="0"/>
              <a:t>Tests unitaires</a:t>
            </a:r>
          </a:p>
          <a:p>
            <a:pPr algn="l"/>
            <a:endParaRPr lang="fr-FR" dirty="0"/>
          </a:p>
        </p:txBody>
      </p:sp>
      <p:sp>
        <p:nvSpPr>
          <p:cNvPr id="5" name="ZoneTexte 4">
            <a:extLst>
              <a:ext uri="{FF2B5EF4-FFF2-40B4-BE49-F238E27FC236}">
                <a16:creationId xmlns:a16="http://schemas.microsoft.com/office/drawing/2014/main" id="{790EF0D8-5567-4F48-A6FD-E347BC04485B}"/>
              </a:ext>
            </a:extLst>
          </p:cNvPr>
          <p:cNvSpPr txBox="1"/>
          <p:nvPr/>
        </p:nvSpPr>
        <p:spPr>
          <a:xfrm>
            <a:off x="4681464" y="2029484"/>
            <a:ext cx="3582162" cy="2785378"/>
          </a:xfrm>
          <a:prstGeom prst="rect">
            <a:avLst/>
          </a:prstGeom>
          <a:noFill/>
        </p:spPr>
        <p:txBody>
          <a:bodyPr wrap="square">
            <a:spAutoFit/>
          </a:bodyPr>
          <a:lstStyle/>
          <a:p>
            <a:r>
              <a:rPr lang="fr-MA" sz="1400" b="1" dirty="0">
                <a:solidFill>
                  <a:schemeClr val="tx2"/>
                </a:solidFill>
              </a:rPr>
              <a:t>3.3 Documentation technique</a:t>
            </a:r>
          </a:p>
          <a:p>
            <a:pPr marL="285750" indent="-285750">
              <a:buFont typeface="Arial" panose="020B0604020202020204" pitchFamily="34" charset="0"/>
              <a:buChar char="•"/>
            </a:pPr>
            <a:r>
              <a:rPr lang="fr-MA" sz="1400" b="1" dirty="0">
                <a:solidFill>
                  <a:schemeClr val="tx2"/>
                </a:solidFill>
              </a:rPr>
              <a:t>Documentation du code</a:t>
            </a:r>
          </a:p>
          <a:p>
            <a:pPr marL="285750" indent="-285750">
              <a:buFont typeface="Arial" panose="020B0604020202020204" pitchFamily="34" charset="0"/>
              <a:buChar char="•"/>
            </a:pPr>
            <a:r>
              <a:rPr lang="fr-MA" sz="1400" b="1" dirty="0">
                <a:solidFill>
                  <a:schemeClr val="tx2"/>
                </a:solidFill>
              </a:rPr>
              <a:t>Guide d'installation</a:t>
            </a:r>
          </a:p>
          <a:p>
            <a:pPr marL="285750" indent="-285750">
              <a:buFont typeface="Arial" panose="020B0604020202020204" pitchFamily="34" charset="0"/>
              <a:buChar char="•"/>
            </a:pPr>
            <a:r>
              <a:rPr lang="fr-MA" sz="1400" b="1" dirty="0">
                <a:solidFill>
                  <a:schemeClr val="tx2"/>
                </a:solidFill>
              </a:rPr>
              <a:t>Documentation API</a:t>
            </a:r>
          </a:p>
          <a:p>
            <a:pPr marL="285750" indent="-285750">
              <a:buFont typeface="Arial" panose="020B0604020202020204" pitchFamily="34" charset="0"/>
              <a:buChar char="•"/>
            </a:pPr>
            <a:r>
              <a:rPr lang="fr-MA" sz="1400" b="1" dirty="0">
                <a:solidFill>
                  <a:schemeClr val="tx2"/>
                </a:solidFill>
              </a:rPr>
              <a:t>Procédures de déploiement</a:t>
            </a:r>
          </a:p>
          <a:p>
            <a:pPr marL="285750" indent="-285750">
              <a:buFont typeface="Arial" panose="020B0604020202020204" pitchFamily="34" charset="0"/>
              <a:buChar char="•"/>
            </a:pPr>
            <a:endParaRPr lang="fr-MA" sz="1400" b="1" dirty="0">
              <a:solidFill>
                <a:schemeClr val="tx2"/>
              </a:solidFill>
            </a:endParaRPr>
          </a:p>
          <a:p>
            <a:r>
              <a:rPr lang="fr-MA" sz="1400" b="1" dirty="0">
                <a:solidFill>
                  <a:schemeClr val="tx2"/>
                </a:solidFill>
              </a:rPr>
              <a:t>3.4 Gestion de version</a:t>
            </a:r>
          </a:p>
          <a:p>
            <a:pPr marL="285750" indent="-285750">
              <a:buFont typeface="Arial" panose="020B0604020202020204" pitchFamily="34" charset="0"/>
              <a:buChar char="•"/>
            </a:pPr>
            <a:r>
              <a:rPr lang="fr-MA" sz="1400" b="1" dirty="0">
                <a:solidFill>
                  <a:schemeClr val="tx2"/>
                </a:solidFill>
              </a:rPr>
              <a:t>Git workflow (</a:t>
            </a:r>
            <a:r>
              <a:rPr lang="fr-MA" sz="1400" b="1" dirty="0" err="1">
                <a:solidFill>
                  <a:schemeClr val="tx2"/>
                </a:solidFill>
              </a:rPr>
              <a:t>feature</a:t>
            </a:r>
            <a:r>
              <a:rPr lang="fr-MA" sz="1400" b="1" dirty="0">
                <a:solidFill>
                  <a:schemeClr val="tx2"/>
                </a:solidFill>
              </a:rPr>
              <a:t> branches)</a:t>
            </a:r>
          </a:p>
          <a:p>
            <a:pPr marL="285750" indent="-285750">
              <a:buFont typeface="Arial" panose="020B0604020202020204" pitchFamily="34" charset="0"/>
              <a:buChar char="•"/>
            </a:pPr>
            <a:r>
              <a:rPr lang="fr-MA" sz="1400" b="1" dirty="0">
                <a:solidFill>
                  <a:schemeClr val="tx2"/>
                </a:solidFill>
              </a:rPr>
              <a:t>Versioning sémantique</a:t>
            </a:r>
          </a:p>
          <a:p>
            <a:pPr marL="285750" indent="-285750">
              <a:buFont typeface="Arial" panose="020B0604020202020204" pitchFamily="34" charset="0"/>
              <a:buChar char="•"/>
            </a:pPr>
            <a:r>
              <a:rPr lang="fr-MA" sz="1400" b="1" dirty="0">
                <a:solidFill>
                  <a:schemeClr val="tx2"/>
                </a:solidFill>
              </a:rPr>
              <a:t>Release notes</a:t>
            </a:r>
          </a:p>
          <a:p>
            <a:pPr marL="285750" indent="-285750">
              <a:buFont typeface="Arial" panose="020B0604020202020204" pitchFamily="34" charset="0"/>
              <a:buChar char="•"/>
            </a:pPr>
            <a:endParaRPr lang="fr-MA" sz="1600" dirty="0">
              <a:solidFill>
                <a:schemeClr val="tx2"/>
              </a:solidFill>
            </a:endParaRPr>
          </a:p>
          <a:p>
            <a:pPr marL="342900" indent="-342900" algn="l">
              <a:buFont typeface="Arial" panose="020B0604020202020204" pitchFamily="34" charset="0"/>
              <a:buChar char="•"/>
            </a:pPr>
            <a:endParaRPr lang="fr-MA" sz="1900" dirty="0">
              <a:solidFill>
                <a:schemeClr val="tx2"/>
              </a:solidFill>
            </a:endParaRPr>
          </a:p>
        </p:txBody>
      </p:sp>
      <p:sp>
        <p:nvSpPr>
          <p:cNvPr id="7" name="ZoneTexte 6">
            <a:extLst>
              <a:ext uri="{FF2B5EF4-FFF2-40B4-BE49-F238E27FC236}">
                <a16:creationId xmlns:a16="http://schemas.microsoft.com/office/drawing/2014/main" id="{29429CA0-EDDA-CD4B-06BD-768B52EF14AA}"/>
              </a:ext>
            </a:extLst>
          </p:cNvPr>
          <p:cNvSpPr txBox="1"/>
          <p:nvPr/>
        </p:nvSpPr>
        <p:spPr>
          <a:xfrm>
            <a:off x="8464528" y="1752486"/>
            <a:ext cx="3582162" cy="2277547"/>
          </a:xfrm>
          <a:prstGeom prst="rect">
            <a:avLst/>
          </a:prstGeom>
          <a:noFill/>
        </p:spPr>
        <p:txBody>
          <a:bodyPr wrap="square">
            <a:spAutoFit/>
          </a:bodyPr>
          <a:lstStyle/>
          <a:p>
            <a:pPr algn="l"/>
            <a:endParaRPr lang="fr-MA" sz="1800" dirty="0">
              <a:solidFill>
                <a:schemeClr val="tx2"/>
              </a:solidFill>
            </a:endParaRPr>
          </a:p>
          <a:p>
            <a:r>
              <a:rPr lang="fr-FR" dirty="0">
                <a:highlight>
                  <a:srgbClr val="FFFF00"/>
                </a:highlight>
              </a:rPr>
              <a:t>Livrables Phase 3</a:t>
            </a:r>
          </a:p>
          <a:p>
            <a:r>
              <a:rPr lang="fr-FR" sz="1600" dirty="0"/>
              <a:t>L3.1 Code Source</a:t>
            </a:r>
          </a:p>
          <a:p>
            <a:endParaRPr lang="fr-MA" dirty="0"/>
          </a:p>
          <a:p>
            <a:r>
              <a:rPr lang="fr-MA" dirty="0"/>
              <a:t>L3.2 Documentation Technique du Code</a:t>
            </a:r>
          </a:p>
          <a:p>
            <a:endParaRPr lang="fr-MA" dirty="0"/>
          </a:p>
          <a:p>
            <a:r>
              <a:rPr lang="fr-MA" dirty="0"/>
              <a:t>L3.3 Logs de Sprints (pour Agile)</a:t>
            </a:r>
          </a:p>
        </p:txBody>
      </p:sp>
      <p:cxnSp>
        <p:nvCxnSpPr>
          <p:cNvPr id="9" name="Connecteur droit 8">
            <a:extLst>
              <a:ext uri="{FF2B5EF4-FFF2-40B4-BE49-F238E27FC236}">
                <a16:creationId xmlns:a16="http://schemas.microsoft.com/office/drawing/2014/main" id="{D28D93BE-FDFE-FFAB-A5E2-EABDB443FF09}"/>
              </a:ext>
            </a:extLst>
          </p:cNvPr>
          <p:cNvCxnSpPr/>
          <p:nvPr/>
        </p:nvCxnSpPr>
        <p:spPr>
          <a:xfrm>
            <a:off x="4480560" y="2029485"/>
            <a:ext cx="0" cy="4389603"/>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25C75AEF-3005-4A08-AAB4-F83BC9576026}"/>
              </a:ext>
            </a:extLst>
          </p:cNvPr>
          <p:cNvCxnSpPr/>
          <p:nvPr/>
        </p:nvCxnSpPr>
        <p:spPr>
          <a:xfrm>
            <a:off x="8391144" y="2029484"/>
            <a:ext cx="0" cy="4389603"/>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8685627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5F25F-C597-D1B8-4C43-68D66B7061C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665EE8F-E17B-1720-283E-73C3BDACFC88}"/>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4" name="ZoneTexte 3">
            <a:extLst>
              <a:ext uri="{FF2B5EF4-FFF2-40B4-BE49-F238E27FC236}">
                <a16:creationId xmlns:a16="http://schemas.microsoft.com/office/drawing/2014/main" id="{0812F4E7-B049-1CAC-7F84-49FA9E5C6B4F}"/>
              </a:ext>
            </a:extLst>
          </p:cNvPr>
          <p:cNvSpPr txBox="1"/>
          <p:nvPr/>
        </p:nvSpPr>
        <p:spPr>
          <a:xfrm>
            <a:off x="507998" y="1810078"/>
            <a:ext cx="6096000" cy="3754874"/>
          </a:xfrm>
          <a:prstGeom prst="rect">
            <a:avLst/>
          </a:prstGeom>
          <a:noFill/>
        </p:spPr>
        <p:txBody>
          <a:bodyPr wrap="square">
            <a:spAutoFit/>
          </a:bodyPr>
          <a:lstStyle/>
          <a:p>
            <a:r>
              <a:rPr lang="fr-MA" sz="1400" dirty="0">
                <a:solidFill>
                  <a:schemeClr val="tx2"/>
                </a:solidFill>
              </a:rPr>
              <a:t>L3;1 </a:t>
            </a:r>
            <a:r>
              <a:rPr lang="fr-FR" sz="1400" dirty="0">
                <a:solidFill>
                  <a:schemeClr val="tx2"/>
                </a:solidFill>
              </a:rPr>
              <a:t>Arborescence Du code source</a:t>
            </a:r>
            <a:endParaRPr lang="fr-MA" sz="1400" dirty="0">
              <a:solidFill>
                <a:schemeClr val="tx2"/>
              </a:solidFill>
            </a:endParaRPr>
          </a:p>
          <a:p>
            <a:pPr algn="l"/>
            <a:endParaRPr lang="fr-MA" sz="1400" dirty="0">
              <a:solidFill>
                <a:schemeClr val="tx2"/>
              </a:solidFill>
            </a:endParaRPr>
          </a:p>
          <a:p>
            <a:r>
              <a:rPr lang="fr-MA" sz="1400" b="1" dirty="0"/>
              <a:t>/projet</a:t>
            </a:r>
          </a:p>
          <a:p>
            <a:r>
              <a:rPr lang="fr-MA" sz="1400" b="1" dirty="0"/>
              <a:t>  /frontend</a:t>
            </a:r>
          </a:p>
          <a:p>
            <a:r>
              <a:rPr lang="fr-MA" sz="1400" b="1" dirty="0"/>
              <a:t>    /src</a:t>
            </a:r>
          </a:p>
          <a:p>
            <a:r>
              <a:rPr lang="fr-MA" sz="1400" b="1" dirty="0"/>
              <a:t>    /tests</a:t>
            </a:r>
          </a:p>
          <a:p>
            <a:r>
              <a:rPr lang="fr-MA" sz="1400" b="1" dirty="0"/>
              <a:t>    README.md</a:t>
            </a:r>
          </a:p>
          <a:p>
            <a:r>
              <a:rPr lang="fr-MA" sz="1400" b="1" dirty="0"/>
              <a:t>  /backend</a:t>
            </a:r>
          </a:p>
          <a:p>
            <a:r>
              <a:rPr lang="fr-MA" sz="1400" b="1" dirty="0"/>
              <a:t>    /api</a:t>
            </a:r>
          </a:p>
          <a:p>
            <a:r>
              <a:rPr lang="fr-MA" sz="1400" b="1" dirty="0"/>
              <a:t>    /</a:t>
            </a:r>
            <a:r>
              <a:rPr lang="fr-MA" sz="1400" b="1" dirty="0" err="1"/>
              <a:t>models</a:t>
            </a:r>
            <a:endParaRPr lang="fr-MA" sz="1400" b="1" dirty="0"/>
          </a:p>
          <a:p>
            <a:r>
              <a:rPr lang="fr-MA" sz="1400" b="1" dirty="0"/>
              <a:t>    /tests</a:t>
            </a:r>
          </a:p>
          <a:p>
            <a:r>
              <a:rPr lang="fr-MA" sz="1400" b="1" dirty="0"/>
              <a:t>    README.md</a:t>
            </a:r>
          </a:p>
          <a:p>
            <a:r>
              <a:rPr lang="fr-MA" sz="1400" b="1" dirty="0"/>
              <a:t>  /</a:t>
            </a:r>
            <a:r>
              <a:rPr lang="fr-MA" sz="1400" b="1" dirty="0" err="1"/>
              <a:t>database</a:t>
            </a:r>
            <a:endParaRPr lang="fr-MA" sz="1400" b="1" dirty="0"/>
          </a:p>
          <a:p>
            <a:r>
              <a:rPr lang="fr-MA" sz="1400" b="1" dirty="0"/>
              <a:t>    /migrations</a:t>
            </a:r>
          </a:p>
          <a:p>
            <a:r>
              <a:rPr lang="fr-MA" sz="1400" b="1" dirty="0"/>
              <a:t>    /</a:t>
            </a:r>
            <a:r>
              <a:rPr lang="fr-MA" sz="1400" b="1" dirty="0" err="1"/>
              <a:t>seeds</a:t>
            </a:r>
            <a:endParaRPr lang="fr-MA" sz="1400" b="1" dirty="0"/>
          </a:p>
          <a:p>
            <a:r>
              <a:rPr lang="fr-MA" sz="1400" b="1" dirty="0"/>
              <a:t>  /docs</a:t>
            </a:r>
          </a:p>
          <a:p>
            <a:r>
              <a:rPr lang="fr-MA" sz="1400" b="1" dirty="0"/>
              <a:t>README.md</a:t>
            </a:r>
            <a:endParaRPr lang="fr-FR" sz="1600" dirty="0"/>
          </a:p>
        </p:txBody>
      </p:sp>
      <p:sp>
        <p:nvSpPr>
          <p:cNvPr id="5" name="ZoneTexte 4">
            <a:extLst>
              <a:ext uri="{FF2B5EF4-FFF2-40B4-BE49-F238E27FC236}">
                <a16:creationId xmlns:a16="http://schemas.microsoft.com/office/drawing/2014/main" id="{22E4145E-D473-41E5-E52F-255F80513572}"/>
              </a:ext>
            </a:extLst>
          </p:cNvPr>
          <p:cNvSpPr txBox="1"/>
          <p:nvPr/>
        </p:nvSpPr>
        <p:spPr>
          <a:xfrm>
            <a:off x="5046134" y="3558169"/>
            <a:ext cx="6096000" cy="1477328"/>
          </a:xfrm>
          <a:prstGeom prst="rect">
            <a:avLst/>
          </a:prstGeom>
          <a:noFill/>
        </p:spPr>
        <p:txBody>
          <a:bodyPr wrap="square">
            <a:spAutoFit/>
          </a:bodyPr>
          <a:lstStyle/>
          <a:p>
            <a:pPr>
              <a:buNone/>
            </a:pPr>
            <a:r>
              <a:rPr lang="fr-MA" b="1" dirty="0"/>
              <a:t>RESPECTEZ les Bonnes pratiques :</a:t>
            </a:r>
            <a:endParaRPr lang="fr-MA" dirty="0"/>
          </a:p>
          <a:p>
            <a:pPr>
              <a:buFont typeface="Arial" panose="020B0604020202020204" pitchFamily="34" charset="0"/>
              <a:buChar char="•"/>
            </a:pPr>
            <a:r>
              <a:rPr lang="fr-MA" dirty="0"/>
              <a:t> Code commenté</a:t>
            </a:r>
          </a:p>
          <a:p>
            <a:pPr>
              <a:buFont typeface="Arial" panose="020B0604020202020204" pitchFamily="34" charset="0"/>
              <a:buChar char="•"/>
            </a:pPr>
            <a:r>
              <a:rPr lang="fr-MA" dirty="0"/>
              <a:t> Conventions de nommage respectées</a:t>
            </a:r>
          </a:p>
          <a:p>
            <a:pPr>
              <a:buFont typeface="Arial" panose="020B0604020202020204" pitchFamily="34" charset="0"/>
              <a:buChar char="•"/>
            </a:pPr>
            <a:r>
              <a:rPr lang="fr-MA" dirty="0"/>
              <a:t> Architecture modulaire</a:t>
            </a:r>
          </a:p>
          <a:p>
            <a:pPr>
              <a:buFont typeface="Arial" panose="020B0604020202020204" pitchFamily="34" charset="0"/>
              <a:buChar char="•"/>
            </a:pPr>
            <a:r>
              <a:rPr lang="fr-MA" dirty="0"/>
              <a:t> Code </a:t>
            </a:r>
            <a:r>
              <a:rPr lang="fr-MA" dirty="0" err="1"/>
              <a:t>review</a:t>
            </a:r>
            <a:r>
              <a:rPr lang="fr-MA" dirty="0"/>
              <a:t> effectué</a:t>
            </a:r>
          </a:p>
        </p:txBody>
      </p:sp>
    </p:spTree>
    <p:extLst>
      <p:ext uri="{BB962C8B-B14F-4D97-AF65-F5344CB8AC3E}">
        <p14:creationId xmlns:p14="http://schemas.microsoft.com/office/powerpoint/2010/main" val="19531856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1E059-1AF6-54A7-D8B7-B9802A60A8F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A7EE341-9597-2F35-3FEE-B781F1D13721}"/>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4" name="ZoneTexte 3">
            <a:extLst>
              <a:ext uri="{FF2B5EF4-FFF2-40B4-BE49-F238E27FC236}">
                <a16:creationId xmlns:a16="http://schemas.microsoft.com/office/drawing/2014/main" id="{07BE72F8-3563-4DF9-D61F-951A30331F6E}"/>
              </a:ext>
            </a:extLst>
          </p:cNvPr>
          <p:cNvSpPr txBox="1"/>
          <p:nvPr/>
        </p:nvSpPr>
        <p:spPr>
          <a:xfrm>
            <a:off x="507998" y="1810078"/>
            <a:ext cx="6096000" cy="4862870"/>
          </a:xfrm>
          <a:prstGeom prst="rect">
            <a:avLst/>
          </a:prstGeom>
          <a:noFill/>
        </p:spPr>
        <p:txBody>
          <a:bodyPr wrap="square">
            <a:spAutoFit/>
          </a:bodyPr>
          <a:lstStyle/>
          <a:p>
            <a:r>
              <a:rPr lang="fr-MA" sz="1400" dirty="0"/>
              <a:t>L3.2 Documentation Technique du Code</a:t>
            </a:r>
          </a:p>
          <a:p>
            <a:endParaRPr lang="fr-MA" sz="1400" b="1" dirty="0"/>
          </a:p>
          <a:p>
            <a:r>
              <a:rPr lang="fr-MA" sz="1400" b="1" dirty="0"/>
              <a:t>1. GUIDE D'INSTALLATION</a:t>
            </a:r>
          </a:p>
          <a:p>
            <a:r>
              <a:rPr lang="fr-MA" sz="1400" b="1" dirty="0"/>
              <a:t>   - Prérequis</a:t>
            </a:r>
          </a:p>
          <a:p>
            <a:r>
              <a:rPr lang="fr-MA" sz="1400" b="1" dirty="0"/>
              <a:t>   - Installation étape par étape</a:t>
            </a:r>
          </a:p>
          <a:p>
            <a:r>
              <a:rPr lang="fr-MA" sz="1400" b="1" dirty="0"/>
              <a:t>   - Configuration</a:t>
            </a:r>
          </a:p>
          <a:p>
            <a:r>
              <a:rPr lang="fr-MA" sz="1400" b="1" dirty="0"/>
              <a:t>   - Dépannage</a:t>
            </a:r>
          </a:p>
          <a:p>
            <a:endParaRPr lang="fr-MA" sz="1400" b="1" dirty="0"/>
          </a:p>
          <a:p>
            <a:r>
              <a:rPr lang="fr-MA" sz="1400" b="1" dirty="0"/>
              <a:t>2. ARCHITECTURE DU CODE</a:t>
            </a:r>
          </a:p>
          <a:p>
            <a:r>
              <a:rPr lang="fr-MA" sz="1400" b="1" dirty="0"/>
              <a:t>   - Structure des dossiers</a:t>
            </a:r>
          </a:p>
          <a:p>
            <a:r>
              <a:rPr lang="fr-MA" sz="1400" b="1" dirty="0"/>
              <a:t>   - Modules principaux</a:t>
            </a:r>
          </a:p>
          <a:p>
            <a:r>
              <a:rPr lang="fr-MA" sz="1400" b="1" dirty="0"/>
              <a:t>   - Patterns utilisés</a:t>
            </a:r>
          </a:p>
          <a:p>
            <a:r>
              <a:rPr lang="fr-MA" sz="1400" b="1" dirty="0"/>
              <a:t>   - Diagrammes de classes</a:t>
            </a:r>
          </a:p>
          <a:p>
            <a:endParaRPr lang="fr-MA" sz="1400" b="1" dirty="0"/>
          </a:p>
          <a:p>
            <a:r>
              <a:rPr lang="fr-MA" sz="1400" b="1" dirty="0"/>
              <a:t>3. DOCUMENTATION API</a:t>
            </a:r>
          </a:p>
          <a:p>
            <a:r>
              <a:rPr lang="fr-MA" sz="1400" b="1" dirty="0"/>
              <a:t>   - </a:t>
            </a:r>
            <a:r>
              <a:rPr lang="fr-MA" sz="1400" b="1" dirty="0" err="1"/>
              <a:t>Endpoints</a:t>
            </a:r>
            <a:endParaRPr lang="fr-MA" sz="1400" b="1" dirty="0"/>
          </a:p>
          <a:p>
            <a:r>
              <a:rPr lang="fr-MA" sz="1400" b="1" dirty="0"/>
              <a:t>   - Méthodes HTTP</a:t>
            </a:r>
          </a:p>
          <a:p>
            <a:r>
              <a:rPr lang="fr-MA" sz="1400" b="1" dirty="0"/>
              <a:t>   - Paramètres</a:t>
            </a:r>
          </a:p>
          <a:p>
            <a:r>
              <a:rPr lang="fr-MA" sz="1400" b="1" dirty="0"/>
              <a:t>   - Réponses</a:t>
            </a:r>
          </a:p>
          <a:p>
            <a:r>
              <a:rPr lang="fr-MA" sz="1400" b="1" dirty="0"/>
              <a:t>   - Exemples (</a:t>
            </a:r>
            <a:r>
              <a:rPr lang="fr-MA" sz="1400" b="1" dirty="0" err="1"/>
              <a:t>Swagger</a:t>
            </a:r>
            <a:r>
              <a:rPr lang="fr-MA" sz="1400" b="1" dirty="0"/>
              <a:t>/</a:t>
            </a:r>
            <a:r>
              <a:rPr lang="fr-MA" sz="1400" b="1" dirty="0" err="1"/>
              <a:t>OpenAPI</a:t>
            </a:r>
            <a:r>
              <a:rPr lang="fr-MA" sz="1400" b="1" dirty="0"/>
              <a:t>)</a:t>
            </a:r>
          </a:p>
          <a:p>
            <a:endParaRPr lang="fr-MA" sz="1400" b="1" dirty="0"/>
          </a:p>
          <a:p>
            <a:endParaRPr lang="fr-FR" sz="1600" dirty="0"/>
          </a:p>
        </p:txBody>
      </p:sp>
      <p:sp>
        <p:nvSpPr>
          <p:cNvPr id="6" name="ZoneTexte 5">
            <a:extLst>
              <a:ext uri="{FF2B5EF4-FFF2-40B4-BE49-F238E27FC236}">
                <a16:creationId xmlns:a16="http://schemas.microsoft.com/office/drawing/2014/main" id="{705AB76C-6576-C42B-ABE0-4228B608ED2D}"/>
              </a:ext>
            </a:extLst>
          </p:cNvPr>
          <p:cNvSpPr txBox="1"/>
          <p:nvPr/>
        </p:nvSpPr>
        <p:spPr>
          <a:xfrm>
            <a:off x="6603998" y="2257842"/>
            <a:ext cx="6096000" cy="4247317"/>
          </a:xfrm>
          <a:prstGeom prst="rect">
            <a:avLst/>
          </a:prstGeom>
          <a:noFill/>
        </p:spPr>
        <p:txBody>
          <a:bodyPr wrap="square">
            <a:spAutoFit/>
          </a:bodyPr>
          <a:lstStyle/>
          <a:p>
            <a:r>
              <a:rPr lang="fr-MA" sz="1800" b="1" dirty="0"/>
              <a:t>4. BASE DE DONNÉES</a:t>
            </a:r>
          </a:p>
          <a:p>
            <a:r>
              <a:rPr lang="fr-MA" sz="1800" b="1" dirty="0"/>
              <a:t>   - Schéma</a:t>
            </a:r>
          </a:p>
          <a:p>
            <a:r>
              <a:rPr lang="fr-MA" sz="1800" b="1" dirty="0"/>
              <a:t>   - Tables et relations</a:t>
            </a:r>
          </a:p>
          <a:p>
            <a:r>
              <a:rPr lang="fr-MA" sz="1800" b="1" dirty="0"/>
              <a:t>   - Scripts de migration</a:t>
            </a:r>
          </a:p>
          <a:p>
            <a:endParaRPr lang="fr-MA" sz="1800" b="1" dirty="0"/>
          </a:p>
          <a:p>
            <a:r>
              <a:rPr lang="fr-MA" sz="1800" b="1" dirty="0"/>
              <a:t>5. CONFIGURATION</a:t>
            </a:r>
          </a:p>
          <a:p>
            <a:r>
              <a:rPr lang="fr-MA" sz="1800" b="1" dirty="0"/>
              <a:t>   - Variables d'environnement</a:t>
            </a:r>
          </a:p>
          <a:p>
            <a:r>
              <a:rPr lang="fr-MA" sz="1800" b="1" dirty="0"/>
              <a:t>   - Fichiers de config</a:t>
            </a:r>
          </a:p>
          <a:p>
            <a:r>
              <a:rPr lang="fr-MA" sz="1800" b="1" dirty="0"/>
              <a:t>   - Paramètres</a:t>
            </a:r>
          </a:p>
          <a:p>
            <a:endParaRPr lang="fr-MA" sz="1800" b="1" dirty="0"/>
          </a:p>
          <a:p>
            <a:r>
              <a:rPr lang="fr-MA" sz="1800" b="1" dirty="0"/>
              <a:t>6. DÉVELOPPEMENT</a:t>
            </a:r>
          </a:p>
          <a:p>
            <a:r>
              <a:rPr lang="fr-MA" sz="1800" b="1" dirty="0"/>
              <a:t>   - Guide du développeur</a:t>
            </a:r>
          </a:p>
          <a:p>
            <a:r>
              <a:rPr lang="fr-MA" sz="1800" b="1" dirty="0"/>
              <a:t>   - Comment contribuer</a:t>
            </a:r>
          </a:p>
          <a:p>
            <a:r>
              <a:rPr lang="fr-MA" sz="1800" b="1" dirty="0"/>
              <a:t>   - Standards de code</a:t>
            </a:r>
          </a:p>
          <a:p>
            <a:r>
              <a:rPr lang="fr-MA" sz="1800" b="1" dirty="0"/>
              <a:t>   - Tests</a:t>
            </a:r>
            <a:endParaRPr lang="fr-FR" dirty="0"/>
          </a:p>
        </p:txBody>
      </p:sp>
    </p:spTree>
    <p:extLst>
      <p:ext uri="{BB962C8B-B14F-4D97-AF65-F5344CB8AC3E}">
        <p14:creationId xmlns:p14="http://schemas.microsoft.com/office/powerpoint/2010/main" val="2879059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CCA65-C577-0AD1-D9BF-23DF76DB4A5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BB09B43-B5E7-47B7-4D67-CC7164F33F85}"/>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3" name="Espace réservé du texte 2">
            <a:extLst>
              <a:ext uri="{FF2B5EF4-FFF2-40B4-BE49-F238E27FC236}">
                <a16:creationId xmlns:a16="http://schemas.microsoft.com/office/drawing/2014/main" id="{6412805C-10E1-945D-D5FB-F1C4370BCD35}"/>
              </a:ext>
            </a:extLst>
          </p:cNvPr>
          <p:cNvSpPr>
            <a:spLocks noGrp="1"/>
          </p:cNvSpPr>
          <p:nvPr>
            <p:ph type="body" idx="1"/>
          </p:nvPr>
        </p:nvSpPr>
        <p:spPr/>
        <p:txBody>
          <a:bodyPr/>
          <a:lstStyle/>
          <a:p>
            <a:pPr algn="l"/>
            <a:r>
              <a:rPr lang="fr-MA" b="1" dirty="0"/>
              <a:t>L3.3 Logs de Sprints (pour Agile)</a:t>
            </a:r>
          </a:p>
          <a:p>
            <a:pPr algn="l"/>
            <a:r>
              <a:rPr lang="fr-MA" b="1" dirty="0"/>
              <a:t>Par sprint :</a:t>
            </a:r>
            <a:endParaRPr lang="fr-MA" dirty="0"/>
          </a:p>
          <a:p>
            <a:pPr marL="342900" indent="-342900" algn="l">
              <a:buFont typeface="Arial" panose="020B0604020202020204" pitchFamily="34" charset="0"/>
              <a:buChar char="•"/>
            </a:pPr>
            <a:r>
              <a:rPr lang="fr-MA" dirty="0"/>
              <a:t>Sprint </a:t>
            </a:r>
            <a:r>
              <a:rPr lang="fr-MA" dirty="0" err="1"/>
              <a:t>backlog</a:t>
            </a:r>
            <a:endParaRPr lang="fr-MA" dirty="0"/>
          </a:p>
          <a:p>
            <a:pPr marL="342900" indent="-342900" algn="l">
              <a:buFont typeface="Arial" panose="020B0604020202020204" pitchFamily="34" charset="0"/>
              <a:buChar char="•"/>
            </a:pPr>
            <a:r>
              <a:rPr lang="fr-MA" dirty="0" err="1"/>
              <a:t>Burndown</a:t>
            </a:r>
            <a:r>
              <a:rPr lang="fr-MA" dirty="0"/>
              <a:t> chart</a:t>
            </a:r>
          </a:p>
          <a:p>
            <a:pPr marL="342900" indent="-342900" algn="l">
              <a:buFont typeface="Arial" panose="020B0604020202020204" pitchFamily="34" charset="0"/>
              <a:buChar char="•"/>
            </a:pPr>
            <a:r>
              <a:rPr lang="fr-MA" dirty="0"/>
              <a:t>Vélocité de l'équipe</a:t>
            </a:r>
          </a:p>
          <a:p>
            <a:pPr marL="342900" indent="-342900" algn="l">
              <a:buFont typeface="Arial" panose="020B0604020202020204" pitchFamily="34" charset="0"/>
              <a:buChar char="•"/>
            </a:pPr>
            <a:r>
              <a:rPr lang="fr-MA" dirty="0"/>
              <a:t>Rétrospective</a:t>
            </a:r>
          </a:p>
          <a:p>
            <a:pPr marL="342900" indent="-342900" algn="l">
              <a:buFont typeface="Arial" panose="020B0604020202020204" pitchFamily="34" charset="0"/>
              <a:buChar char="•"/>
            </a:pPr>
            <a:r>
              <a:rPr lang="fr-MA" dirty="0"/>
              <a:t>Démo</a:t>
            </a:r>
          </a:p>
          <a:p>
            <a:pPr algn="l"/>
            <a:endParaRPr lang="fr-FR" dirty="0"/>
          </a:p>
        </p:txBody>
      </p:sp>
    </p:spTree>
    <p:extLst>
      <p:ext uri="{BB962C8B-B14F-4D97-AF65-F5344CB8AC3E}">
        <p14:creationId xmlns:p14="http://schemas.microsoft.com/office/powerpoint/2010/main" val="5387036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67681-D9F7-C422-8A0C-F2F2F3D5059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AF95AFE-C04A-0967-2625-68DB5FAFDF76}"/>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3" name="Espace réservé du texte 2">
            <a:extLst>
              <a:ext uri="{FF2B5EF4-FFF2-40B4-BE49-F238E27FC236}">
                <a16:creationId xmlns:a16="http://schemas.microsoft.com/office/drawing/2014/main" id="{37C1B774-B8C4-204B-B8D4-25B0DEA53F07}"/>
              </a:ext>
            </a:extLst>
          </p:cNvPr>
          <p:cNvSpPr>
            <a:spLocks noGrp="1"/>
          </p:cNvSpPr>
          <p:nvPr>
            <p:ph type="body" idx="1"/>
          </p:nvPr>
        </p:nvSpPr>
        <p:spPr>
          <a:xfrm>
            <a:off x="145311" y="2137578"/>
            <a:ext cx="4207732" cy="4491823"/>
          </a:xfrm>
        </p:spPr>
        <p:txBody>
          <a:bodyPr>
            <a:normAutofit fontScale="85000" lnSpcReduction="20000"/>
          </a:bodyPr>
          <a:lstStyle/>
          <a:p>
            <a:pPr algn="l"/>
            <a:r>
              <a:rPr lang="fr-MA" sz="2000" b="1" dirty="0"/>
              <a:t>PHASE 4 : TESTS ET VALIDATION </a:t>
            </a:r>
          </a:p>
          <a:p>
            <a:pPr algn="l"/>
            <a:r>
              <a:rPr lang="fr-MA" sz="2000" b="1" dirty="0"/>
              <a:t>Objectifs</a:t>
            </a:r>
          </a:p>
          <a:p>
            <a:pPr marL="342900" indent="-342900" algn="l">
              <a:buFont typeface="Arial" panose="020B0604020202020204" pitchFamily="34" charset="0"/>
              <a:buChar char="•"/>
            </a:pPr>
            <a:r>
              <a:rPr lang="fr-MA" sz="2000" dirty="0"/>
              <a:t>Vérifier la qualité du logiciel</a:t>
            </a:r>
          </a:p>
          <a:p>
            <a:pPr marL="342900" indent="-342900" algn="l">
              <a:buFont typeface="Arial" panose="020B0604020202020204" pitchFamily="34" charset="0"/>
              <a:buChar char="•"/>
            </a:pPr>
            <a:r>
              <a:rPr lang="fr-MA" sz="2000" dirty="0"/>
              <a:t>Valider la conformité aux exigences</a:t>
            </a:r>
          </a:p>
          <a:p>
            <a:pPr marL="342900" indent="-342900" algn="l">
              <a:buFont typeface="Arial" panose="020B0604020202020204" pitchFamily="34" charset="0"/>
              <a:buChar char="•"/>
            </a:pPr>
            <a:r>
              <a:rPr lang="fr-MA" sz="2000" dirty="0"/>
              <a:t>Identifier et corriger les bugs</a:t>
            </a:r>
          </a:p>
          <a:p>
            <a:pPr marL="342900" indent="-342900" algn="l">
              <a:buFont typeface="Arial" panose="020B0604020202020204" pitchFamily="34" charset="0"/>
              <a:buChar char="•"/>
            </a:pPr>
            <a:r>
              <a:rPr lang="fr-MA" sz="2000" dirty="0"/>
              <a:t>Obtenir l'acceptation utilisateurs</a:t>
            </a:r>
          </a:p>
          <a:p>
            <a:pPr marL="342900" indent="-342900" algn="l">
              <a:buFont typeface="Arial" panose="020B0604020202020204" pitchFamily="34" charset="0"/>
              <a:buChar char="•"/>
            </a:pPr>
            <a:endParaRPr lang="fr-MA" sz="2000" dirty="0"/>
          </a:p>
          <a:p>
            <a:pPr algn="l"/>
            <a:r>
              <a:rPr lang="fr-MA" sz="2000" b="1" dirty="0"/>
              <a:t>Activités détaillées</a:t>
            </a:r>
          </a:p>
          <a:p>
            <a:pPr algn="l"/>
            <a:r>
              <a:rPr lang="fr-MA" sz="2000" b="1" dirty="0"/>
              <a:t>4.1 Tests unitaires</a:t>
            </a:r>
          </a:p>
          <a:p>
            <a:pPr marL="342900" indent="-342900" algn="l">
              <a:buFont typeface="Arial" panose="020B0604020202020204" pitchFamily="34" charset="0"/>
              <a:buChar char="•"/>
            </a:pPr>
            <a:r>
              <a:rPr lang="fr-MA" sz="2000" dirty="0"/>
              <a:t>Tests des fonctions/méthodes isolées</a:t>
            </a:r>
          </a:p>
          <a:p>
            <a:pPr marL="342900" indent="-342900" algn="l">
              <a:buFont typeface="Arial" panose="020B0604020202020204" pitchFamily="34" charset="0"/>
              <a:buChar char="•"/>
            </a:pPr>
            <a:r>
              <a:rPr lang="fr-MA" sz="2000" dirty="0"/>
              <a:t>Couverture de code</a:t>
            </a:r>
          </a:p>
          <a:p>
            <a:pPr marL="342900" indent="-342900" algn="l">
              <a:buFont typeface="Arial" panose="020B0604020202020204" pitchFamily="34" charset="0"/>
              <a:buChar char="•"/>
            </a:pPr>
            <a:r>
              <a:rPr lang="fr-MA" sz="2000" dirty="0"/>
              <a:t>Tests automatisés</a:t>
            </a:r>
          </a:p>
          <a:p>
            <a:pPr marL="342900" indent="-342900" algn="l">
              <a:buFont typeface="Arial" panose="020B0604020202020204" pitchFamily="34" charset="0"/>
              <a:buChar char="•"/>
            </a:pPr>
            <a:endParaRPr lang="fr-MA" sz="2000" dirty="0"/>
          </a:p>
          <a:p>
            <a:pPr algn="l"/>
            <a:r>
              <a:rPr lang="fr-MA" sz="2000" b="1" dirty="0"/>
              <a:t>4.2 Tests d'intégration</a:t>
            </a:r>
          </a:p>
          <a:p>
            <a:pPr marL="342900" indent="-342900" algn="l">
              <a:buFont typeface="Arial" panose="020B0604020202020204" pitchFamily="34" charset="0"/>
              <a:buChar char="•"/>
            </a:pPr>
            <a:r>
              <a:rPr lang="fr-MA" sz="2000" dirty="0"/>
              <a:t>Tests des interactions entre modules</a:t>
            </a:r>
          </a:p>
          <a:p>
            <a:pPr marL="342900" indent="-342900" algn="l">
              <a:buFont typeface="Arial" panose="020B0604020202020204" pitchFamily="34" charset="0"/>
              <a:buChar char="•"/>
            </a:pPr>
            <a:r>
              <a:rPr lang="fr-MA" sz="2000" dirty="0"/>
              <a:t>Tests API</a:t>
            </a:r>
          </a:p>
          <a:p>
            <a:pPr marL="342900" indent="-342900" algn="l">
              <a:buFont typeface="Arial" panose="020B0604020202020204" pitchFamily="34" charset="0"/>
              <a:buChar char="•"/>
            </a:pPr>
            <a:r>
              <a:rPr lang="fr-MA" sz="2000" dirty="0"/>
              <a:t>Tests de base de données</a:t>
            </a:r>
          </a:p>
          <a:p>
            <a:pPr algn="l"/>
            <a:endParaRPr lang="fr-FR" dirty="0"/>
          </a:p>
        </p:txBody>
      </p:sp>
      <p:sp>
        <p:nvSpPr>
          <p:cNvPr id="5" name="ZoneTexte 4">
            <a:extLst>
              <a:ext uri="{FF2B5EF4-FFF2-40B4-BE49-F238E27FC236}">
                <a16:creationId xmlns:a16="http://schemas.microsoft.com/office/drawing/2014/main" id="{08A7891E-3F73-A15B-4B70-F252E19EC7B1}"/>
              </a:ext>
            </a:extLst>
          </p:cNvPr>
          <p:cNvSpPr txBox="1"/>
          <p:nvPr/>
        </p:nvSpPr>
        <p:spPr>
          <a:xfrm>
            <a:off x="4681464" y="2029484"/>
            <a:ext cx="3582162" cy="4816703"/>
          </a:xfrm>
          <a:prstGeom prst="rect">
            <a:avLst/>
          </a:prstGeom>
          <a:noFill/>
        </p:spPr>
        <p:txBody>
          <a:bodyPr wrap="square">
            <a:spAutoFit/>
          </a:bodyPr>
          <a:lstStyle/>
          <a:p>
            <a:r>
              <a:rPr lang="fr-MA" sz="1700" b="1" dirty="0">
                <a:solidFill>
                  <a:schemeClr val="tx2"/>
                </a:solidFill>
              </a:rPr>
              <a:t>4.3 Tests fonctionnels</a:t>
            </a:r>
          </a:p>
          <a:p>
            <a:pPr marL="285750" indent="-285750">
              <a:buFont typeface="Arial" panose="020B0604020202020204" pitchFamily="34" charset="0"/>
              <a:buChar char="•"/>
            </a:pPr>
            <a:r>
              <a:rPr lang="fr-MA" sz="1700" dirty="0">
                <a:solidFill>
                  <a:schemeClr val="tx2"/>
                </a:solidFill>
              </a:rPr>
              <a:t>Tests des scénarios utilisateurs</a:t>
            </a:r>
          </a:p>
          <a:p>
            <a:pPr marL="285750" indent="-285750">
              <a:buFont typeface="Arial" panose="020B0604020202020204" pitchFamily="34" charset="0"/>
              <a:buChar char="•"/>
            </a:pPr>
            <a:r>
              <a:rPr lang="fr-MA" sz="1700" dirty="0">
                <a:solidFill>
                  <a:schemeClr val="tx2"/>
                </a:solidFill>
              </a:rPr>
              <a:t>Validation des exigences</a:t>
            </a:r>
          </a:p>
          <a:p>
            <a:pPr marL="285750" indent="-285750">
              <a:buFont typeface="Arial" panose="020B0604020202020204" pitchFamily="34" charset="0"/>
              <a:buChar char="•"/>
            </a:pPr>
            <a:r>
              <a:rPr lang="fr-MA" sz="1700" dirty="0">
                <a:solidFill>
                  <a:schemeClr val="tx2"/>
                </a:solidFill>
              </a:rPr>
              <a:t>Tests de bout en bout (E2E)</a:t>
            </a:r>
          </a:p>
          <a:p>
            <a:endParaRPr lang="fr-MA" sz="1700" b="1" dirty="0">
              <a:solidFill>
                <a:schemeClr val="tx2"/>
              </a:solidFill>
            </a:endParaRPr>
          </a:p>
          <a:p>
            <a:r>
              <a:rPr lang="fr-MA" sz="1700" b="1" dirty="0">
                <a:solidFill>
                  <a:schemeClr val="tx2"/>
                </a:solidFill>
              </a:rPr>
              <a:t>4.4 Tests non fonctionnels</a:t>
            </a:r>
          </a:p>
          <a:p>
            <a:pPr marL="285750" indent="-285750">
              <a:buFont typeface="Arial" panose="020B0604020202020204" pitchFamily="34" charset="0"/>
              <a:buChar char="•"/>
            </a:pPr>
            <a:r>
              <a:rPr lang="fr-MA" sz="1700" dirty="0">
                <a:solidFill>
                  <a:schemeClr val="tx2"/>
                </a:solidFill>
              </a:rPr>
              <a:t>Tests de performance (charge, stress)</a:t>
            </a:r>
          </a:p>
          <a:p>
            <a:pPr marL="285750" indent="-285750">
              <a:buFont typeface="Arial" panose="020B0604020202020204" pitchFamily="34" charset="0"/>
              <a:buChar char="•"/>
            </a:pPr>
            <a:r>
              <a:rPr lang="fr-MA" sz="1700" dirty="0">
                <a:solidFill>
                  <a:schemeClr val="tx2"/>
                </a:solidFill>
              </a:rPr>
              <a:t>Tests de sécurité</a:t>
            </a:r>
          </a:p>
          <a:p>
            <a:pPr marL="285750" indent="-285750">
              <a:buFont typeface="Arial" panose="020B0604020202020204" pitchFamily="34" charset="0"/>
              <a:buChar char="•"/>
            </a:pPr>
            <a:r>
              <a:rPr lang="fr-MA" sz="1700" dirty="0">
                <a:solidFill>
                  <a:schemeClr val="tx2"/>
                </a:solidFill>
              </a:rPr>
              <a:t>Tests d'utilisabilité</a:t>
            </a:r>
          </a:p>
          <a:p>
            <a:pPr marL="285750" indent="-285750">
              <a:buFont typeface="Arial" panose="020B0604020202020204" pitchFamily="34" charset="0"/>
              <a:buChar char="•"/>
            </a:pPr>
            <a:r>
              <a:rPr lang="fr-MA" sz="1700" dirty="0">
                <a:solidFill>
                  <a:schemeClr val="tx2"/>
                </a:solidFill>
              </a:rPr>
              <a:t>Tests de compatibilité</a:t>
            </a:r>
          </a:p>
          <a:p>
            <a:pPr marL="285750" indent="-285750">
              <a:buFont typeface="Arial" panose="020B0604020202020204" pitchFamily="34" charset="0"/>
              <a:buChar char="•"/>
            </a:pPr>
            <a:endParaRPr lang="fr-MA" sz="1700" dirty="0">
              <a:solidFill>
                <a:schemeClr val="tx2"/>
              </a:solidFill>
            </a:endParaRPr>
          </a:p>
          <a:p>
            <a:r>
              <a:rPr lang="fr-MA" sz="1700" b="1" dirty="0">
                <a:solidFill>
                  <a:schemeClr val="tx2"/>
                </a:solidFill>
              </a:rPr>
              <a:t>4.5 Recette utilisateur (UAT)</a:t>
            </a:r>
          </a:p>
          <a:p>
            <a:r>
              <a:rPr lang="fr-MA" sz="1700" dirty="0">
                <a:solidFill>
                  <a:schemeClr val="tx2"/>
                </a:solidFill>
              </a:rPr>
              <a:t>Tests par les utilisateurs finaux</a:t>
            </a:r>
          </a:p>
          <a:p>
            <a:r>
              <a:rPr lang="fr-MA" sz="1700" dirty="0">
                <a:solidFill>
                  <a:schemeClr val="tx2"/>
                </a:solidFill>
              </a:rPr>
              <a:t>Validation métier</a:t>
            </a:r>
          </a:p>
          <a:p>
            <a:r>
              <a:rPr lang="fr-MA" sz="1700" dirty="0">
                <a:solidFill>
                  <a:schemeClr val="tx2"/>
                </a:solidFill>
              </a:rPr>
              <a:t>Levée des réserves</a:t>
            </a:r>
          </a:p>
          <a:p>
            <a:pPr marL="285750" indent="-285750">
              <a:buFont typeface="Arial" panose="020B0604020202020204" pitchFamily="34" charset="0"/>
              <a:buChar char="•"/>
            </a:pPr>
            <a:endParaRPr lang="fr-MA" sz="1600" dirty="0">
              <a:solidFill>
                <a:schemeClr val="tx2"/>
              </a:solidFill>
            </a:endParaRPr>
          </a:p>
          <a:p>
            <a:pPr marL="342900" indent="-342900" algn="l">
              <a:buFont typeface="Arial" panose="020B0604020202020204" pitchFamily="34" charset="0"/>
              <a:buChar char="•"/>
            </a:pPr>
            <a:endParaRPr lang="fr-MA" sz="1900" dirty="0">
              <a:solidFill>
                <a:schemeClr val="tx2"/>
              </a:solidFill>
            </a:endParaRPr>
          </a:p>
        </p:txBody>
      </p:sp>
      <p:sp>
        <p:nvSpPr>
          <p:cNvPr id="7" name="ZoneTexte 6">
            <a:extLst>
              <a:ext uri="{FF2B5EF4-FFF2-40B4-BE49-F238E27FC236}">
                <a16:creationId xmlns:a16="http://schemas.microsoft.com/office/drawing/2014/main" id="{45276B54-440F-396B-65D8-DD19CA6CFBE4}"/>
              </a:ext>
            </a:extLst>
          </p:cNvPr>
          <p:cNvSpPr txBox="1"/>
          <p:nvPr/>
        </p:nvSpPr>
        <p:spPr>
          <a:xfrm>
            <a:off x="8464528" y="1752486"/>
            <a:ext cx="3582162" cy="3077766"/>
          </a:xfrm>
          <a:prstGeom prst="rect">
            <a:avLst/>
          </a:prstGeom>
          <a:noFill/>
        </p:spPr>
        <p:txBody>
          <a:bodyPr wrap="square">
            <a:spAutoFit/>
          </a:bodyPr>
          <a:lstStyle/>
          <a:p>
            <a:pPr algn="l"/>
            <a:endParaRPr lang="fr-MA" sz="1800" dirty="0">
              <a:solidFill>
                <a:schemeClr val="tx2"/>
              </a:solidFill>
            </a:endParaRPr>
          </a:p>
          <a:p>
            <a:r>
              <a:rPr lang="fr-MA" sz="1700" b="1" dirty="0">
                <a:solidFill>
                  <a:schemeClr val="tx2"/>
                </a:solidFill>
              </a:rPr>
              <a:t>4.6 Correction des anomalies</a:t>
            </a:r>
          </a:p>
          <a:p>
            <a:pPr marL="285750" indent="-285750">
              <a:buFont typeface="Arial" panose="020B0604020202020204" pitchFamily="34" charset="0"/>
              <a:buChar char="•"/>
            </a:pPr>
            <a:r>
              <a:rPr lang="fr-MA" sz="1700" dirty="0">
                <a:solidFill>
                  <a:schemeClr val="tx2"/>
                </a:solidFill>
              </a:rPr>
              <a:t>Priorisation des bugs</a:t>
            </a:r>
          </a:p>
          <a:p>
            <a:pPr marL="285750" indent="-285750">
              <a:buFont typeface="Arial" panose="020B0604020202020204" pitchFamily="34" charset="0"/>
              <a:buChar char="•"/>
            </a:pPr>
            <a:r>
              <a:rPr lang="fr-MA" sz="1700" dirty="0">
                <a:solidFill>
                  <a:schemeClr val="tx2"/>
                </a:solidFill>
              </a:rPr>
              <a:t>Corrections</a:t>
            </a:r>
          </a:p>
          <a:p>
            <a:pPr marL="285750" indent="-285750">
              <a:buFont typeface="Arial" panose="020B0604020202020204" pitchFamily="34" charset="0"/>
              <a:buChar char="•"/>
            </a:pPr>
            <a:r>
              <a:rPr lang="fr-MA" sz="1700" dirty="0">
                <a:solidFill>
                  <a:schemeClr val="tx2"/>
                </a:solidFill>
              </a:rPr>
              <a:t>Tests de régression</a:t>
            </a:r>
          </a:p>
          <a:p>
            <a:r>
              <a:rPr lang="fr-MA" dirty="0">
                <a:highlight>
                  <a:srgbClr val="FFFF00"/>
                </a:highlight>
              </a:rPr>
              <a:t>Livrables Phase 4</a:t>
            </a:r>
          </a:p>
          <a:p>
            <a:r>
              <a:rPr lang="fr-MA" dirty="0"/>
              <a:t>L4.1 Plan de Tests</a:t>
            </a:r>
          </a:p>
          <a:p>
            <a:r>
              <a:rPr lang="fr-FR" dirty="0"/>
              <a:t>L4.2 Cahier de Recette</a:t>
            </a:r>
          </a:p>
          <a:p>
            <a:r>
              <a:rPr lang="fr-FR" dirty="0"/>
              <a:t>L4.3 Rapport de Tests</a:t>
            </a:r>
          </a:p>
          <a:p>
            <a:r>
              <a:rPr lang="fr-FR" dirty="0"/>
              <a:t>L4.4 Registre des Anomalies</a:t>
            </a:r>
          </a:p>
          <a:p>
            <a:endParaRPr lang="fr-MA" b="1" dirty="0"/>
          </a:p>
        </p:txBody>
      </p:sp>
      <p:cxnSp>
        <p:nvCxnSpPr>
          <p:cNvPr id="9" name="Connecteur droit 8">
            <a:extLst>
              <a:ext uri="{FF2B5EF4-FFF2-40B4-BE49-F238E27FC236}">
                <a16:creationId xmlns:a16="http://schemas.microsoft.com/office/drawing/2014/main" id="{13B26CBE-B574-1A36-BEC0-A41DFCA00E53}"/>
              </a:ext>
            </a:extLst>
          </p:cNvPr>
          <p:cNvCxnSpPr/>
          <p:nvPr/>
        </p:nvCxnSpPr>
        <p:spPr>
          <a:xfrm>
            <a:off x="4480560" y="2029485"/>
            <a:ext cx="0" cy="4389603"/>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57E6D25D-25AF-D0B0-123A-BDBC2A16E5EC}"/>
              </a:ext>
            </a:extLst>
          </p:cNvPr>
          <p:cNvCxnSpPr/>
          <p:nvPr/>
        </p:nvCxnSpPr>
        <p:spPr>
          <a:xfrm>
            <a:off x="8391144" y="2029484"/>
            <a:ext cx="0" cy="4389603"/>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7397655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BDB46-9278-6F88-0087-FB6B59AC7A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F4AECA7-095B-70B7-5B7C-13E0E85902BB}"/>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3" name="Espace réservé du texte 2">
            <a:extLst>
              <a:ext uri="{FF2B5EF4-FFF2-40B4-BE49-F238E27FC236}">
                <a16:creationId xmlns:a16="http://schemas.microsoft.com/office/drawing/2014/main" id="{47C7D485-EA24-B8C5-C9FD-9E3A25773693}"/>
              </a:ext>
            </a:extLst>
          </p:cNvPr>
          <p:cNvSpPr>
            <a:spLocks noGrp="1"/>
          </p:cNvSpPr>
          <p:nvPr>
            <p:ph type="body" idx="1"/>
          </p:nvPr>
        </p:nvSpPr>
        <p:spPr/>
        <p:txBody>
          <a:bodyPr>
            <a:normAutofit fontScale="47500" lnSpcReduction="20000"/>
          </a:bodyPr>
          <a:lstStyle/>
          <a:p>
            <a:pPr algn="l"/>
            <a:r>
              <a:rPr lang="fr-MA" b="1" dirty="0"/>
              <a:t>Template L4.1</a:t>
            </a:r>
          </a:p>
          <a:p>
            <a:pPr algn="l"/>
            <a:r>
              <a:rPr lang="fr-MA" b="1" dirty="0"/>
              <a:t>1. STRATÉGIE DE TESTS</a:t>
            </a:r>
          </a:p>
          <a:p>
            <a:pPr algn="l"/>
            <a:r>
              <a:rPr lang="fr-MA" b="1" dirty="0"/>
              <a:t>   - Objectifs</a:t>
            </a:r>
          </a:p>
          <a:p>
            <a:pPr algn="l"/>
            <a:r>
              <a:rPr lang="fr-MA" b="1" dirty="0"/>
              <a:t>   - Périmètre</a:t>
            </a:r>
          </a:p>
          <a:p>
            <a:pPr algn="l"/>
            <a:r>
              <a:rPr lang="fr-MA" b="1" dirty="0"/>
              <a:t>   - Types de tests</a:t>
            </a:r>
          </a:p>
          <a:p>
            <a:pPr algn="l"/>
            <a:r>
              <a:rPr lang="fr-MA" b="1" dirty="0"/>
              <a:t>   - Critères d'acceptation</a:t>
            </a:r>
          </a:p>
          <a:p>
            <a:pPr algn="l"/>
            <a:endParaRPr lang="fr-MA" b="1" dirty="0"/>
          </a:p>
          <a:p>
            <a:pPr algn="l"/>
            <a:r>
              <a:rPr lang="fr-MA" b="1" dirty="0"/>
              <a:t>2. ORGANISATION</a:t>
            </a:r>
          </a:p>
          <a:p>
            <a:pPr algn="l"/>
            <a:r>
              <a:rPr lang="fr-MA" b="1" dirty="0"/>
              <a:t>   - Équipe de tests</a:t>
            </a:r>
          </a:p>
          <a:p>
            <a:pPr algn="l"/>
            <a:r>
              <a:rPr lang="fr-MA" b="1" dirty="0"/>
              <a:t>   - Rôles et responsabilités</a:t>
            </a:r>
          </a:p>
          <a:p>
            <a:pPr algn="l"/>
            <a:r>
              <a:rPr lang="fr-MA" b="1" dirty="0"/>
              <a:t>   - Planning</a:t>
            </a:r>
          </a:p>
          <a:p>
            <a:pPr algn="l"/>
            <a:endParaRPr lang="fr-MA" b="1" dirty="0"/>
          </a:p>
          <a:p>
            <a:pPr algn="l"/>
            <a:r>
              <a:rPr lang="fr-MA" b="1" dirty="0"/>
              <a:t>3. ENVIRONNEMENT DE TESTS</a:t>
            </a:r>
          </a:p>
          <a:p>
            <a:pPr algn="l"/>
            <a:r>
              <a:rPr lang="fr-MA" b="1" dirty="0"/>
              <a:t>   - Infrastructure</a:t>
            </a:r>
          </a:p>
          <a:p>
            <a:pPr algn="l"/>
            <a:r>
              <a:rPr lang="fr-MA" b="1" dirty="0"/>
              <a:t>   - Jeux de données</a:t>
            </a:r>
          </a:p>
          <a:p>
            <a:pPr algn="l"/>
            <a:r>
              <a:rPr lang="fr-MA" b="1" dirty="0"/>
              <a:t>   - Outils</a:t>
            </a:r>
          </a:p>
          <a:p>
            <a:pPr algn="l"/>
            <a:endParaRPr lang="fr-MA" b="1" dirty="0"/>
          </a:p>
          <a:p>
            <a:pPr algn="l"/>
            <a:r>
              <a:rPr lang="fr-MA" b="1" dirty="0"/>
              <a:t>4. CAS DE TESTS</a:t>
            </a:r>
          </a:p>
          <a:p>
            <a:pPr algn="l"/>
            <a:r>
              <a:rPr lang="fr-MA" b="1" dirty="0"/>
              <a:t>   - Tests fonctionnels</a:t>
            </a:r>
          </a:p>
          <a:p>
            <a:pPr algn="l"/>
            <a:r>
              <a:rPr lang="fr-MA" b="1" dirty="0"/>
              <a:t>   - Tests non fonctionnels</a:t>
            </a:r>
          </a:p>
          <a:p>
            <a:pPr algn="l"/>
            <a:r>
              <a:rPr lang="fr-MA" b="1" dirty="0"/>
              <a:t>   - Scénarios de tests</a:t>
            </a:r>
          </a:p>
          <a:p>
            <a:pPr algn="l"/>
            <a:endParaRPr lang="fr-MA" b="1" dirty="0"/>
          </a:p>
          <a:p>
            <a:pPr algn="l"/>
            <a:r>
              <a:rPr lang="fr-MA" b="1" dirty="0"/>
              <a:t>5. GESTION DES ANOMALIES</a:t>
            </a:r>
          </a:p>
          <a:p>
            <a:pPr algn="l"/>
            <a:r>
              <a:rPr lang="fr-MA" b="1" dirty="0"/>
              <a:t>   - Processus de signalement</a:t>
            </a:r>
          </a:p>
          <a:p>
            <a:pPr algn="l"/>
            <a:r>
              <a:rPr lang="fr-MA" b="1" dirty="0"/>
              <a:t>   - Workflow de correction</a:t>
            </a:r>
          </a:p>
          <a:p>
            <a:pPr algn="l"/>
            <a:r>
              <a:rPr lang="fr-MA" b="1" dirty="0"/>
              <a:t>   - Critères de gravité</a:t>
            </a:r>
            <a:endParaRPr lang="fr-FR" dirty="0"/>
          </a:p>
        </p:txBody>
      </p:sp>
    </p:spTree>
    <p:extLst>
      <p:ext uri="{BB962C8B-B14F-4D97-AF65-F5344CB8AC3E}">
        <p14:creationId xmlns:p14="http://schemas.microsoft.com/office/powerpoint/2010/main" val="4674173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22A5D-3264-87C5-EBD0-0EBF85558D5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95E8C68-887C-5D1B-49B2-6959B90DCA31}"/>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3" name="Espace réservé du texte 2">
            <a:extLst>
              <a:ext uri="{FF2B5EF4-FFF2-40B4-BE49-F238E27FC236}">
                <a16:creationId xmlns:a16="http://schemas.microsoft.com/office/drawing/2014/main" id="{FB11B757-743B-BAF8-5930-2B0FBF54B61F}"/>
              </a:ext>
            </a:extLst>
          </p:cNvPr>
          <p:cNvSpPr>
            <a:spLocks noGrp="1"/>
          </p:cNvSpPr>
          <p:nvPr>
            <p:ph type="body" idx="1"/>
          </p:nvPr>
        </p:nvSpPr>
        <p:spPr/>
        <p:txBody>
          <a:bodyPr>
            <a:normAutofit fontScale="77500" lnSpcReduction="20000"/>
          </a:bodyPr>
          <a:lstStyle/>
          <a:p>
            <a:pPr algn="l"/>
            <a:r>
              <a:rPr lang="fr-MA" b="1" dirty="0"/>
              <a:t>Template L4.2: cahier de recette</a:t>
            </a:r>
          </a:p>
          <a:p>
            <a:pPr algn="l"/>
            <a:r>
              <a:rPr lang="fr-MA" b="1" dirty="0"/>
              <a:t>ID Test: TC-001</a:t>
            </a:r>
          </a:p>
          <a:p>
            <a:pPr algn="l"/>
            <a:r>
              <a:rPr lang="fr-MA" b="1" dirty="0"/>
              <a:t>Module: </a:t>
            </a:r>
            <a:r>
              <a:rPr lang="fr-MA" dirty="0"/>
              <a:t>Authentification</a:t>
            </a:r>
          </a:p>
          <a:p>
            <a:pPr algn="l"/>
            <a:r>
              <a:rPr lang="fr-MA" b="1" dirty="0"/>
              <a:t>Fonctionnalité: </a:t>
            </a:r>
            <a:r>
              <a:rPr lang="fr-MA" dirty="0"/>
              <a:t>Connexion utilisateur</a:t>
            </a:r>
          </a:p>
          <a:p>
            <a:pPr algn="l"/>
            <a:r>
              <a:rPr lang="fr-MA" b="1" dirty="0"/>
              <a:t>Prérequis: </a:t>
            </a:r>
            <a:r>
              <a:rPr lang="fr-MA" dirty="0"/>
              <a:t>Utilisateur créé en base</a:t>
            </a:r>
          </a:p>
          <a:p>
            <a:pPr algn="l"/>
            <a:r>
              <a:rPr lang="fr-MA" b="1" dirty="0"/>
              <a:t>Étapes:</a:t>
            </a:r>
          </a:p>
          <a:p>
            <a:pPr algn="l"/>
            <a:r>
              <a:rPr lang="fr-MA" dirty="0"/>
              <a:t>  1. Aller sur page de connexion</a:t>
            </a:r>
          </a:p>
          <a:p>
            <a:pPr algn="l"/>
            <a:r>
              <a:rPr lang="fr-MA" dirty="0"/>
              <a:t>  2. Saisir email et mot de passe valides</a:t>
            </a:r>
          </a:p>
          <a:p>
            <a:pPr algn="l"/>
            <a:r>
              <a:rPr lang="fr-MA" dirty="0"/>
              <a:t>  3. Cliquer sur "Se connecter"</a:t>
            </a:r>
          </a:p>
          <a:p>
            <a:pPr algn="l"/>
            <a:r>
              <a:rPr lang="fr-MA" b="1" dirty="0"/>
              <a:t>Résultat attendu: </a:t>
            </a:r>
            <a:r>
              <a:rPr lang="fr-MA" dirty="0"/>
              <a:t>Redirection vers tableau de bord</a:t>
            </a:r>
          </a:p>
          <a:p>
            <a:pPr algn="l"/>
            <a:r>
              <a:rPr lang="fr-MA" b="1" dirty="0"/>
              <a:t>Résultat obtenu: [À compléter]</a:t>
            </a:r>
          </a:p>
          <a:p>
            <a:pPr algn="l"/>
            <a:r>
              <a:rPr lang="fr-MA" b="1" dirty="0"/>
              <a:t>Statut: </a:t>
            </a:r>
            <a:r>
              <a:rPr lang="fr-MA" dirty="0"/>
              <a:t>[</a:t>
            </a:r>
            <a:r>
              <a:rPr lang="fr-MA" dirty="0" err="1"/>
              <a:t>Pass</a:t>
            </a:r>
            <a:r>
              <a:rPr lang="fr-MA" dirty="0"/>
              <a:t>/Fail/Bloqué]</a:t>
            </a:r>
          </a:p>
          <a:p>
            <a:pPr algn="l"/>
            <a:r>
              <a:rPr lang="fr-MA" b="1" dirty="0"/>
              <a:t>Commentaires: [...]</a:t>
            </a:r>
          </a:p>
          <a:p>
            <a:pPr algn="l"/>
            <a:r>
              <a:rPr lang="fr-MA" b="1" dirty="0"/>
              <a:t>Testeur: [Nom]</a:t>
            </a:r>
          </a:p>
          <a:p>
            <a:pPr algn="l"/>
            <a:r>
              <a:rPr lang="fr-MA" b="1" dirty="0"/>
              <a:t>Date: [Date]</a:t>
            </a:r>
            <a:endParaRPr lang="fr-FR" dirty="0"/>
          </a:p>
        </p:txBody>
      </p:sp>
    </p:spTree>
    <p:extLst>
      <p:ext uri="{BB962C8B-B14F-4D97-AF65-F5344CB8AC3E}">
        <p14:creationId xmlns:p14="http://schemas.microsoft.com/office/powerpoint/2010/main" val="42405486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B53B0-BEEE-1F0D-929E-E8FDAA930D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3728D2B-7583-6863-B78B-61B602AA9B18}"/>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3" name="Espace réservé du texte 2">
            <a:extLst>
              <a:ext uri="{FF2B5EF4-FFF2-40B4-BE49-F238E27FC236}">
                <a16:creationId xmlns:a16="http://schemas.microsoft.com/office/drawing/2014/main" id="{8D2DF71C-F1F6-671C-91AB-102F52B2A476}"/>
              </a:ext>
            </a:extLst>
          </p:cNvPr>
          <p:cNvSpPr>
            <a:spLocks noGrp="1"/>
          </p:cNvSpPr>
          <p:nvPr>
            <p:ph type="body" idx="1"/>
          </p:nvPr>
        </p:nvSpPr>
        <p:spPr/>
        <p:txBody>
          <a:bodyPr>
            <a:normAutofit fontScale="40000" lnSpcReduction="20000"/>
          </a:bodyPr>
          <a:lstStyle/>
          <a:p>
            <a:pPr algn="l"/>
            <a:r>
              <a:rPr lang="fr-MA" b="1" dirty="0"/>
              <a:t>Template L4.3: Rapport des tests </a:t>
            </a:r>
          </a:p>
          <a:p>
            <a:pPr algn="l"/>
            <a:r>
              <a:rPr lang="fr-MA" b="1" dirty="0"/>
              <a:t>1. RÉSUMÉ EXÉCUTIF</a:t>
            </a:r>
          </a:p>
          <a:p>
            <a:pPr algn="l"/>
            <a:r>
              <a:rPr lang="fr-MA" b="1" dirty="0"/>
              <a:t>   - Vue d'ensemble</a:t>
            </a:r>
          </a:p>
          <a:p>
            <a:pPr algn="l"/>
            <a:r>
              <a:rPr lang="fr-MA" b="1" dirty="0"/>
              <a:t>   - Statut global</a:t>
            </a:r>
          </a:p>
          <a:p>
            <a:pPr algn="l"/>
            <a:r>
              <a:rPr lang="fr-MA" b="1" dirty="0"/>
              <a:t>   - </a:t>
            </a:r>
            <a:r>
              <a:rPr lang="fr-MA" b="1" dirty="0" err="1"/>
              <a:t>Recommendations</a:t>
            </a:r>
            <a:endParaRPr lang="fr-MA" b="1" dirty="0"/>
          </a:p>
          <a:p>
            <a:pPr algn="l"/>
            <a:endParaRPr lang="fr-MA" b="1" dirty="0"/>
          </a:p>
          <a:p>
            <a:pPr algn="l"/>
            <a:r>
              <a:rPr lang="fr-MA" b="1" dirty="0"/>
              <a:t>2. MÉTRIQUES</a:t>
            </a:r>
          </a:p>
          <a:p>
            <a:pPr algn="l"/>
            <a:r>
              <a:rPr lang="fr-MA" b="1" dirty="0"/>
              <a:t>   - Nombre de tests exécutés</a:t>
            </a:r>
          </a:p>
          <a:p>
            <a:pPr algn="l"/>
            <a:r>
              <a:rPr lang="fr-MA" b="1" dirty="0"/>
              <a:t>   - Taux de réussite</a:t>
            </a:r>
          </a:p>
          <a:p>
            <a:pPr algn="l"/>
            <a:r>
              <a:rPr lang="fr-MA" b="1" dirty="0"/>
              <a:t>   - Couverture de tests</a:t>
            </a:r>
          </a:p>
          <a:p>
            <a:pPr algn="l"/>
            <a:r>
              <a:rPr lang="fr-MA" b="1" dirty="0"/>
              <a:t>   - Nombre d'anomalies par gravité</a:t>
            </a:r>
          </a:p>
          <a:p>
            <a:pPr algn="l"/>
            <a:endParaRPr lang="fr-MA" b="1" dirty="0"/>
          </a:p>
          <a:p>
            <a:pPr algn="l"/>
            <a:r>
              <a:rPr lang="fr-MA" b="1" dirty="0"/>
              <a:t>3. RÉSULTATS PAR MODULE</a:t>
            </a:r>
          </a:p>
          <a:p>
            <a:pPr algn="l"/>
            <a:r>
              <a:rPr lang="fr-MA" b="1" dirty="0"/>
              <a:t>   - Tests passés/échoués</a:t>
            </a:r>
          </a:p>
          <a:p>
            <a:pPr algn="l"/>
            <a:r>
              <a:rPr lang="fr-MA" b="1" dirty="0"/>
              <a:t>   - Anomalies identifiées</a:t>
            </a:r>
          </a:p>
          <a:p>
            <a:pPr algn="l"/>
            <a:r>
              <a:rPr lang="fr-MA" b="1" dirty="0"/>
              <a:t>   - Risques</a:t>
            </a:r>
          </a:p>
          <a:p>
            <a:pPr algn="l"/>
            <a:endParaRPr lang="fr-MA" b="1" dirty="0"/>
          </a:p>
          <a:p>
            <a:pPr algn="l"/>
            <a:r>
              <a:rPr lang="fr-MA" b="1" dirty="0"/>
              <a:t>4. ANOMALIES CRITIQUES</a:t>
            </a:r>
          </a:p>
          <a:p>
            <a:pPr algn="l"/>
            <a:r>
              <a:rPr lang="fr-MA" b="1" dirty="0"/>
              <a:t>   - Liste détaillée</a:t>
            </a:r>
          </a:p>
          <a:p>
            <a:pPr algn="l"/>
            <a:r>
              <a:rPr lang="fr-MA" b="1" dirty="0"/>
              <a:t>   - Impact</a:t>
            </a:r>
          </a:p>
          <a:p>
            <a:pPr algn="l"/>
            <a:r>
              <a:rPr lang="fr-MA" b="1" dirty="0"/>
              <a:t>   - Plan de correction</a:t>
            </a:r>
          </a:p>
          <a:p>
            <a:pPr algn="l"/>
            <a:endParaRPr lang="fr-MA" b="1" dirty="0"/>
          </a:p>
          <a:p>
            <a:pPr algn="l"/>
            <a:r>
              <a:rPr lang="fr-MA" b="1" dirty="0"/>
              <a:t>5. TESTS NON FONCTIONNELS</a:t>
            </a:r>
          </a:p>
          <a:p>
            <a:pPr algn="l"/>
            <a:r>
              <a:rPr lang="fr-MA" b="1" dirty="0"/>
              <a:t>   - Performance</a:t>
            </a:r>
          </a:p>
          <a:p>
            <a:pPr algn="l"/>
            <a:r>
              <a:rPr lang="fr-MA" b="1" dirty="0"/>
              <a:t>   - Sécurité</a:t>
            </a:r>
          </a:p>
          <a:p>
            <a:pPr algn="l"/>
            <a:r>
              <a:rPr lang="fr-MA" b="1" dirty="0"/>
              <a:t>   - Compatibilité</a:t>
            </a:r>
          </a:p>
          <a:p>
            <a:pPr algn="l"/>
            <a:endParaRPr lang="fr-MA" b="1" dirty="0"/>
          </a:p>
          <a:p>
            <a:pPr algn="l"/>
            <a:r>
              <a:rPr lang="fr-MA" b="1" dirty="0"/>
              <a:t>6. CONCLUSIONS ET RECOMMANDATIONS</a:t>
            </a:r>
          </a:p>
        </p:txBody>
      </p:sp>
    </p:spTree>
    <p:extLst>
      <p:ext uri="{BB962C8B-B14F-4D97-AF65-F5344CB8AC3E}">
        <p14:creationId xmlns:p14="http://schemas.microsoft.com/office/powerpoint/2010/main" val="1845130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E4E8-6E3F-827C-31DB-A13989E2ED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0B00977-DA78-D14F-A800-748AB5DBD353}"/>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3" name="Espace réservé du texte 2">
            <a:extLst>
              <a:ext uri="{FF2B5EF4-FFF2-40B4-BE49-F238E27FC236}">
                <a16:creationId xmlns:a16="http://schemas.microsoft.com/office/drawing/2014/main" id="{1696E288-57BF-A5CB-5915-00C8883AA1BA}"/>
              </a:ext>
            </a:extLst>
          </p:cNvPr>
          <p:cNvSpPr>
            <a:spLocks noGrp="1"/>
          </p:cNvSpPr>
          <p:nvPr>
            <p:ph type="body" idx="1"/>
          </p:nvPr>
        </p:nvSpPr>
        <p:spPr/>
        <p:txBody>
          <a:bodyPr>
            <a:normAutofit fontScale="62500" lnSpcReduction="20000"/>
          </a:bodyPr>
          <a:lstStyle/>
          <a:p>
            <a:pPr algn="l"/>
            <a:r>
              <a:rPr lang="fr-MA" b="1" dirty="0"/>
              <a:t>Template L4.3: Registre des anomalies</a:t>
            </a:r>
          </a:p>
          <a:p>
            <a:pPr algn="l"/>
            <a:r>
              <a:rPr lang="fr-MA" b="1" dirty="0"/>
              <a:t>ID: BUG-001</a:t>
            </a:r>
          </a:p>
          <a:p>
            <a:pPr algn="l"/>
            <a:r>
              <a:rPr lang="fr-MA" b="1" dirty="0"/>
              <a:t>Titre: [Description courte]</a:t>
            </a:r>
          </a:p>
          <a:p>
            <a:pPr algn="l"/>
            <a:r>
              <a:rPr lang="fr-MA" b="1" dirty="0"/>
              <a:t>Gravité: [Bloquante/Critique/Majeure/Mineure]</a:t>
            </a:r>
          </a:p>
          <a:p>
            <a:pPr algn="l"/>
            <a:r>
              <a:rPr lang="fr-MA" b="1" dirty="0"/>
              <a:t>Statut: [Ouvert/En cours/Résolu/Fermé]</a:t>
            </a:r>
          </a:p>
          <a:p>
            <a:pPr algn="l"/>
            <a:r>
              <a:rPr lang="fr-MA" b="1" dirty="0"/>
              <a:t>Module: [Nom du module]</a:t>
            </a:r>
          </a:p>
          <a:p>
            <a:pPr algn="l"/>
            <a:r>
              <a:rPr lang="fr-MA" b="1" dirty="0"/>
              <a:t>Description: [Description détaillée]</a:t>
            </a:r>
          </a:p>
          <a:p>
            <a:pPr algn="l"/>
            <a:endParaRPr lang="fr-MA" b="1" dirty="0"/>
          </a:p>
          <a:p>
            <a:pPr algn="l"/>
            <a:r>
              <a:rPr lang="fr-MA" b="1" dirty="0"/>
              <a:t>Étapes de reproduction:</a:t>
            </a:r>
          </a:p>
          <a:p>
            <a:pPr algn="l"/>
            <a:r>
              <a:rPr lang="fr-MA" b="1" dirty="0"/>
              <a:t>  1. ...</a:t>
            </a:r>
          </a:p>
          <a:p>
            <a:pPr algn="l"/>
            <a:r>
              <a:rPr lang="fr-MA" b="1" dirty="0"/>
              <a:t>  2. ...</a:t>
            </a:r>
          </a:p>
          <a:p>
            <a:pPr algn="l"/>
            <a:r>
              <a:rPr lang="fr-MA" b="1" dirty="0"/>
              <a:t>Résultat attendu: [...]</a:t>
            </a:r>
          </a:p>
          <a:p>
            <a:pPr algn="l"/>
            <a:r>
              <a:rPr lang="fr-MA" b="1" dirty="0"/>
              <a:t>Résultat obtenu: [...]</a:t>
            </a:r>
          </a:p>
          <a:p>
            <a:pPr algn="l"/>
            <a:r>
              <a:rPr lang="fr-MA" b="1" dirty="0"/>
              <a:t>Environnement: [OS, navigateur, version...]</a:t>
            </a:r>
          </a:p>
          <a:p>
            <a:pPr algn="l"/>
            <a:r>
              <a:rPr lang="fr-MA" b="1" dirty="0"/>
              <a:t>Pièces jointes: [</a:t>
            </a:r>
            <a:r>
              <a:rPr lang="fr-MA" b="1" dirty="0" err="1"/>
              <a:t>Screenshots</a:t>
            </a:r>
            <a:r>
              <a:rPr lang="fr-MA" b="1" dirty="0"/>
              <a:t>, logs...]</a:t>
            </a:r>
          </a:p>
          <a:p>
            <a:pPr algn="l"/>
            <a:r>
              <a:rPr lang="fr-MA" b="1" dirty="0"/>
              <a:t>Assigné à: [Nom]</a:t>
            </a:r>
          </a:p>
          <a:p>
            <a:pPr algn="l"/>
            <a:r>
              <a:rPr lang="fr-MA" b="1" dirty="0"/>
              <a:t>Priorité: [Haute/Moyenne/Basse]</a:t>
            </a:r>
          </a:p>
          <a:p>
            <a:pPr algn="l"/>
            <a:r>
              <a:rPr lang="fr-MA" b="1" dirty="0"/>
              <a:t>Date de création: [Date]</a:t>
            </a:r>
          </a:p>
          <a:p>
            <a:pPr algn="l"/>
            <a:r>
              <a:rPr lang="fr-MA" b="1" dirty="0"/>
              <a:t>Date de résolution: [Date]</a:t>
            </a:r>
          </a:p>
        </p:txBody>
      </p:sp>
    </p:spTree>
    <p:extLst>
      <p:ext uri="{BB962C8B-B14F-4D97-AF65-F5344CB8AC3E}">
        <p14:creationId xmlns:p14="http://schemas.microsoft.com/office/powerpoint/2010/main" val="13189056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7C650-8914-8029-E515-309A9E60C1D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7A9F3D0-3A43-ED8B-B4BB-80C57EA0D1DD}"/>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3" name="Espace réservé du texte 2">
            <a:extLst>
              <a:ext uri="{FF2B5EF4-FFF2-40B4-BE49-F238E27FC236}">
                <a16:creationId xmlns:a16="http://schemas.microsoft.com/office/drawing/2014/main" id="{A8B038D1-D4A5-DFBB-A204-A7B5C85D177A}"/>
              </a:ext>
            </a:extLst>
          </p:cNvPr>
          <p:cNvSpPr>
            <a:spLocks noGrp="1"/>
          </p:cNvSpPr>
          <p:nvPr>
            <p:ph type="body" idx="1"/>
          </p:nvPr>
        </p:nvSpPr>
        <p:spPr>
          <a:xfrm>
            <a:off x="145311" y="2137578"/>
            <a:ext cx="4207732" cy="4491823"/>
          </a:xfrm>
        </p:spPr>
        <p:txBody>
          <a:bodyPr>
            <a:normAutofit fontScale="85000" lnSpcReduction="20000"/>
          </a:bodyPr>
          <a:lstStyle/>
          <a:p>
            <a:pPr algn="l"/>
            <a:r>
              <a:rPr lang="fr-MA" sz="2000" b="1" dirty="0"/>
              <a:t>PHASE 5 : DÉPLOIEMENT</a:t>
            </a:r>
          </a:p>
          <a:p>
            <a:pPr algn="l"/>
            <a:r>
              <a:rPr lang="fr-MA" sz="2000" b="1" dirty="0"/>
              <a:t>Objectifs</a:t>
            </a:r>
          </a:p>
          <a:p>
            <a:pPr marL="342900" indent="-342900" algn="l">
              <a:buFont typeface="Arial" panose="020B0604020202020204" pitchFamily="34" charset="0"/>
              <a:buChar char="•"/>
            </a:pPr>
            <a:r>
              <a:rPr lang="fr-MA" sz="2000" dirty="0"/>
              <a:t>Mettre en production le système</a:t>
            </a:r>
          </a:p>
          <a:p>
            <a:pPr marL="342900" indent="-342900" algn="l">
              <a:buFont typeface="Arial" panose="020B0604020202020204" pitchFamily="34" charset="0"/>
              <a:buChar char="•"/>
            </a:pPr>
            <a:r>
              <a:rPr lang="fr-MA" sz="2000" dirty="0"/>
              <a:t>Migrer les données</a:t>
            </a:r>
          </a:p>
          <a:p>
            <a:pPr marL="342900" indent="-342900" algn="l">
              <a:buFont typeface="Arial" panose="020B0604020202020204" pitchFamily="34" charset="0"/>
              <a:buChar char="•"/>
            </a:pPr>
            <a:r>
              <a:rPr lang="fr-MA" sz="2000" dirty="0"/>
              <a:t>Former les utilisateurs</a:t>
            </a:r>
          </a:p>
          <a:p>
            <a:pPr marL="342900" indent="-342900" algn="l">
              <a:buFont typeface="Arial" panose="020B0604020202020204" pitchFamily="34" charset="0"/>
              <a:buChar char="•"/>
            </a:pPr>
            <a:r>
              <a:rPr lang="fr-MA" sz="2000" dirty="0"/>
              <a:t>Assurer la transition</a:t>
            </a:r>
          </a:p>
          <a:p>
            <a:pPr algn="l"/>
            <a:r>
              <a:rPr lang="fr-MA" sz="2000" b="1" dirty="0"/>
              <a:t>Activités détaillées</a:t>
            </a:r>
          </a:p>
          <a:p>
            <a:pPr algn="l"/>
            <a:r>
              <a:rPr lang="fr-MA" sz="2000" b="1" dirty="0"/>
              <a:t>5.1 Préparation au déploiement</a:t>
            </a:r>
          </a:p>
          <a:p>
            <a:pPr marL="342900" indent="-342900" algn="l">
              <a:buFont typeface="Arial" panose="020B0604020202020204" pitchFamily="34" charset="0"/>
              <a:buChar char="•"/>
            </a:pPr>
            <a:r>
              <a:rPr lang="fr-MA" sz="2000" dirty="0"/>
              <a:t>Configuration environnement de production</a:t>
            </a:r>
          </a:p>
          <a:p>
            <a:pPr marL="342900" indent="-342900" algn="l">
              <a:buFont typeface="Arial" panose="020B0604020202020204" pitchFamily="34" charset="0"/>
              <a:buChar char="•"/>
            </a:pPr>
            <a:r>
              <a:rPr lang="fr-MA" sz="2000" dirty="0"/>
              <a:t>Backup des systèmes existants</a:t>
            </a:r>
          </a:p>
          <a:p>
            <a:pPr marL="342900" indent="-342900" algn="l">
              <a:buFont typeface="Arial" panose="020B0604020202020204" pitchFamily="34" charset="0"/>
              <a:buChar char="•"/>
            </a:pPr>
            <a:r>
              <a:rPr lang="fr-MA" sz="2000" dirty="0"/>
              <a:t>Plan de rollback</a:t>
            </a:r>
          </a:p>
          <a:p>
            <a:pPr marL="342900" indent="-342900" algn="l">
              <a:buFont typeface="Arial" panose="020B0604020202020204" pitchFamily="34" charset="0"/>
              <a:buChar char="•"/>
            </a:pPr>
            <a:r>
              <a:rPr lang="fr-MA" sz="2000" dirty="0"/>
              <a:t>Communication aux utilisateurs</a:t>
            </a:r>
          </a:p>
          <a:p>
            <a:pPr algn="l"/>
            <a:r>
              <a:rPr lang="fr-MA" sz="2000" b="1" dirty="0"/>
              <a:t>5.2 Migration des données</a:t>
            </a:r>
          </a:p>
          <a:p>
            <a:pPr marL="342900" indent="-342900" algn="l">
              <a:buFont typeface="Arial" panose="020B0604020202020204" pitchFamily="34" charset="0"/>
              <a:buChar char="•"/>
            </a:pPr>
            <a:r>
              <a:rPr lang="fr-MA" sz="2000" dirty="0"/>
              <a:t>Extraction des données existantes</a:t>
            </a:r>
          </a:p>
          <a:p>
            <a:pPr marL="342900" indent="-342900" algn="l">
              <a:buFont typeface="Arial" panose="020B0604020202020204" pitchFamily="34" charset="0"/>
              <a:buChar char="•"/>
            </a:pPr>
            <a:r>
              <a:rPr lang="fr-MA" sz="2000" dirty="0"/>
              <a:t>Transformation et nettoyage</a:t>
            </a:r>
          </a:p>
          <a:p>
            <a:pPr marL="342900" indent="-342900" algn="l">
              <a:buFont typeface="Arial" panose="020B0604020202020204" pitchFamily="34" charset="0"/>
              <a:buChar char="•"/>
            </a:pPr>
            <a:r>
              <a:rPr lang="fr-MA" sz="2000" dirty="0"/>
              <a:t>Chargement dans le nouveau système</a:t>
            </a:r>
          </a:p>
          <a:p>
            <a:pPr marL="342900" indent="-342900" algn="l">
              <a:buFont typeface="Arial" panose="020B0604020202020204" pitchFamily="34" charset="0"/>
              <a:buChar char="•"/>
            </a:pPr>
            <a:r>
              <a:rPr lang="fr-MA" sz="2000" dirty="0"/>
              <a:t>Vérification et réconciliation</a:t>
            </a:r>
          </a:p>
          <a:p>
            <a:pPr algn="l"/>
            <a:endParaRPr lang="fr-FR" dirty="0"/>
          </a:p>
        </p:txBody>
      </p:sp>
      <p:sp>
        <p:nvSpPr>
          <p:cNvPr id="5" name="ZoneTexte 4">
            <a:extLst>
              <a:ext uri="{FF2B5EF4-FFF2-40B4-BE49-F238E27FC236}">
                <a16:creationId xmlns:a16="http://schemas.microsoft.com/office/drawing/2014/main" id="{4BC9999D-D5B5-B8FF-67A2-415EB5DF94C8}"/>
              </a:ext>
            </a:extLst>
          </p:cNvPr>
          <p:cNvSpPr txBox="1"/>
          <p:nvPr/>
        </p:nvSpPr>
        <p:spPr>
          <a:xfrm>
            <a:off x="4681464" y="2029484"/>
            <a:ext cx="3582162" cy="4816703"/>
          </a:xfrm>
          <a:prstGeom prst="rect">
            <a:avLst/>
          </a:prstGeom>
          <a:noFill/>
        </p:spPr>
        <p:txBody>
          <a:bodyPr wrap="square">
            <a:spAutoFit/>
          </a:bodyPr>
          <a:lstStyle/>
          <a:p>
            <a:r>
              <a:rPr lang="fr-MA" sz="1700" dirty="0">
                <a:solidFill>
                  <a:schemeClr val="tx2"/>
                </a:solidFill>
              </a:rPr>
              <a:t>5.3 Déploiement</a:t>
            </a:r>
          </a:p>
          <a:p>
            <a:pPr marL="285750" indent="-285750">
              <a:buFont typeface="Arial" panose="020B0604020202020204" pitchFamily="34" charset="0"/>
              <a:buChar char="•"/>
            </a:pPr>
            <a:r>
              <a:rPr lang="fr-MA" sz="1700" dirty="0">
                <a:solidFill>
                  <a:schemeClr val="tx2"/>
                </a:solidFill>
              </a:rPr>
              <a:t>Mise en production progressive ou big bang</a:t>
            </a:r>
          </a:p>
          <a:p>
            <a:pPr marL="285750" indent="-285750">
              <a:buFont typeface="Arial" panose="020B0604020202020204" pitchFamily="34" charset="0"/>
              <a:buChar char="•"/>
            </a:pPr>
            <a:r>
              <a:rPr lang="fr-MA" sz="1700" dirty="0">
                <a:solidFill>
                  <a:schemeClr val="tx2"/>
                </a:solidFill>
              </a:rPr>
              <a:t>Surveillance intensive</a:t>
            </a:r>
          </a:p>
          <a:p>
            <a:pPr marL="285750" indent="-285750">
              <a:buFont typeface="Arial" panose="020B0604020202020204" pitchFamily="34" charset="0"/>
              <a:buChar char="•"/>
            </a:pPr>
            <a:r>
              <a:rPr lang="fr-MA" sz="1700" dirty="0">
                <a:solidFill>
                  <a:schemeClr val="tx2"/>
                </a:solidFill>
              </a:rPr>
              <a:t>Hotline activée</a:t>
            </a:r>
          </a:p>
          <a:p>
            <a:pPr marL="285750" indent="-285750">
              <a:buFont typeface="Arial" panose="020B0604020202020204" pitchFamily="34" charset="0"/>
              <a:buChar char="•"/>
            </a:pPr>
            <a:r>
              <a:rPr lang="fr-MA" sz="1700" dirty="0">
                <a:solidFill>
                  <a:schemeClr val="tx2"/>
                </a:solidFill>
              </a:rPr>
              <a:t>Tests post-déploiement</a:t>
            </a:r>
          </a:p>
          <a:p>
            <a:r>
              <a:rPr lang="fr-MA" sz="1700" dirty="0">
                <a:solidFill>
                  <a:schemeClr val="tx2"/>
                </a:solidFill>
              </a:rPr>
              <a:t>5.4 Formation des utilisateurs</a:t>
            </a:r>
          </a:p>
          <a:p>
            <a:pPr marL="285750" indent="-285750">
              <a:buFont typeface="Arial" panose="020B0604020202020204" pitchFamily="34" charset="0"/>
              <a:buChar char="•"/>
            </a:pPr>
            <a:r>
              <a:rPr lang="fr-MA" sz="1700" dirty="0">
                <a:solidFill>
                  <a:schemeClr val="tx2"/>
                </a:solidFill>
              </a:rPr>
              <a:t>Sessions de formation</a:t>
            </a:r>
          </a:p>
          <a:p>
            <a:pPr marL="285750" indent="-285750">
              <a:buFont typeface="Arial" panose="020B0604020202020204" pitchFamily="34" charset="0"/>
              <a:buChar char="•"/>
            </a:pPr>
            <a:r>
              <a:rPr lang="fr-MA" sz="1700" dirty="0">
                <a:solidFill>
                  <a:schemeClr val="tx2"/>
                </a:solidFill>
              </a:rPr>
              <a:t>Documentation utilisateur</a:t>
            </a:r>
          </a:p>
          <a:p>
            <a:pPr marL="285750" indent="-285750">
              <a:buFont typeface="Arial" panose="020B0604020202020204" pitchFamily="34" charset="0"/>
              <a:buChar char="•"/>
            </a:pPr>
            <a:r>
              <a:rPr lang="fr-MA" sz="1700" dirty="0">
                <a:solidFill>
                  <a:schemeClr val="tx2"/>
                </a:solidFill>
              </a:rPr>
              <a:t>Accompagnement au changement</a:t>
            </a:r>
          </a:p>
          <a:p>
            <a:r>
              <a:rPr lang="fr-MA" sz="1700" dirty="0">
                <a:solidFill>
                  <a:schemeClr val="tx2"/>
                </a:solidFill>
              </a:rPr>
              <a:t>5.5 </a:t>
            </a:r>
            <a:r>
              <a:rPr lang="fr-MA" sz="1700" dirty="0" err="1">
                <a:solidFill>
                  <a:schemeClr val="tx2"/>
                </a:solidFill>
              </a:rPr>
              <a:t>Hypersoin</a:t>
            </a:r>
            <a:r>
              <a:rPr lang="fr-MA" sz="1700" dirty="0">
                <a:solidFill>
                  <a:schemeClr val="tx2"/>
                </a:solidFill>
              </a:rPr>
              <a:t> (</a:t>
            </a:r>
            <a:r>
              <a:rPr lang="fr-MA" sz="1700" dirty="0" err="1">
                <a:solidFill>
                  <a:schemeClr val="tx2"/>
                </a:solidFill>
              </a:rPr>
              <a:t>Hypercare</a:t>
            </a:r>
            <a:r>
              <a:rPr lang="fr-MA" sz="1700" dirty="0">
                <a:solidFill>
                  <a:schemeClr val="tx2"/>
                </a:solidFill>
              </a:rPr>
              <a:t>)</a:t>
            </a:r>
          </a:p>
          <a:p>
            <a:pPr marL="285750" indent="-285750">
              <a:buFont typeface="Arial" panose="020B0604020202020204" pitchFamily="34" charset="0"/>
              <a:buChar char="•"/>
            </a:pPr>
            <a:r>
              <a:rPr lang="fr-MA" sz="1700" dirty="0">
                <a:solidFill>
                  <a:schemeClr val="tx2"/>
                </a:solidFill>
              </a:rPr>
              <a:t>Support renforcé post-déploiement</a:t>
            </a:r>
          </a:p>
          <a:p>
            <a:pPr marL="285750" indent="-285750">
              <a:buFont typeface="Arial" panose="020B0604020202020204" pitchFamily="34" charset="0"/>
              <a:buChar char="•"/>
            </a:pPr>
            <a:r>
              <a:rPr lang="fr-MA" sz="1700" dirty="0">
                <a:solidFill>
                  <a:schemeClr val="tx2"/>
                </a:solidFill>
              </a:rPr>
              <a:t>Résolution rapide des problèmes</a:t>
            </a:r>
          </a:p>
          <a:p>
            <a:pPr marL="285750" indent="-285750">
              <a:buFont typeface="Arial" panose="020B0604020202020204" pitchFamily="34" charset="0"/>
              <a:buChar char="•"/>
            </a:pPr>
            <a:r>
              <a:rPr lang="fr-MA" sz="1700" dirty="0">
                <a:solidFill>
                  <a:schemeClr val="tx2"/>
                </a:solidFill>
              </a:rPr>
              <a:t>Ajustements mineurs</a:t>
            </a:r>
          </a:p>
          <a:p>
            <a:pPr marL="285750" indent="-285750">
              <a:buFont typeface="Arial" panose="020B0604020202020204" pitchFamily="34" charset="0"/>
              <a:buChar char="•"/>
            </a:pPr>
            <a:endParaRPr lang="fr-MA" sz="1600" dirty="0">
              <a:solidFill>
                <a:schemeClr val="tx2"/>
              </a:solidFill>
            </a:endParaRPr>
          </a:p>
          <a:p>
            <a:pPr marL="342900" indent="-342900" algn="l">
              <a:buFont typeface="Arial" panose="020B0604020202020204" pitchFamily="34" charset="0"/>
              <a:buChar char="•"/>
            </a:pPr>
            <a:endParaRPr lang="fr-MA" sz="1900" dirty="0">
              <a:solidFill>
                <a:schemeClr val="tx2"/>
              </a:solidFill>
            </a:endParaRPr>
          </a:p>
        </p:txBody>
      </p:sp>
      <p:sp>
        <p:nvSpPr>
          <p:cNvPr id="7" name="ZoneTexte 6">
            <a:extLst>
              <a:ext uri="{FF2B5EF4-FFF2-40B4-BE49-F238E27FC236}">
                <a16:creationId xmlns:a16="http://schemas.microsoft.com/office/drawing/2014/main" id="{DCEBA536-2D88-31E7-403B-470D6CF9CDBD}"/>
              </a:ext>
            </a:extLst>
          </p:cNvPr>
          <p:cNvSpPr txBox="1"/>
          <p:nvPr/>
        </p:nvSpPr>
        <p:spPr>
          <a:xfrm>
            <a:off x="8464528" y="1752486"/>
            <a:ext cx="3582162" cy="4955203"/>
          </a:xfrm>
          <a:prstGeom prst="rect">
            <a:avLst/>
          </a:prstGeom>
          <a:noFill/>
        </p:spPr>
        <p:txBody>
          <a:bodyPr wrap="square">
            <a:spAutoFit/>
          </a:bodyPr>
          <a:lstStyle/>
          <a:p>
            <a:pPr algn="l"/>
            <a:endParaRPr lang="fr-MA" sz="1800" dirty="0">
              <a:solidFill>
                <a:schemeClr val="tx2"/>
              </a:solidFill>
            </a:endParaRPr>
          </a:p>
          <a:p>
            <a:r>
              <a:rPr lang="fr-MA" dirty="0">
                <a:highlight>
                  <a:srgbClr val="FFFF00"/>
                </a:highlight>
              </a:rPr>
              <a:t>Livrables Phase 5</a:t>
            </a:r>
          </a:p>
          <a:p>
            <a:r>
              <a:rPr lang="fr-FR" dirty="0"/>
              <a:t>L5.1 Plan de Déploiement</a:t>
            </a:r>
          </a:p>
          <a:p>
            <a:r>
              <a:rPr lang="fr-FR" dirty="0"/>
              <a:t>L5.2 Manuels </a:t>
            </a:r>
            <a:r>
              <a:rPr lang="fr-FR" dirty="0" err="1"/>
              <a:t>Utilisateurset</a:t>
            </a:r>
            <a:r>
              <a:rPr lang="fr-FR" dirty="0"/>
              <a:t> Manuel Administrateur</a:t>
            </a:r>
          </a:p>
          <a:p>
            <a:r>
              <a:rPr lang="fr-MA" b="1" dirty="0"/>
              <a:t>L5.3 Procédure de Rollback</a:t>
            </a:r>
          </a:p>
          <a:p>
            <a:pPr marL="285750" indent="-285750">
              <a:buFont typeface="Arial" panose="020B0604020202020204" pitchFamily="34" charset="0"/>
              <a:buChar char="•"/>
            </a:pPr>
            <a:r>
              <a:rPr lang="fr-MA" sz="1400" dirty="0"/>
              <a:t>Critères déclenchant le rollback</a:t>
            </a:r>
          </a:p>
          <a:p>
            <a:pPr marL="285750" indent="-285750">
              <a:buFont typeface="Arial" panose="020B0604020202020204" pitchFamily="34" charset="0"/>
              <a:buChar char="•"/>
            </a:pPr>
            <a:r>
              <a:rPr lang="fr-MA" sz="1400" dirty="0"/>
              <a:t>Étapes de retour arrière</a:t>
            </a:r>
          </a:p>
          <a:p>
            <a:pPr marL="285750" indent="-285750">
              <a:buFont typeface="Arial" panose="020B0604020202020204" pitchFamily="34" charset="0"/>
              <a:buChar char="•"/>
            </a:pPr>
            <a:r>
              <a:rPr lang="fr-MA" sz="1400" dirty="0"/>
              <a:t>Restauration des données</a:t>
            </a:r>
          </a:p>
          <a:p>
            <a:pPr marL="285750" indent="-285750">
              <a:buFont typeface="Arial" panose="020B0604020202020204" pitchFamily="34" charset="0"/>
              <a:buChar char="•"/>
            </a:pPr>
            <a:r>
              <a:rPr lang="fr-MA" sz="1400" dirty="0"/>
              <a:t>Communication</a:t>
            </a:r>
          </a:p>
          <a:p>
            <a:pPr marL="285750" indent="-285750">
              <a:buFont typeface="Arial" panose="020B0604020202020204" pitchFamily="34" charset="0"/>
              <a:buChar char="•"/>
            </a:pPr>
            <a:r>
              <a:rPr lang="fr-MA" sz="1400" dirty="0"/>
              <a:t>Responsabilités</a:t>
            </a:r>
          </a:p>
          <a:p>
            <a:r>
              <a:rPr lang="fr-MA" b="1" dirty="0"/>
              <a:t>L5.4 Rapport de Mise en Production</a:t>
            </a:r>
          </a:p>
          <a:p>
            <a:pPr marL="285750" indent="-285750">
              <a:buFont typeface="Arial" panose="020B0604020202020204" pitchFamily="34" charset="0"/>
              <a:buChar char="•"/>
            </a:pPr>
            <a:r>
              <a:rPr lang="fr-MA" sz="1400" dirty="0"/>
              <a:t>Date et heure de déploiement</a:t>
            </a:r>
          </a:p>
          <a:p>
            <a:pPr marL="285750" indent="-285750">
              <a:buFont typeface="Arial" panose="020B0604020202020204" pitchFamily="34" charset="0"/>
              <a:buChar char="•"/>
            </a:pPr>
            <a:r>
              <a:rPr lang="fr-MA" sz="1400" dirty="0"/>
              <a:t>Équipe mobilisée</a:t>
            </a:r>
          </a:p>
          <a:p>
            <a:pPr marL="285750" indent="-285750">
              <a:buFont typeface="Arial" panose="020B0604020202020204" pitchFamily="34" charset="0"/>
              <a:buChar char="•"/>
            </a:pPr>
            <a:r>
              <a:rPr lang="fr-MA" sz="1400" dirty="0"/>
              <a:t>Déroulement</a:t>
            </a:r>
          </a:p>
          <a:p>
            <a:pPr marL="285750" indent="-285750">
              <a:buFont typeface="Arial" panose="020B0604020202020204" pitchFamily="34" charset="0"/>
              <a:buChar char="•"/>
            </a:pPr>
            <a:r>
              <a:rPr lang="fr-MA" sz="1400" dirty="0"/>
              <a:t>Incidents rencontrés</a:t>
            </a:r>
          </a:p>
          <a:p>
            <a:pPr marL="285750" indent="-285750">
              <a:buFont typeface="Arial" panose="020B0604020202020204" pitchFamily="34" charset="0"/>
              <a:buChar char="•"/>
            </a:pPr>
            <a:r>
              <a:rPr lang="fr-MA" sz="1400" dirty="0"/>
              <a:t>Actions correctives</a:t>
            </a:r>
          </a:p>
          <a:p>
            <a:pPr marL="285750" indent="-285750">
              <a:buFont typeface="Arial" panose="020B0604020202020204" pitchFamily="34" charset="0"/>
              <a:buChar char="•"/>
            </a:pPr>
            <a:r>
              <a:rPr lang="fr-MA" sz="1400" dirty="0"/>
              <a:t>Statut final</a:t>
            </a:r>
          </a:p>
          <a:p>
            <a:endParaRPr lang="fr-MA" b="1" dirty="0"/>
          </a:p>
        </p:txBody>
      </p:sp>
      <p:cxnSp>
        <p:nvCxnSpPr>
          <p:cNvPr id="9" name="Connecteur droit 8">
            <a:extLst>
              <a:ext uri="{FF2B5EF4-FFF2-40B4-BE49-F238E27FC236}">
                <a16:creationId xmlns:a16="http://schemas.microsoft.com/office/drawing/2014/main" id="{AD355B80-DBD2-ED1D-0DF1-3E879A079E22}"/>
              </a:ext>
            </a:extLst>
          </p:cNvPr>
          <p:cNvCxnSpPr/>
          <p:nvPr/>
        </p:nvCxnSpPr>
        <p:spPr>
          <a:xfrm>
            <a:off x="4480560" y="2029485"/>
            <a:ext cx="0" cy="4389603"/>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95AB1835-AA82-85BD-A7EC-B7EAA538EAC8}"/>
              </a:ext>
            </a:extLst>
          </p:cNvPr>
          <p:cNvCxnSpPr/>
          <p:nvPr/>
        </p:nvCxnSpPr>
        <p:spPr>
          <a:xfrm>
            <a:off x="8391144" y="2029484"/>
            <a:ext cx="0" cy="4389603"/>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9427375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80845-D7AD-92E2-215A-C8669555184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D1008EA-7F1D-69E8-BA5F-4823C4EB1021}"/>
              </a:ext>
            </a:extLst>
          </p:cNvPr>
          <p:cNvSpPr>
            <a:spLocks noGrp="1"/>
          </p:cNvSpPr>
          <p:nvPr>
            <p:ph type="title"/>
          </p:nvPr>
        </p:nvSpPr>
        <p:spPr/>
        <p:txBody>
          <a:bodyPr>
            <a:noAutofit/>
          </a:bodyPr>
          <a:lstStyle/>
          <a:p>
            <a:r>
              <a:rPr lang="fr-MA" sz="4400" dirty="0"/>
              <a:t>PARTIE 4 : CYCLE DE VIE DÉTAILLÉ ET LIVRABLES</a:t>
            </a:r>
            <a:endParaRPr lang="fr-FR" sz="4400" dirty="0"/>
          </a:p>
        </p:txBody>
      </p:sp>
      <p:sp>
        <p:nvSpPr>
          <p:cNvPr id="3" name="Espace réservé du texte 2">
            <a:extLst>
              <a:ext uri="{FF2B5EF4-FFF2-40B4-BE49-F238E27FC236}">
                <a16:creationId xmlns:a16="http://schemas.microsoft.com/office/drawing/2014/main" id="{C0657A6E-0CBE-D21E-C546-840F1F7A586B}"/>
              </a:ext>
            </a:extLst>
          </p:cNvPr>
          <p:cNvSpPr>
            <a:spLocks noGrp="1"/>
          </p:cNvSpPr>
          <p:nvPr>
            <p:ph type="body" idx="1"/>
          </p:nvPr>
        </p:nvSpPr>
        <p:spPr>
          <a:xfrm>
            <a:off x="145311" y="2137578"/>
            <a:ext cx="4207732" cy="4491823"/>
          </a:xfrm>
        </p:spPr>
        <p:txBody>
          <a:bodyPr>
            <a:normAutofit fontScale="77500" lnSpcReduction="20000"/>
          </a:bodyPr>
          <a:lstStyle/>
          <a:p>
            <a:pPr algn="l"/>
            <a:r>
              <a:rPr lang="fr-MA" sz="2000" b="1" dirty="0"/>
              <a:t>PHASE 6 : MAINTENANCE ET SUPPORT</a:t>
            </a:r>
          </a:p>
          <a:p>
            <a:pPr algn="l"/>
            <a:r>
              <a:rPr lang="fr-MA" sz="2000" b="1" dirty="0"/>
              <a:t>Objectifs</a:t>
            </a:r>
          </a:p>
          <a:p>
            <a:pPr marL="342900" indent="-342900" algn="l">
              <a:buFont typeface="Arial" panose="020B0604020202020204" pitchFamily="34" charset="0"/>
              <a:buChar char="•"/>
            </a:pPr>
            <a:r>
              <a:rPr lang="fr-MA" sz="2000" dirty="0"/>
              <a:t>Assurer le bon fonctionnement du système</a:t>
            </a:r>
          </a:p>
          <a:p>
            <a:pPr marL="342900" indent="-342900" algn="l">
              <a:buFont typeface="Arial" panose="020B0604020202020204" pitchFamily="34" charset="0"/>
              <a:buChar char="•"/>
            </a:pPr>
            <a:r>
              <a:rPr lang="fr-MA" sz="2000" dirty="0"/>
              <a:t>Corriger les bugs</a:t>
            </a:r>
          </a:p>
          <a:p>
            <a:pPr marL="342900" indent="-342900" algn="l">
              <a:buFont typeface="Arial" panose="020B0604020202020204" pitchFamily="34" charset="0"/>
              <a:buChar char="•"/>
            </a:pPr>
            <a:r>
              <a:rPr lang="fr-MA" sz="2000" dirty="0"/>
              <a:t>Faire évoluer le système</a:t>
            </a:r>
          </a:p>
          <a:p>
            <a:pPr marL="342900" indent="-342900" algn="l">
              <a:buFont typeface="Arial" panose="020B0604020202020204" pitchFamily="34" charset="0"/>
              <a:buChar char="•"/>
            </a:pPr>
            <a:r>
              <a:rPr lang="fr-MA" sz="2000" dirty="0"/>
              <a:t>Accompagner les utilisateurs</a:t>
            </a:r>
          </a:p>
          <a:p>
            <a:pPr marL="342900" indent="-342900" algn="l">
              <a:buFont typeface="Arial" panose="020B0604020202020204" pitchFamily="34" charset="0"/>
              <a:buChar char="•"/>
            </a:pPr>
            <a:endParaRPr lang="fr-MA" sz="2000" dirty="0"/>
          </a:p>
          <a:p>
            <a:pPr algn="l"/>
            <a:r>
              <a:rPr lang="fr-MA" sz="2000" b="1" dirty="0"/>
              <a:t>Activités détaillées</a:t>
            </a:r>
          </a:p>
          <a:p>
            <a:pPr algn="l"/>
            <a:r>
              <a:rPr lang="fr-MA" sz="2000" b="1" dirty="0"/>
              <a:t>6.1 Support utilisateurs</a:t>
            </a:r>
          </a:p>
          <a:p>
            <a:pPr marL="342900" indent="-342900" algn="l">
              <a:buFont typeface="Arial" panose="020B0604020202020204" pitchFamily="34" charset="0"/>
              <a:buChar char="•"/>
            </a:pPr>
            <a:r>
              <a:rPr lang="fr-MA" sz="2000" dirty="0"/>
              <a:t>Hotline / Service desk</a:t>
            </a:r>
          </a:p>
          <a:p>
            <a:pPr marL="342900" indent="-342900" algn="l">
              <a:buFont typeface="Arial" panose="020B0604020202020204" pitchFamily="34" charset="0"/>
              <a:buChar char="•"/>
            </a:pPr>
            <a:r>
              <a:rPr lang="fr-MA" sz="2000" dirty="0"/>
              <a:t>Gestion des tickets</a:t>
            </a:r>
          </a:p>
          <a:p>
            <a:pPr marL="342900" indent="-342900" algn="l">
              <a:buFont typeface="Arial" panose="020B0604020202020204" pitchFamily="34" charset="0"/>
              <a:buChar char="•"/>
            </a:pPr>
            <a:r>
              <a:rPr lang="fr-MA" sz="2000" dirty="0"/>
              <a:t>Assistance aux utilisateurs</a:t>
            </a:r>
          </a:p>
          <a:p>
            <a:pPr marL="342900" indent="-342900" algn="l">
              <a:buFont typeface="Arial" panose="020B0604020202020204" pitchFamily="34" charset="0"/>
              <a:buChar char="•"/>
            </a:pPr>
            <a:r>
              <a:rPr lang="fr-MA" sz="2000" dirty="0"/>
              <a:t>Documentation des problèmes récurrents</a:t>
            </a:r>
          </a:p>
          <a:p>
            <a:pPr algn="l"/>
            <a:r>
              <a:rPr lang="fr-MA" sz="2000" b="1" dirty="0"/>
              <a:t>6.2 Maintenance corrective</a:t>
            </a:r>
          </a:p>
          <a:p>
            <a:pPr marL="342900" indent="-342900" algn="l">
              <a:buFont typeface="Arial" panose="020B0604020202020204" pitchFamily="34" charset="0"/>
              <a:buChar char="•"/>
            </a:pPr>
            <a:r>
              <a:rPr lang="fr-MA" sz="2000" dirty="0"/>
              <a:t>Correction de bugs</a:t>
            </a:r>
          </a:p>
          <a:p>
            <a:pPr marL="342900" indent="-342900" algn="l">
              <a:buFont typeface="Arial" panose="020B0604020202020204" pitchFamily="34" charset="0"/>
              <a:buChar char="•"/>
            </a:pPr>
            <a:r>
              <a:rPr lang="fr-MA" sz="2000" dirty="0"/>
              <a:t>Patches de sécurité</a:t>
            </a:r>
          </a:p>
          <a:p>
            <a:pPr marL="342900" indent="-342900" algn="l">
              <a:buFont typeface="Arial" panose="020B0604020202020204" pitchFamily="34" charset="0"/>
              <a:buChar char="•"/>
            </a:pPr>
            <a:r>
              <a:rPr lang="fr-MA" sz="2000" dirty="0"/>
              <a:t>Résolution d'incidents</a:t>
            </a:r>
          </a:p>
          <a:p>
            <a:pPr algn="l"/>
            <a:endParaRPr lang="fr-FR" dirty="0"/>
          </a:p>
        </p:txBody>
      </p:sp>
      <p:sp>
        <p:nvSpPr>
          <p:cNvPr id="5" name="ZoneTexte 4">
            <a:extLst>
              <a:ext uri="{FF2B5EF4-FFF2-40B4-BE49-F238E27FC236}">
                <a16:creationId xmlns:a16="http://schemas.microsoft.com/office/drawing/2014/main" id="{BBF48053-6D44-3466-D7D8-7AFF04590BF5}"/>
              </a:ext>
            </a:extLst>
          </p:cNvPr>
          <p:cNvSpPr txBox="1"/>
          <p:nvPr/>
        </p:nvSpPr>
        <p:spPr>
          <a:xfrm>
            <a:off x="4681464" y="2029484"/>
            <a:ext cx="3582162" cy="4570482"/>
          </a:xfrm>
          <a:prstGeom prst="rect">
            <a:avLst/>
          </a:prstGeom>
          <a:noFill/>
        </p:spPr>
        <p:txBody>
          <a:bodyPr wrap="square">
            <a:spAutoFit/>
          </a:bodyPr>
          <a:lstStyle/>
          <a:p>
            <a:r>
              <a:rPr lang="fr-MA" sz="1700" dirty="0">
                <a:solidFill>
                  <a:schemeClr val="tx2"/>
                </a:solidFill>
              </a:rPr>
              <a:t>6.3 Maintenance évolutive</a:t>
            </a:r>
          </a:p>
          <a:p>
            <a:pPr marL="285750" indent="-285750">
              <a:buFont typeface="Arial" panose="020B0604020202020204" pitchFamily="34" charset="0"/>
              <a:buChar char="•"/>
            </a:pPr>
            <a:r>
              <a:rPr lang="fr-MA" sz="1700" dirty="0">
                <a:solidFill>
                  <a:schemeClr val="tx2"/>
                </a:solidFill>
              </a:rPr>
              <a:t>Nouvelles fonctionnalités</a:t>
            </a:r>
          </a:p>
          <a:p>
            <a:pPr marL="285750" indent="-285750">
              <a:buFont typeface="Arial" panose="020B0604020202020204" pitchFamily="34" charset="0"/>
              <a:buChar char="•"/>
            </a:pPr>
            <a:r>
              <a:rPr lang="fr-MA" sz="1700" dirty="0">
                <a:solidFill>
                  <a:schemeClr val="tx2"/>
                </a:solidFill>
              </a:rPr>
              <a:t>Améliorations</a:t>
            </a:r>
          </a:p>
          <a:p>
            <a:pPr marL="285750" indent="-285750">
              <a:buFont typeface="Arial" panose="020B0604020202020204" pitchFamily="34" charset="0"/>
              <a:buChar char="•"/>
            </a:pPr>
            <a:r>
              <a:rPr lang="fr-MA" sz="1700" dirty="0">
                <a:solidFill>
                  <a:schemeClr val="tx2"/>
                </a:solidFill>
              </a:rPr>
              <a:t>Adaptations réglementaires</a:t>
            </a:r>
          </a:p>
          <a:p>
            <a:r>
              <a:rPr lang="fr-MA" sz="1700" dirty="0">
                <a:solidFill>
                  <a:schemeClr val="tx2"/>
                </a:solidFill>
              </a:rPr>
              <a:t>6.4 Maintenance adaptative</a:t>
            </a:r>
          </a:p>
          <a:p>
            <a:pPr marL="285750" indent="-285750">
              <a:buFont typeface="Arial" panose="020B0604020202020204" pitchFamily="34" charset="0"/>
              <a:buChar char="•"/>
            </a:pPr>
            <a:r>
              <a:rPr lang="fr-MA" sz="1700" dirty="0">
                <a:solidFill>
                  <a:schemeClr val="tx2"/>
                </a:solidFill>
              </a:rPr>
              <a:t>Mise à jour des technologies</a:t>
            </a:r>
          </a:p>
          <a:p>
            <a:pPr marL="285750" indent="-285750">
              <a:buFont typeface="Arial" panose="020B0604020202020204" pitchFamily="34" charset="0"/>
              <a:buChar char="•"/>
            </a:pPr>
            <a:r>
              <a:rPr lang="fr-MA" sz="1700" dirty="0">
                <a:solidFill>
                  <a:schemeClr val="tx2"/>
                </a:solidFill>
              </a:rPr>
              <a:t>Migration de versions</a:t>
            </a:r>
          </a:p>
          <a:p>
            <a:pPr marL="285750" indent="-285750">
              <a:buFont typeface="Arial" panose="020B0604020202020204" pitchFamily="34" charset="0"/>
              <a:buChar char="•"/>
            </a:pPr>
            <a:r>
              <a:rPr lang="fr-MA" sz="1700" dirty="0">
                <a:solidFill>
                  <a:schemeClr val="tx2"/>
                </a:solidFill>
              </a:rPr>
              <a:t>Adaptation à l'évolution de l'infrastructure</a:t>
            </a:r>
          </a:p>
          <a:p>
            <a:r>
              <a:rPr lang="fr-MA" sz="1700" dirty="0">
                <a:solidFill>
                  <a:schemeClr val="tx2"/>
                </a:solidFill>
              </a:rPr>
              <a:t>6.5 Surveillance et monitoring</a:t>
            </a:r>
          </a:p>
          <a:p>
            <a:pPr marL="285750" indent="-285750">
              <a:buFont typeface="Arial" panose="020B0604020202020204" pitchFamily="34" charset="0"/>
              <a:buChar char="•"/>
            </a:pPr>
            <a:r>
              <a:rPr lang="fr-MA" sz="1700" dirty="0">
                <a:solidFill>
                  <a:schemeClr val="tx2"/>
                </a:solidFill>
              </a:rPr>
              <a:t>Monitoring de la production</a:t>
            </a:r>
          </a:p>
          <a:p>
            <a:pPr marL="285750" indent="-285750">
              <a:buFont typeface="Arial" panose="020B0604020202020204" pitchFamily="34" charset="0"/>
              <a:buChar char="•"/>
            </a:pPr>
            <a:r>
              <a:rPr lang="fr-MA" sz="1700" dirty="0">
                <a:solidFill>
                  <a:schemeClr val="tx2"/>
                </a:solidFill>
              </a:rPr>
              <a:t>Analyse des logs</a:t>
            </a:r>
          </a:p>
          <a:p>
            <a:pPr marL="285750" indent="-285750">
              <a:buFont typeface="Arial" panose="020B0604020202020204" pitchFamily="34" charset="0"/>
              <a:buChar char="•"/>
            </a:pPr>
            <a:r>
              <a:rPr lang="fr-MA" sz="1700" dirty="0">
                <a:solidFill>
                  <a:schemeClr val="tx2"/>
                </a:solidFill>
              </a:rPr>
              <a:t>Alertes</a:t>
            </a:r>
          </a:p>
          <a:p>
            <a:pPr marL="285750" indent="-285750">
              <a:buFont typeface="Arial" panose="020B0604020202020204" pitchFamily="34" charset="0"/>
              <a:buChar char="•"/>
            </a:pPr>
            <a:r>
              <a:rPr lang="fr-MA" sz="1700" dirty="0">
                <a:solidFill>
                  <a:schemeClr val="tx2"/>
                </a:solidFill>
              </a:rPr>
              <a:t>Optimisation des performances</a:t>
            </a:r>
          </a:p>
          <a:p>
            <a:pPr marL="285750" indent="-285750">
              <a:buFont typeface="Arial" panose="020B0604020202020204" pitchFamily="34" charset="0"/>
              <a:buChar char="•"/>
            </a:pPr>
            <a:endParaRPr lang="fr-MA" sz="1700" dirty="0">
              <a:solidFill>
                <a:schemeClr val="tx2"/>
              </a:solidFill>
            </a:endParaRPr>
          </a:p>
          <a:p>
            <a:pPr marL="285750" indent="-285750">
              <a:buFont typeface="Arial" panose="020B0604020202020204" pitchFamily="34" charset="0"/>
              <a:buChar char="•"/>
            </a:pPr>
            <a:endParaRPr lang="fr-MA" sz="1700" dirty="0">
              <a:solidFill>
                <a:schemeClr val="tx2"/>
              </a:solidFill>
            </a:endParaRPr>
          </a:p>
          <a:p>
            <a:pPr marL="342900" indent="-342900" algn="l">
              <a:buFont typeface="Arial" panose="020B0604020202020204" pitchFamily="34" charset="0"/>
              <a:buChar char="•"/>
            </a:pPr>
            <a:endParaRPr lang="fr-MA" sz="1900" dirty="0">
              <a:solidFill>
                <a:schemeClr val="tx2"/>
              </a:solidFill>
            </a:endParaRPr>
          </a:p>
        </p:txBody>
      </p:sp>
      <p:sp>
        <p:nvSpPr>
          <p:cNvPr id="7" name="ZoneTexte 6">
            <a:extLst>
              <a:ext uri="{FF2B5EF4-FFF2-40B4-BE49-F238E27FC236}">
                <a16:creationId xmlns:a16="http://schemas.microsoft.com/office/drawing/2014/main" id="{03E5E366-E28A-58F4-E6AF-43FD6FDEB9A2}"/>
              </a:ext>
            </a:extLst>
          </p:cNvPr>
          <p:cNvSpPr txBox="1"/>
          <p:nvPr/>
        </p:nvSpPr>
        <p:spPr>
          <a:xfrm>
            <a:off x="8464528" y="1752486"/>
            <a:ext cx="3582162" cy="2031325"/>
          </a:xfrm>
          <a:prstGeom prst="rect">
            <a:avLst/>
          </a:prstGeom>
          <a:noFill/>
        </p:spPr>
        <p:txBody>
          <a:bodyPr wrap="square">
            <a:spAutoFit/>
          </a:bodyPr>
          <a:lstStyle/>
          <a:p>
            <a:pPr algn="l"/>
            <a:endParaRPr lang="fr-MA" sz="1800" dirty="0">
              <a:solidFill>
                <a:schemeClr val="tx2"/>
              </a:solidFill>
            </a:endParaRPr>
          </a:p>
          <a:p>
            <a:r>
              <a:rPr lang="fr-MA" dirty="0">
                <a:highlight>
                  <a:srgbClr val="FFFF00"/>
                </a:highlight>
              </a:rPr>
              <a:t>Livrables Phase 6</a:t>
            </a:r>
          </a:p>
          <a:p>
            <a:endParaRPr lang="fr-MA" dirty="0">
              <a:highlight>
                <a:srgbClr val="FFFF00"/>
              </a:highlight>
            </a:endParaRPr>
          </a:p>
          <a:p>
            <a:r>
              <a:rPr lang="fr-FR" dirty="0"/>
              <a:t>L6.1 Plan de Maintenance</a:t>
            </a:r>
          </a:p>
          <a:p>
            <a:r>
              <a:rPr lang="fr-FR" dirty="0"/>
              <a:t>L6.2 Documentation du Support</a:t>
            </a:r>
          </a:p>
          <a:p>
            <a:r>
              <a:rPr lang="fr-FR" dirty="0"/>
              <a:t>L6.3 Rapports Mensuels</a:t>
            </a:r>
            <a:endParaRPr lang="fr-MA" dirty="0">
              <a:highlight>
                <a:srgbClr val="FFFF00"/>
              </a:highlight>
            </a:endParaRPr>
          </a:p>
          <a:p>
            <a:endParaRPr lang="fr-MA" b="1" dirty="0"/>
          </a:p>
        </p:txBody>
      </p:sp>
      <p:cxnSp>
        <p:nvCxnSpPr>
          <p:cNvPr id="9" name="Connecteur droit 8">
            <a:extLst>
              <a:ext uri="{FF2B5EF4-FFF2-40B4-BE49-F238E27FC236}">
                <a16:creationId xmlns:a16="http://schemas.microsoft.com/office/drawing/2014/main" id="{655AC792-A156-8FBC-9DAC-74B9376ECC55}"/>
              </a:ext>
            </a:extLst>
          </p:cNvPr>
          <p:cNvCxnSpPr/>
          <p:nvPr/>
        </p:nvCxnSpPr>
        <p:spPr>
          <a:xfrm>
            <a:off x="4480560" y="2029485"/>
            <a:ext cx="0" cy="4389603"/>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188219F7-F2F3-707B-F8B2-58335312EA6D}"/>
              </a:ext>
            </a:extLst>
          </p:cNvPr>
          <p:cNvCxnSpPr/>
          <p:nvPr/>
        </p:nvCxnSpPr>
        <p:spPr>
          <a:xfrm>
            <a:off x="8391144" y="2029484"/>
            <a:ext cx="0" cy="4389603"/>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711187183"/>
      </p:ext>
    </p:extLst>
  </p:cSld>
  <p:clrMapOvr>
    <a:masterClrMapping/>
  </p:clrMapOvr>
</p:sld>
</file>

<file path=ppt/theme/theme1.xml><?xml version="1.0" encoding="utf-8"?>
<a:theme xmlns:a="http://schemas.openxmlformats.org/drawingml/2006/main" name="EST-Monir">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ST-Monir" id="{477FD7E8-AA15-8D49-8C4A-98A604068A9F}" vid="{A7F9506B-51F3-2E4C-841A-3B3953FCF0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EST-Monir</Template>
  <TotalTime>2860</TotalTime>
  <Words>6544</Words>
  <Application>Microsoft Office PowerPoint</Application>
  <PresentationFormat>Grand écran</PresentationFormat>
  <Paragraphs>1428</Paragraphs>
  <Slides>75</Slides>
  <Notes>74</Notes>
  <HiddenSlides>1</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75</vt:i4>
      </vt:variant>
    </vt:vector>
  </HeadingPairs>
  <TitlesOfParts>
    <vt:vector size="79" baseType="lpstr">
      <vt:lpstr>Arial</vt:lpstr>
      <vt:lpstr>Calibri</vt:lpstr>
      <vt:lpstr>Franklin Gothic Book</vt:lpstr>
      <vt:lpstr>EST-Monir</vt:lpstr>
      <vt:lpstr>Projet en Système d’information</vt:lpstr>
      <vt:lpstr>Plan</vt:lpstr>
      <vt:lpstr>PARTIE 1 : CYCLE DE VIE DU PROJET SI</vt:lpstr>
      <vt:lpstr>Partie 2 : MÉTHODOLOGIES DE GESTION DE PROJET</vt:lpstr>
      <vt:lpstr>Partie 2 : MÉTHODOLOGIES DE GESTION DE PROJET</vt:lpstr>
      <vt:lpstr>Partie 2 : MÉTHODOLOGIES DE GESTION DE PROJET</vt:lpstr>
      <vt:lpstr>Partie 2 : MÉTHODOLOGIES DE GESTION DE PROJET</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3 : 50 SUJETS DE PROJETS EN SYSTÈMES D'INFORMATION</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lpstr>PARTIE 4 : CYCLE DE VIE DÉTAILLÉ ET LIVRABLES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ABDERRAHMANE</cp:lastModifiedBy>
  <cp:revision>769</cp:revision>
  <dcterms:created xsi:type="dcterms:W3CDTF">2025-10-12T16:19:19Z</dcterms:created>
  <dcterms:modified xsi:type="dcterms:W3CDTF">2025-12-12T17:36:53Z</dcterms:modified>
</cp:coreProperties>
</file>